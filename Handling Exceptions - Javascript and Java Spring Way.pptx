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35" r:id="rId2"/>
    <p:sldId id="321" r:id="rId3"/>
    <p:sldId id="336" r:id="rId4"/>
    <p:sldId id="337" r:id="rId5"/>
    <p:sldId id="338" r:id="rId6"/>
    <p:sldId id="324" r:id="rId7"/>
    <p:sldId id="329" r:id="rId8"/>
    <p:sldId id="327" r:id="rId9"/>
    <p:sldId id="315" r:id="rId10"/>
    <p:sldId id="320" r:id="rId11"/>
    <p:sldId id="317" r:id="rId12"/>
    <p:sldId id="322" r:id="rId13"/>
    <p:sldId id="323" r:id="rId14"/>
    <p:sldId id="318" r:id="rId15"/>
    <p:sldId id="325" r:id="rId16"/>
    <p:sldId id="319" r:id="rId17"/>
    <p:sldId id="326" r:id="rId18"/>
    <p:sldId id="330" r:id="rId19"/>
    <p:sldId id="331" r:id="rId20"/>
    <p:sldId id="33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070" autoAdjust="0"/>
  </p:normalViewPr>
  <p:slideViewPr>
    <p:cSldViewPr snapToGrid="0">
      <p:cViewPr varScale="1">
        <p:scale>
          <a:sx n="122" d="100"/>
          <a:sy n="122" d="100"/>
        </p:scale>
        <p:origin x="1724"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D84668-6769-4D63-A6FC-E13EFE781D4F}" type="datetimeFigureOut">
              <a:rPr lang="en-US" smtClean="0"/>
              <a:t>11/20/2024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79B4A-50AD-4921-98D2-3767FE82802A}" type="slidenum">
              <a:rPr lang="en-US" smtClean="0"/>
              <a:t>‹#›</a:t>
            </a:fld>
            <a:endParaRPr lang="en-US"/>
          </a:p>
        </p:txBody>
      </p:sp>
    </p:spTree>
    <p:extLst>
      <p:ext uri="{BB962C8B-B14F-4D97-AF65-F5344CB8AC3E}">
        <p14:creationId xmlns:p14="http://schemas.microsoft.com/office/powerpoint/2010/main" val="409162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developer.mozilla.org/en-US/docs/Web/JavaScript/Reference/Global_Objects/eval" TargetMode="External"/><Relationship Id="rId13" Type="http://schemas.openxmlformats.org/officeDocument/2006/relationships/hyperlink" Target="https://developer.mozilla.org/en-US/docs/Web/JavaScript/Reference/Global_Objects/URIError" TargetMode="External"/><Relationship Id="rId18" Type="http://schemas.openxmlformats.org/officeDocument/2006/relationships/hyperlink" Target="https://developer.mozilla.org/en-US/docs/Web/JavaScript/Reference/Global_Objects/InternalError" TargetMode="External"/><Relationship Id="rId26" Type="http://schemas.openxmlformats.org/officeDocument/2006/relationships/hyperlink" Target="https://developer.mozilla.org/en-US/docs/Web/JavaScript/Reference/Global_Objects/Error/fileName" TargetMode="External"/><Relationship Id="rId3" Type="http://schemas.openxmlformats.org/officeDocument/2006/relationships/hyperlink" Target="https://developer.mozilla.org/en-US/docs/Glossary/Serializable_object" TargetMode="External"/><Relationship Id="rId21" Type="http://schemas.openxmlformats.org/officeDocument/2006/relationships/hyperlink" Target="https://developer.mozilla.org/en-US/docs/Web/JavaScript/Reference/Global_Objects/Error/Error" TargetMode="External"/><Relationship Id="rId7" Type="http://schemas.openxmlformats.org/officeDocument/2006/relationships/hyperlink" Target="https://developer.mozilla.org/en-US/docs/Web/JavaScript/Reference/Global_Objects/EvalError" TargetMode="External"/><Relationship Id="rId12" Type="http://schemas.openxmlformats.org/officeDocument/2006/relationships/hyperlink" Target="https://developer.mozilla.org/en-US/docs/Web/JavaScript/Reference/Global_Objects/TypeError" TargetMode="External"/><Relationship Id="rId17" Type="http://schemas.openxmlformats.org/officeDocument/2006/relationships/hyperlink" Target="https://developer.mozilla.org/en-US/docs/Web/JavaScript/Reference/Global_Objects/Promise/any" TargetMode="External"/><Relationship Id="rId25" Type="http://schemas.openxmlformats.org/officeDocument/2006/relationships/hyperlink" Target="https://developer.mozilla.org/en-US/docs/Web/JavaScript/Reference/Global_Objects/Error/columnNumber" TargetMode="External"/><Relationship Id="rId2" Type="http://schemas.openxmlformats.org/officeDocument/2006/relationships/slide" Target="../slides/slide4.xml"/><Relationship Id="rId16" Type="http://schemas.openxmlformats.org/officeDocument/2006/relationships/hyperlink" Target="https://developer.mozilla.org/en-US/docs/Web/JavaScript/Reference/Global_Objects/AggregateError" TargetMode="External"/><Relationship Id="rId20" Type="http://schemas.openxmlformats.org/officeDocument/2006/relationships/hyperlink" Target="https://developer.mozilla.org/en-US/docs/Web/JavaScript/Reference/Global_Objects/Object/constructor" TargetMode="External"/><Relationship Id="rId29" Type="http://schemas.openxmlformats.org/officeDocument/2006/relationships/hyperlink" Target="https://developer.mozilla.org/en-US/docs/Web/JavaScript/Reference/Global_Objects/Error#instance_methods" TargetMode="External"/><Relationship Id="rId1" Type="http://schemas.openxmlformats.org/officeDocument/2006/relationships/notesMaster" Target="../notesMasters/notesMaster1.xml"/><Relationship Id="rId6" Type="http://schemas.openxmlformats.org/officeDocument/2006/relationships/hyperlink" Target="https://developer.mozilla.org/en-US/docs/Web/API/Worker/postMessage" TargetMode="External"/><Relationship Id="rId11" Type="http://schemas.openxmlformats.org/officeDocument/2006/relationships/hyperlink" Target="https://developer.mozilla.org/en-US/docs/Web/JavaScript/Reference/Global_Objects/SyntaxError" TargetMode="External"/><Relationship Id="rId24" Type="http://schemas.openxmlformats.org/officeDocument/2006/relationships/hyperlink" Target="https://developer.mozilla.org/en-US/docs/Web/JavaScript/Reference/Global_Objects/Error/cause" TargetMode="External"/><Relationship Id="rId5" Type="http://schemas.openxmlformats.org/officeDocument/2006/relationships/hyperlink" Target="https://developer.mozilla.org/en-US/docs/Web/API/Worker" TargetMode="External"/><Relationship Id="rId15" Type="http://schemas.openxmlformats.org/officeDocument/2006/relationships/hyperlink" Target="https://developer.mozilla.org/en-US/docs/Web/JavaScript/Reference/Global_Objects/decodeURI" TargetMode="External"/><Relationship Id="rId23" Type="http://schemas.openxmlformats.org/officeDocument/2006/relationships/hyperlink" Target="https://developer.mozilla.org/en-US/docs/Web/JavaScript/Reference/Global_Objects/Error/stack" TargetMode="External"/><Relationship Id="rId28" Type="http://schemas.openxmlformats.org/officeDocument/2006/relationships/hyperlink" Target="https://developer.mozilla.org/en-US/docs/Web/JavaScript/Reference/Global_Objects/Error/message" TargetMode="External"/><Relationship Id="rId10" Type="http://schemas.openxmlformats.org/officeDocument/2006/relationships/hyperlink" Target="https://developer.mozilla.org/en-US/docs/Web/JavaScript/Reference/Global_Objects/ReferenceError" TargetMode="External"/><Relationship Id="rId19" Type="http://schemas.openxmlformats.org/officeDocument/2006/relationships/hyperlink" Target="https://developer.mozilla.org/en-US/docs/Web/JavaScript/Reference/Global_Objects/Error#instance_properties" TargetMode="External"/><Relationship Id="rId31" Type="http://schemas.openxmlformats.org/officeDocument/2006/relationships/hyperlink" Target="https://developer.mozilla.org/en-US/docs/Web/JavaScript/Reference/Global_Objects/Object/toString" TargetMode="External"/><Relationship Id="rId4" Type="http://schemas.openxmlformats.org/officeDocument/2006/relationships/hyperlink" Target="https://developer.mozilla.org/en-US/docs/Web/API/Window/structuredClone" TargetMode="External"/><Relationship Id="rId9" Type="http://schemas.openxmlformats.org/officeDocument/2006/relationships/hyperlink" Target="https://developer.mozilla.org/en-US/docs/Web/JavaScript/Reference/Global_Objects/RangeError" TargetMode="External"/><Relationship Id="rId14" Type="http://schemas.openxmlformats.org/officeDocument/2006/relationships/hyperlink" Target="https://developer.mozilla.org/en-US/docs/Web/JavaScript/Reference/Global_Objects/encodeURI" TargetMode="External"/><Relationship Id="rId22" Type="http://schemas.openxmlformats.org/officeDocument/2006/relationships/hyperlink" Target="https://developer.mozilla.org/en-US/docs/Web/JavaScript/Reference/Global_Objects/Error/name" TargetMode="External"/><Relationship Id="rId27" Type="http://schemas.openxmlformats.org/officeDocument/2006/relationships/hyperlink" Target="https://developer.mozilla.org/en-US/docs/Web/JavaScript/Reference/Global_Objects/Error/lineNumber" TargetMode="External"/><Relationship Id="rId30" Type="http://schemas.openxmlformats.org/officeDocument/2006/relationships/hyperlink" Target="https://developer.mozilla.org/en-US/docs/Web/JavaScript/Reference/Global_Objects/Error/toString"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Error#custom_error_type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tackoverflow.com/questions/31846117/what-is-stack-walking"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en.wikipedia.org/wiki/Stack_trace"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developer.mozilla.org/en-US/docs/Glossary/WebDAV" TargetMode="External"/><Relationship Id="rId3" Type="http://schemas.openxmlformats.org/officeDocument/2006/relationships/hyperlink" Target="https://developer.mozilla.org/en-US/docs/Web/HTTP/Status#Information_responses" TargetMode="External"/><Relationship Id="rId7" Type="http://schemas.openxmlformats.org/officeDocument/2006/relationships/hyperlink" Target="https://developer.mozilla.org/en-US/docs/Web/HTTP/Status/102"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developer.mozilla.org/en-US/docs/Web/HTTP/Headers/Upgrade" TargetMode="External"/><Relationship Id="rId11" Type="http://schemas.openxmlformats.org/officeDocument/2006/relationships/hyperlink" Target="https://developer.mozilla.org/en-US/docs/Web/HTML/Preloading_content" TargetMode="External"/><Relationship Id="rId5" Type="http://schemas.openxmlformats.org/officeDocument/2006/relationships/hyperlink" Target="https://developer.mozilla.org/en-US/docs/Web/HTTP/Status/101" TargetMode="External"/><Relationship Id="rId10" Type="http://schemas.openxmlformats.org/officeDocument/2006/relationships/hyperlink" Target="https://developer.mozilla.org/en-US/docs/Web/HTTP/Headers/Link" TargetMode="External"/><Relationship Id="rId4" Type="http://schemas.openxmlformats.org/officeDocument/2006/relationships/hyperlink" Target="https://developer.mozilla.org/en-US/docs/Web/HTTP/Status/100" TargetMode="External"/><Relationship Id="rId9" Type="http://schemas.openxmlformats.org/officeDocument/2006/relationships/hyperlink" Target="https://developer.mozilla.org/en-US/docs/Web/HTTP/Status/103"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JSLint</a:t>
            </a:r>
            <a:r>
              <a:rPr lang="en-US" dirty="0" smtClean="0"/>
              <a:t> can be found at </a:t>
            </a:r>
            <a:r>
              <a:rPr lang="en-US" i="1" dirty="0" smtClean="0"/>
              <a:t>http://www.JSLint.com/</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r>
              <a:rPr lang="en-US" sz="1200" b="0" i="0" kern="1200" dirty="0" smtClean="0">
                <a:solidFill>
                  <a:schemeClr val="tx1"/>
                </a:solidFill>
                <a:effectLst/>
                <a:latin typeface="+mn-lt"/>
                <a:ea typeface="+mn-ea"/>
                <a:cs typeface="+mn-cs"/>
              </a:rPr>
              <a:t>JavaScript </a:t>
            </a:r>
            <a:r>
              <a:rPr lang="en-US" sz="1200" b="1" i="0" kern="1200" dirty="0" smtClean="0">
                <a:solidFill>
                  <a:schemeClr val="tx1"/>
                </a:solidFill>
                <a:effectLst/>
                <a:latin typeface="+mn-lt"/>
                <a:ea typeface="+mn-ea"/>
                <a:cs typeface="+mn-cs"/>
              </a:rPr>
              <a:t>statements</a:t>
            </a:r>
            <a:r>
              <a:rPr lang="en-US" sz="1200" b="0" i="0" kern="1200" dirty="0" smtClean="0">
                <a:solidFill>
                  <a:schemeClr val="tx1"/>
                </a:solidFill>
                <a:effectLst/>
                <a:latin typeface="+mn-lt"/>
                <a:ea typeface="+mn-ea"/>
                <a:cs typeface="+mn-cs"/>
              </a:rPr>
              <a:t> are composed of: Values, Operators, Expressions, Keywords, and Comments.</a:t>
            </a:r>
          </a:p>
          <a:p>
            <a:r>
              <a:rPr lang="en-US" sz="1200" b="0" i="0" kern="1200" dirty="0" smtClean="0">
                <a:solidFill>
                  <a:schemeClr val="tx1"/>
                </a:solidFill>
                <a:effectLst/>
                <a:latin typeface="+mn-lt"/>
                <a:ea typeface="+mn-ea"/>
                <a:cs typeface="+mn-cs"/>
              </a:rPr>
              <a:t>JavaScript programs (and JavaScript statements) are often called JavaScript code. </a:t>
            </a:r>
          </a:p>
          <a:p>
            <a:r>
              <a:rPr lang="en-US" sz="1200" b="0" i="0" kern="1200" dirty="0" err="1" smtClean="0">
                <a:solidFill>
                  <a:schemeClr val="tx1"/>
                </a:solidFill>
                <a:effectLst/>
                <a:latin typeface="+mn-lt"/>
                <a:ea typeface="+mn-ea"/>
                <a:cs typeface="+mn-cs"/>
              </a:rPr>
              <a:t>var</a:t>
            </a:r>
            <a:r>
              <a:rPr lang="en-US" sz="1200" b="0" i="0" kern="1200" dirty="0" smtClean="0">
                <a:solidFill>
                  <a:schemeClr val="tx1"/>
                </a:solidFill>
                <a:effectLst/>
                <a:latin typeface="+mn-lt"/>
                <a:ea typeface="+mn-ea"/>
                <a:cs typeface="+mn-cs"/>
              </a:rPr>
              <a:t> x, y, z;    // Statement 1</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x = 5;          // Statement 2</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y = 6;          // Statement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smtClean="0">
                <a:solidFill>
                  <a:schemeClr val="tx1"/>
                </a:solidFill>
                <a:effectLst/>
                <a:latin typeface="+mn-lt"/>
                <a:ea typeface="+mn-ea"/>
                <a:cs typeface="+mn-cs"/>
              </a:rPr>
              <a:t>var</a:t>
            </a:r>
            <a:r>
              <a:rPr lang="en-US" sz="1200" b="0" i="0" kern="1200" baseline="0" dirty="0" smtClean="0">
                <a:solidFill>
                  <a:schemeClr val="tx1"/>
                </a:solidFill>
                <a:effectLst/>
                <a:latin typeface="+mn-lt"/>
                <a:ea typeface="+mn-ea"/>
                <a:cs typeface="+mn-cs"/>
              </a:rPr>
              <a:t> x  = </a:t>
            </a:r>
            <a:r>
              <a:rPr lang="en-US" sz="1200" b="0" i="0" kern="1200" dirty="0" smtClean="0">
                <a:solidFill>
                  <a:schemeClr val="tx1"/>
                </a:solidFill>
                <a:effectLst/>
                <a:latin typeface="+mn-lt"/>
                <a:ea typeface="+mn-ea"/>
                <a:cs typeface="+mn-cs"/>
              </a:rPr>
              <a:t>5 * 10; //Statement 4</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JavaScript uses the </a:t>
            </a:r>
            <a:r>
              <a:rPr lang="en-US" dirty="0" err="1" smtClean="0"/>
              <a:t>var</a:t>
            </a:r>
            <a:r>
              <a:rPr lang="en-US" sz="1200" b="0" i="0" kern="1200" dirty="0" smtClean="0">
                <a:solidFill>
                  <a:schemeClr val="tx1"/>
                </a:solidFill>
                <a:effectLst/>
                <a:latin typeface="+mn-lt"/>
                <a:ea typeface="+mn-ea"/>
                <a:cs typeface="+mn-cs"/>
              </a:rPr>
              <a:t> keyword to </a:t>
            </a:r>
            <a:r>
              <a:rPr lang="en-US" sz="1200" b="1" i="0" kern="1200" dirty="0" smtClean="0">
                <a:solidFill>
                  <a:schemeClr val="tx1"/>
                </a:solidFill>
                <a:effectLst/>
                <a:latin typeface="+mn-lt"/>
                <a:ea typeface="+mn-ea"/>
                <a:cs typeface="+mn-cs"/>
              </a:rPr>
              <a:t>declare</a:t>
            </a:r>
            <a:r>
              <a:rPr lang="en-US" sz="1200" b="0" i="0" kern="1200" dirty="0" smtClean="0">
                <a:solidFill>
                  <a:schemeClr val="tx1"/>
                </a:solidFill>
                <a:effectLst/>
                <a:latin typeface="+mn-lt"/>
                <a:ea typeface="+mn-ea"/>
                <a:cs typeface="+mn-cs"/>
              </a:rPr>
              <a:t> variables.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An </a:t>
            </a:r>
            <a:r>
              <a:rPr lang="en-US" sz="1200" b="1" i="0" kern="1200" dirty="0" smtClean="0">
                <a:solidFill>
                  <a:schemeClr val="tx1"/>
                </a:solidFill>
                <a:effectLst/>
                <a:latin typeface="+mn-lt"/>
                <a:ea typeface="+mn-ea"/>
                <a:cs typeface="+mn-cs"/>
              </a:rPr>
              <a:t>expression</a:t>
            </a:r>
            <a:r>
              <a:rPr lang="en-US" sz="1200" b="0" i="0" kern="1200" dirty="0" smtClean="0">
                <a:solidFill>
                  <a:schemeClr val="tx1"/>
                </a:solidFill>
                <a:effectLst/>
                <a:latin typeface="+mn-lt"/>
                <a:ea typeface="+mn-ea"/>
                <a:cs typeface="+mn-cs"/>
              </a:rPr>
              <a:t> is a combination of values, variables, and operators, which computes to a value. E.g. 5 * 10    or x * 10</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JavaScript </a:t>
            </a:r>
            <a:r>
              <a:rPr lang="en-US" sz="1200" b="1" i="0" kern="1200" dirty="0" smtClean="0">
                <a:solidFill>
                  <a:schemeClr val="tx1"/>
                </a:solidFill>
                <a:effectLst/>
                <a:latin typeface="+mn-lt"/>
                <a:ea typeface="+mn-ea"/>
                <a:cs typeface="+mn-cs"/>
              </a:rPr>
              <a:t>variables</a:t>
            </a:r>
            <a:r>
              <a:rPr lang="en-US" sz="1200" b="0" i="0" kern="1200" dirty="0" smtClean="0">
                <a:solidFill>
                  <a:schemeClr val="tx1"/>
                </a:solidFill>
                <a:effectLst/>
                <a:latin typeface="+mn-lt"/>
                <a:ea typeface="+mn-ea"/>
                <a:cs typeface="+mn-cs"/>
              </a:rPr>
              <a:t> are containers for storing data values.</a:t>
            </a:r>
          </a:p>
          <a:p>
            <a:r>
              <a:rPr lang="en-US" sz="1200" b="0" i="0" kern="1200" dirty="0" smtClean="0">
                <a:solidFill>
                  <a:schemeClr val="tx1"/>
                </a:solidFill>
                <a:effectLst/>
                <a:latin typeface="+mn-lt"/>
                <a:ea typeface="+mn-ea"/>
                <a:cs typeface="+mn-cs"/>
              </a:rPr>
              <a:t>All JavaScript </a:t>
            </a:r>
            <a:r>
              <a:rPr lang="en-US" sz="1200" b="1" i="0" kern="1200" dirty="0" smtClean="0">
                <a:solidFill>
                  <a:schemeClr val="tx1"/>
                </a:solidFill>
                <a:effectLst/>
                <a:latin typeface="+mn-lt"/>
                <a:ea typeface="+mn-ea"/>
                <a:cs typeface="+mn-cs"/>
              </a:rPr>
              <a:t>variables</a:t>
            </a:r>
            <a:r>
              <a:rPr lang="en-US" sz="1200" b="0" i="0" kern="1200" dirty="0" smtClean="0">
                <a:solidFill>
                  <a:schemeClr val="tx1"/>
                </a:solidFill>
                <a:effectLst/>
                <a:latin typeface="+mn-lt"/>
                <a:ea typeface="+mn-ea"/>
                <a:cs typeface="+mn-cs"/>
              </a:rPr>
              <a:t> must be </a:t>
            </a:r>
            <a:r>
              <a:rPr lang="en-US" sz="1200" b="1" i="0" kern="1200" dirty="0" smtClean="0">
                <a:solidFill>
                  <a:schemeClr val="tx1"/>
                </a:solidFill>
                <a:effectLst/>
                <a:latin typeface="+mn-lt"/>
                <a:ea typeface="+mn-ea"/>
                <a:cs typeface="+mn-cs"/>
              </a:rPr>
              <a:t>identified</a:t>
            </a:r>
            <a:r>
              <a:rPr lang="en-US" sz="1200" b="0" i="0" kern="1200" dirty="0" smtClean="0">
                <a:solidFill>
                  <a:schemeClr val="tx1"/>
                </a:solidFill>
                <a:effectLst/>
                <a:latin typeface="+mn-lt"/>
                <a:ea typeface="+mn-ea"/>
                <a:cs typeface="+mn-cs"/>
              </a:rPr>
              <a:t> with </a:t>
            </a:r>
            <a:r>
              <a:rPr lang="en-US" sz="1200" b="1" i="0" kern="1200" dirty="0" smtClean="0">
                <a:solidFill>
                  <a:schemeClr val="tx1"/>
                </a:solidFill>
                <a:effectLst/>
                <a:latin typeface="+mn-lt"/>
                <a:ea typeface="+mn-ea"/>
                <a:cs typeface="+mn-cs"/>
              </a:rPr>
              <a:t>unique names</a:t>
            </a:r>
            <a:r>
              <a:rPr lang="en-US" sz="1200" b="0" i="0" kern="1200" dirty="0" smtClean="0">
                <a:solidFill>
                  <a:schemeClr val="tx1"/>
                </a:solidFill>
                <a:effectLst/>
                <a:latin typeface="+mn-lt"/>
                <a:ea typeface="+mn-ea"/>
                <a:cs typeface="+mn-cs"/>
              </a:rPr>
              <a:t>. JavaScript identifiers are case-sensitive.</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Creating a variable in JavaScript is called "declaring" a variable.</a:t>
            </a:r>
          </a:p>
          <a:p>
            <a:r>
              <a:rPr lang="en-US" sz="1200" b="0" i="0" kern="1200" dirty="0" err="1" smtClean="0">
                <a:solidFill>
                  <a:schemeClr val="tx1"/>
                </a:solidFill>
                <a:effectLst/>
                <a:latin typeface="+mn-lt"/>
                <a:ea typeface="+mn-ea"/>
                <a:cs typeface="+mn-cs"/>
              </a:rPr>
              <a:t>var</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carName</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Difference Between </a:t>
            </a:r>
            <a:r>
              <a:rPr lang="en-US" sz="1200" b="1" i="0" kern="1200" dirty="0" smtClean="0">
                <a:solidFill>
                  <a:schemeClr val="tx1"/>
                </a:solidFill>
                <a:effectLst/>
                <a:latin typeface="+mn-lt"/>
                <a:ea typeface="+mn-ea"/>
                <a:cs typeface="+mn-cs"/>
              </a:rPr>
              <a:t>Unicode</a:t>
            </a:r>
            <a:r>
              <a:rPr lang="en-US" sz="1200" b="0" i="0" kern="1200" dirty="0" smtClean="0">
                <a:solidFill>
                  <a:schemeClr val="tx1"/>
                </a:solidFill>
                <a:effectLst/>
                <a:latin typeface="+mn-lt"/>
                <a:ea typeface="+mn-ea"/>
                <a:cs typeface="+mn-cs"/>
              </a:rPr>
              <a:t> and </a:t>
            </a:r>
            <a:r>
              <a:rPr lang="en-US" sz="1200" b="1" i="0" kern="1200" dirty="0" smtClean="0">
                <a:solidFill>
                  <a:schemeClr val="tx1"/>
                </a:solidFill>
                <a:effectLst/>
                <a:latin typeface="+mn-lt"/>
                <a:ea typeface="+mn-ea"/>
                <a:cs typeface="+mn-cs"/>
              </a:rPr>
              <a:t>UTF-8</a:t>
            </a:r>
            <a:r>
              <a:rPr lang="en-US" sz="1200" b="0" i="0" kern="1200" dirty="0" smtClean="0">
                <a:solidFill>
                  <a:schemeClr val="tx1"/>
                </a:solidFill>
                <a:effectLst/>
                <a:latin typeface="+mn-lt"/>
                <a:ea typeface="+mn-ea"/>
                <a:cs typeface="+mn-cs"/>
              </a:rPr>
              <a:t>: Unicode is a </a:t>
            </a:r>
            <a:r>
              <a:rPr lang="en-US" sz="1200" b="1" i="0" kern="1200" dirty="0" smtClean="0">
                <a:solidFill>
                  <a:schemeClr val="tx1"/>
                </a:solidFill>
                <a:effectLst/>
                <a:latin typeface="+mn-lt"/>
                <a:ea typeface="+mn-ea"/>
                <a:cs typeface="+mn-cs"/>
              </a:rPr>
              <a:t>character set</a:t>
            </a:r>
            <a:r>
              <a:rPr lang="en-US" sz="1200" b="0" i="0" kern="1200" dirty="0" smtClean="0">
                <a:solidFill>
                  <a:schemeClr val="tx1"/>
                </a:solidFill>
                <a:effectLst/>
                <a:latin typeface="+mn-lt"/>
                <a:ea typeface="+mn-ea"/>
                <a:cs typeface="+mn-cs"/>
              </a:rPr>
              <a:t>. UTF-8 is </a:t>
            </a:r>
            <a:r>
              <a:rPr lang="en-US" sz="1200" b="1" i="0" kern="1200" dirty="0" smtClean="0">
                <a:solidFill>
                  <a:schemeClr val="tx1"/>
                </a:solidFill>
                <a:effectLst/>
                <a:latin typeface="+mn-lt"/>
                <a:ea typeface="+mn-ea"/>
                <a:cs typeface="+mn-cs"/>
              </a:rPr>
              <a:t>encoding</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Unicode</a:t>
            </a:r>
            <a:r>
              <a:rPr lang="en-US" sz="1200" b="0" i="0" kern="1200" dirty="0" smtClean="0">
                <a:solidFill>
                  <a:schemeClr val="tx1"/>
                </a:solidFill>
                <a:effectLst/>
                <a:latin typeface="+mn-lt"/>
                <a:ea typeface="+mn-ea"/>
                <a:cs typeface="+mn-cs"/>
              </a:rPr>
              <a:t> is a list of characters with unique decimal numbers (code points). A = 65, B = 66, C = 67, ....</a:t>
            </a:r>
          </a:p>
          <a:p>
            <a:r>
              <a:rPr lang="en-US" sz="1200" b="0" i="0" kern="1200" dirty="0" smtClean="0">
                <a:solidFill>
                  <a:schemeClr val="tx1"/>
                </a:solidFill>
                <a:effectLst/>
                <a:latin typeface="+mn-lt"/>
                <a:ea typeface="+mn-ea"/>
                <a:cs typeface="+mn-cs"/>
              </a:rPr>
              <a:t>This list of decimal numbers represent the string “</a:t>
            </a:r>
            <a:r>
              <a:rPr lang="en-US" sz="1200" b="0" i="0" kern="1200" dirty="0" err="1" smtClean="0">
                <a:solidFill>
                  <a:schemeClr val="tx1"/>
                </a:solidFill>
                <a:effectLst/>
                <a:latin typeface="+mn-lt"/>
                <a:ea typeface="+mn-ea"/>
                <a:cs typeface="+mn-cs"/>
              </a:rPr>
              <a:t>ahello</a:t>
            </a:r>
            <a:r>
              <a:rPr lang="en-US" sz="1200" b="0" i="0" kern="1200" dirty="0" smtClean="0">
                <a:solidFill>
                  <a:schemeClr val="tx1"/>
                </a:solidFill>
                <a:effectLst/>
                <a:latin typeface="+mn-lt"/>
                <a:ea typeface="+mn-ea"/>
                <a:cs typeface="+mn-cs"/>
              </a:rPr>
              <a:t>": 97 104 101 108 108 111</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Encoding</a:t>
            </a:r>
            <a:r>
              <a:rPr lang="en-US" sz="1200" b="0" i="0" kern="1200" dirty="0" smtClean="0">
                <a:solidFill>
                  <a:schemeClr val="tx1"/>
                </a:solidFill>
                <a:effectLst/>
                <a:latin typeface="+mn-lt"/>
                <a:ea typeface="+mn-ea"/>
                <a:cs typeface="+mn-cs"/>
              </a:rPr>
              <a:t> is how these numbers are translated into binary numbers to be </a:t>
            </a:r>
            <a:r>
              <a:rPr lang="en-US" sz="1200" b="1" i="0" kern="1200" dirty="0" smtClean="0">
                <a:solidFill>
                  <a:schemeClr val="tx1"/>
                </a:solidFill>
                <a:effectLst/>
                <a:latin typeface="+mn-lt"/>
                <a:ea typeface="+mn-ea"/>
                <a:cs typeface="+mn-cs"/>
              </a:rPr>
              <a:t>stored</a:t>
            </a:r>
            <a:r>
              <a:rPr lang="en-US" sz="1200" b="0" i="0" kern="1200" dirty="0" smtClean="0">
                <a:solidFill>
                  <a:schemeClr val="tx1"/>
                </a:solidFill>
                <a:effectLst/>
                <a:latin typeface="+mn-lt"/>
                <a:ea typeface="+mn-ea"/>
                <a:cs typeface="+mn-cs"/>
              </a:rPr>
              <a:t> in a computer:</a:t>
            </a:r>
          </a:p>
          <a:p>
            <a:r>
              <a:rPr lang="en-US" sz="1200" b="0" i="0" kern="1200" dirty="0" smtClean="0">
                <a:solidFill>
                  <a:schemeClr val="tx1"/>
                </a:solidFill>
                <a:effectLst/>
                <a:latin typeface="+mn-lt"/>
                <a:ea typeface="+mn-ea"/>
                <a:cs typeface="+mn-cs"/>
              </a:rPr>
              <a:t>UTF-8 encoding will store "hello" like this (binary): 01101000 01100101 01101100 01101100  01101111</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Encoding</a:t>
            </a:r>
            <a:r>
              <a:rPr lang="en-US" sz="1200" b="0" i="0" kern="1200" dirty="0" smtClean="0">
                <a:solidFill>
                  <a:schemeClr val="tx1"/>
                </a:solidFill>
                <a:effectLst/>
                <a:latin typeface="+mn-lt"/>
                <a:ea typeface="+mn-ea"/>
                <a:cs typeface="+mn-cs"/>
              </a:rPr>
              <a:t> translates numbers into binary . </a:t>
            </a:r>
            <a:r>
              <a:rPr lang="en-US" sz="1200" b="1" i="0" kern="1200" dirty="0" smtClean="0">
                <a:solidFill>
                  <a:schemeClr val="tx1"/>
                </a:solidFill>
                <a:effectLst/>
                <a:latin typeface="+mn-lt"/>
                <a:ea typeface="+mn-ea"/>
                <a:cs typeface="+mn-cs"/>
              </a:rPr>
              <a:t>Character sets</a:t>
            </a:r>
            <a:r>
              <a:rPr lang="en-US" sz="1200" b="0" i="0" kern="1200" dirty="0" smtClean="0">
                <a:solidFill>
                  <a:schemeClr val="tx1"/>
                </a:solidFill>
                <a:effectLst/>
                <a:latin typeface="+mn-lt"/>
                <a:ea typeface="+mn-ea"/>
                <a:cs typeface="+mn-cs"/>
              </a:rPr>
              <a:t> translates characters to numbers.</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pPr marL="0" lvl="0" indent="0" algn="l" rtl="0">
              <a:spcBef>
                <a:spcPts val="0"/>
              </a:spcBef>
              <a:spcAft>
                <a:spcPts val="0"/>
              </a:spcAft>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a:t>
            </a:fld>
            <a:endParaRPr lang="en-US"/>
          </a:p>
        </p:txBody>
      </p:sp>
    </p:spTree>
    <p:extLst>
      <p:ext uri="{BB962C8B-B14F-4D97-AF65-F5344CB8AC3E}">
        <p14:creationId xmlns:p14="http://schemas.microsoft.com/office/powerpoint/2010/main" val="3120907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https://developer.mozilla.org/en-US/docs/Web/HTTP/Caching</a:t>
            </a:r>
          </a:p>
          <a:p>
            <a:endParaRPr lang="en-US" dirty="0" smtClean="0"/>
          </a:p>
          <a:p>
            <a:r>
              <a:rPr lang="en-US" dirty="0" smtClean="0"/>
              <a:t>https://www.restapitutorial.com/httpstatuscodes.html</a:t>
            </a:r>
          </a:p>
          <a:p>
            <a:endParaRPr lang="en-US" dirty="0" smtClean="0"/>
          </a:p>
          <a:p>
            <a:r>
              <a:rPr lang="en-US" dirty="0" smtClean="0"/>
              <a:t>https://www.tutorialspoint.com/http/http_caching.htm</a:t>
            </a:r>
          </a:p>
          <a:p>
            <a:endParaRPr lang="en-US" dirty="0" smtClean="0"/>
          </a:p>
          <a:p>
            <a:r>
              <a:rPr lang="en-US" dirty="0" smtClean="0"/>
              <a:t>https://www.baeldung.com/java-exceptions</a:t>
            </a:r>
          </a:p>
          <a:p>
            <a:r>
              <a:rPr lang="en-US" dirty="0" smtClean="0"/>
              <a:t>http://tutorials.jenkov.com/java-exception-handling/checked-or-unchecked-exceptions.html</a:t>
            </a:r>
          </a:p>
          <a:p>
            <a:endParaRPr lang="en-US" dirty="0" smtClean="0"/>
          </a:p>
          <a:p>
            <a:endParaRPr lang="en-US" dirty="0" smtClean="0"/>
          </a:p>
          <a:p>
            <a:r>
              <a:rPr lang="en-US" sz="1200" b="1" i="0" kern="1200" dirty="0" smtClean="0">
                <a:solidFill>
                  <a:schemeClr val="tx1"/>
                </a:solidFill>
                <a:effectLst/>
                <a:latin typeface="+mn-lt"/>
                <a:ea typeface="+mn-ea"/>
                <a:cs typeface="+mn-cs"/>
              </a:rPr>
              <a:t>We usually write code in an idealized environment: the </a:t>
            </a:r>
            <a:r>
              <a:rPr lang="en-US" sz="1200" b="1" i="0" kern="1200" dirty="0" err="1" smtClean="0">
                <a:solidFill>
                  <a:schemeClr val="tx1"/>
                </a:solidFill>
                <a:effectLst/>
                <a:latin typeface="+mn-lt"/>
                <a:ea typeface="+mn-ea"/>
                <a:cs typeface="+mn-cs"/>
              </a:rPr>
              <a:t>filesystem</a:t>
            </a:r>
            <a:r>
              <a:rPr lang="en-US" sz="1200" b="1" i="0" kern="1200" dirty="0" smtClean="0">
                <a:solidFill>
                  <a:schemeClr val="tx1"/>
                </a:solidFill>
                <a:effectLst/>
                <a:latin typeface="+mn-lt"/>
                <a:ea typeface="+mn-ea"/>
                <a:cs typeface="+mn-cs"/>
              </a:rPr>
              <a:t> always contains our files, the network is healthy, and the JVM always has enough memory. Sometimes we call this the “happy path”.</a:t>
            </a:r>
            <a:endParaRPr lang="en-US" b="1"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2</a:t>
            </a:fld>
            <a:endParaRPr lang="en-US"/>
          </a:p>
        </p:txBody>
      </p:sp>
    </p:spTree>
    <p:extLst>
      <p:ext uri="{BB962C8B-B14F-4D97-AF65-F5344CB8AC3E}">
        <p14:creationId xmlns:p14="http://schemas.microsoft.com/office/powerpoint/2010/main" val="2034473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smtClean="0">
                <a:solidFill>
                  <a:srgbClr val="000000"/>
                </a:solidFill>
                <a:latin typeface="Helvetica Neue LT Std"/>
              </a:rPr>
              <a:t>Console Timing/Counting</a:t>
            </a:r>
            <a:endParaRPr lang="en-US" sz="1200" dirty="0" smtClean="0">
              <a:solidFill>
                <a:srgbClr val="000000"/>
              </a:solidFill>
              <a:latin typeface="Helvetica Neue LT Std"/>
            </a:endParaRPr>
          </a:p>
          <a:p>
            <a:r>
              <a:rPr lang="en-US" sz="1200" dirty="0" smtClean="0"/>
              <a:t>If you write bad code in JavaScript and takes a really long time to process. E.g. code that pauses execution via promises, waits for APIs to load, or has inefficient calculations that result in long wait times. All of these impact </a:t>
            </a:r>
            <a:r>
              <a:rPr lang="en-US" sz="1200" u="sng" dirty="0" smtClean="0"/>
              <a:t>page load time </a:t>
            </a:r>
            <a:r>
              <a:rPr lang="en-US" sz="1200" dirty="0" smtClean="0"/>
              <a:t>and therefore user experience. </a:t>
            </a:r>
          </a:p>
          <a:p>
            <a:endParaRPr lang="en-US" sz="1200" b="1" i="0" u="none" strike="noStrike" kern="1200" baseline="0" dirty="0" smtClean="0">
              <a:solidFill>
                <a:schemeClr val="tx1"/>
              </a:solidFill>
              <a:latin typeface="+mn-lt"/>
              <a:ea typeface="+mn-ea"/>
              <a:cs typeface="+mn-cs"/>
            </a:endParaRPr>
          </a:p>
          <a:p>
            <a:endParaRPr lang="en-US" sz="1200" b="1"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Console Timing</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Typical JavaScript code is not exactly known for its efficiency. If you write bad code in JavaScript, it has the propensity to take a really long time to process. For example, it’s possible to write code that pauses execution via promises, waits for APIs to load, or has inefficient calculations that result in long wait times. </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All of these impact page load time and therefore user experience. Search engines like Google use page load time to figure out where to place your website in search results. Therefore, optimizing your JavaScript is really important, and the best way to find code that is performing code is by measuring how long it takes to run. To help diagnose these problems, there are three console methods we can use. These are listed below:</a:t>
            </a:r>
          </a:p>
          <a:p>
            <a:r>
              <a:rPr lang="en-US" sz="1200" b="0" i="0" u="none" strike="noStrike" kern="1200" baseline="0" dirty="0" err="1" smtClean="0">
                <a:solidFill>
                  <a:schemeClr val="tx1"/>
                </a:solidFill>
                <a:latin typeface="+mn-lt"/>
                <a:ea typeface="+mn-ea"/>
                <a:cs typeface="+mn-cs"/>
              </a:rPr>
              <a:t>console.time</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err="1" smtClean="0">
                <a:solidFill>
                  <a:schemeClr val="tx1"/>
                </a:solidFill>
                <a:latin typeface="+mn-lt"/>
                <a:ea typeface="+mn-ea"/>
                <a:cs typeface="+mn-cs"/>
              </a:rPr>
              <a:t>console.timeLog</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err="1" smtClean="0">
                <a:solidFill>
                  <a:schemeClr val="tx1"/>
                </a:solidFill>
                <a:latin typeface="+mn-lt"/>
                <a:ea typeface="+mn-ea"/>
                <a:cs typeface="+mn-cs"/>
              </a:rPr>
              <a:t>console.timeEnd</a:t>
            </a:r>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Console Counting</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Another method that works the same as </a:t>
            </a:r>
            <a:r>
              <a:rPr lang="en-US" sz="1200" b="0" i="0" u="none" strike="noStrike" kern="1200" baseline="0" dirty="0" err="1" smtClean="0">
                <a:solidFill>
                  <a:schemeClr val="tx1"/>
                </a:solidFill>
                <a:latin typeface="+mn-lt"/>
                <a:ea typeface="+mn-ea"/>
                <a:cs typeface="+mn-cs"/>
              </a:rPr>
              <a:t>console.time</a:t>
            </a:r>
            <a:r>
              <a:rPr lang="en-US" sz="1200" b="0" i="0" u="none" strike="noStrike" kern="1200" baseline="0" dirty="0" smtClean="0">
                <a:solidFill>
                  <a:schemeClr val="tx1"/>
                </a:solidFill>
                <a:latin typeface="+mn-lt"/>
                <a:ea typeface="+mn-ea"/>
                <a:cs typeface="+mn-cs"/>
              </a:rPr>
              <a:t> is </a:t>
            </a:r>
            <a:r>
              <a:rPr lang="en-US" sz="1200" b="0" i="0" u="none" strike="noStrike" kern="1200" baseline="0" dirty="0" err="1" smtClean="0">
                <a:solidFill>
                  <a:schemeClr val="tx1"/>
                </a:solidFill>
                <a:latin typeface="+mn-lt"/>
                <a:ea typeface="+mn-ea"/>
                <a:cs typeface="+mn-cs"/>
              </a:rPr>
              <a:t>console.count</a:t>
            </a:r>
            <a:r>
              <a:rPr lang="en-US" sz="1200" b="0" i="0" u="none" strike="noStrike" kern="1200" baseline="0" dirty="0" smtClean="0">
                <a:solidFill>
                  <a:schemeClr val="tx1"/>
                </a:solidFill>
                <a:latin typeface="+mn-lt"/>
                <a:ea typeface="+mn-ea"/>
                <a:cs typeface="+mn-cs"/>
              </a:rPr>
              <a:t>. It accepts a unique value, and every time it is called, it will add 1 to the count for that value. For example:</a:t>
            </a:r>
          </a:p>
          <a:p>
            <a:r>
              <a:rPr lang="en-US" sz="1200" b="0" i="0" u="none" strike="noStrike" kern="1200" baseline="0" dirty="0" err="1" smtClean="0">
                <a:solidFill>
                  <a:schemeClr val="tx1"/>
                </a:solidFill>
                <a:latin typeface="+mn-lt"/>
                <a:ea typeface="+mn-ea"/>
                <a:cs typeface="+mn-cs"/>
              </a:rPr>
              <a:t>console.count</a:t>
            </a:r>
            <a:r>
              <a:rPr lang="en-US" sz="1200" b="0" i="0" u="none" strike="noStrike" kern="1200" baseline="0" dirty="0" smtClean="0">
                <a:solidFill>
                  <a:schemeClr val="tx1"/>
                </a:solidFill>
                <a:latin typeface="+mn-lt"/>
                <a:ea typeface="+mn-ea"/>
                <a:cs typeface="+mn-cs"/>
              </a:rPr>
              <a:t>("my count")</a:t>
            </a:r>
          </a:p>
          <a:p>
            <a:r>
              <a:rPr lang="en-US" sz="1200" b="0" i="0" u="none" strike="noStrike" kern="1200" baseline="0" dirty="0" err="1" smtClean="0">
                <a:solidFill>
                  <a:schemeClr val="tx1"/>
                </a:solidFill>
                <a:latin typeface="+mn-lt"/>
                <a:ea typeface="+mn-ea"/>
                <a:cs typeface="+mn-cs"/>
              </a:rPr>
              <a:t>console.count</a:t>
            </a:r>
            <a:r>
              <a:rPr lang="en-US" sz="1200" b="0" i="0" u="none" strike="noStrike" kern="1200" baseline="0" dirty="0" smtClean="0">
                <a:solidFill>
                  <a:schemeClr val="tx1"/>
                </a:solidFill>
                <a:latin typeface="+mn-lt"/>
                <a:ea typeface="+mn-ea"/>
                <a:cs typeface="+mn-cs"/>
              </a:rPr>
              <a:t>("my count")</a:t>
            </a:r>
          </a:p>
          <a:p>
            <a:r>
              <a:rPr lang="en-US" sz="1200" b="0" i="0" u="none" strike="noStrike" kern="1200" baseline="0" dirty="0" err="1" smtClean="0">
                <a:solidFill>
                  <a:schemeClr val="tx1"/>
                </a:solidFill>
                <a:latin typeface="+mn-lt"/>
                <a:ea typeface="+mn-ea"/>
                <a:cs typeface="+mn-cs"/>
              </a:rPr>
              <a:t>console.count</a:t>
            </a:r>
            <a:r>
              <a:rPr lang="en-US" sz="1200" b="0" i="0" u="none" strike="noStrike" kern="1200" baseline="0" dirty="0" smtClean="0">
                <a:solidFill>
                  <a:schemeClr val="tx1"/>
                </a:solidFill>
                <a:latin typeface="+mn-lt"/>
                <a:ea typeface="+mn-ea"/>
                <a:cs typeface="+mn-cs"/>
              </a:rPr>
              <a:t>("my count")</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If you want to reset the counter to the beginning again, you can then use </a:t>
            </a:r>
            <a:r>
              <a:rPr lang="en-US" sz="1200" b="0" i="0" u="none" strike="noStrike" kern="1200" baseline="0" dirty="0" err="1" smtClean="0">
                <a:solidFill>
                  <a:schemeClr val="tx1"/>
                </a:solidFill>
                <a:latin typeface="+mn-lt"/>
                <a:ea typeface="+mn-ea"/>
                <a:cs typeface="+mn-cs"/>
              </a:rPr>
              <a:t>console.countReset</a:t>
            </a:r>
            <a:r>
              <a:rPr lang="en-US" sz="1200" b="0" i="0" u="none" strike="noStrike" kern="1200" baseline="0" dirty="0" smtClean="0">
                <a:solidFill>
                  <a:schemeClr val="tx1"/>
                </a:solidFill>
                <a:latin typeface="+mn-lt"/>
                <a:ea typeface="+mn-ea"/>
                <a:cs typeface="+mn-cs"/>
              </a:rPr>
              <a:t>("my count").</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Instead of console logging a specific string of text, these methods create timers, which return the time in milliseconds. If we wanted to create a timer with the name “my timer,” we would first run </a:t>
            </a:r>
            <a:r>
              <a:rPr lang="en-US" sz="1200" b="0" i="0" u="none" strike="noStrike" kern="1200" baseline="0" dirty="0" err="1" smtClean="0">
                <a:solidFill>
                  <a:schemeClr val="tx1"/>
                </a:solidFill>
                <a:latin typeface="+mn-lt"/>
                <a:ea typeface="+mn-ea"/>
                <a:cs typeface="+mn-cs"/>
              </a:rPr>
              <a:t>console.time</a:t>
            </a:r>
            <a:r>
              <a:rPr lang="en-US" sz="1200" b="0" i="0" u="none" strike="noStrike" kern="1200" baseline="0" dirty="0" smtClean="0">
                <a:solidFill>
                  <a:schemeClr val="tx1"/>
                </a:solidFill>
                <a:latin typeface="+mn-lt"/>
                <a:ea typeface="+mn-ea"/>
                <a:cs typeface="+mn-cs"/>
              </a:rPr>
              <a:t>("my timer") to initiate the timer. From the point where that is called, the clock starts ticking.</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If you are running Node.js, console logs appear in your terminal directly. For browsers, they appear in the developer tools, which can usually be accessed by right-clicking a web page and choosing </a:t>
            </a:r>
            <a:r>
              <a:rPr lang="en-US" sz="1200" b="1" i="0" u="none" strike="noStrike" kern="1200" baseline="0" dirty="0" smtClean="0">
                <a:solidFill>
                  <a:schemeClr val="tx1"/>
                </a:solidFill>
                <a:latin typeface="+mn-lt"/>
                <a:ea typeface="+mn-ea"/>
                <a:cs typeface="+mn-cs"/>
              </a:rPr>
              <a:t>Inspect </a:t>
            </a:r>
            <a:r>
              <a:rPr lang="en-US" sz="1200" b="0" i="0" u="none" strike="noStrike" kern="1200" baseline="0" dirty="0" smtClean="0">
                <a:solidFill>
                  <a:schemeClr val="tx1"/>
                </a:solidFill>
                <a:latin typeface="+mn-lt"/>
                <a:ea typeface="+mn-ea"/>
                <a:cs typeface="+mn-cs"/>
              </a:rPr>
              <a:t>or </a:t>
            </a:r>
            <a:r>
              <a:rPr lang="en-US" sz="1200" b="1" i="0" u="none" strike="noStrike" kern="1200" baseline="0" dirty="0" smtClean="0">
                <a:solidFill>
                  <a:schemeClr val="tx1"/>
                </a:solidFill>
                <a:latin typeface="+mn-lt"/>
                <a:ea typeface="+mn-ea"/>
                <a:cs typeface="+mn-cs"/>
              </a:rPr>
              <a:t>Inspect Element</a:t>
            </a:r>
            <a:r>
              <a:rPr lang="en-US" sz="1200" b="0" i="0" u="none" strike="noStrike" kern="1200" baseline="0" dirty="0" smtClean="0">
                <a:solidFill>
                  <a:schemeClr val="tx1"/>
                </a:solidFill>
                <a:latin typeface="+mn-lt"/>
                <a:ea typeface="+mn-ea"/>
                <a:cs typeface="+mn-cs"/>
              </a:rPr>
              <a:t>. </a:t>
            </a:r>
          </a:p>
          <a:p>
            <a:endParaRPr lang="en-US" sz="1200" b="0" i="0" u="none" strike="noStrike" kern="1200" baseline="0" dirty="0" smtClean="0">
              <a:solidFill>
                <a:schemeClr val="tx1"/>
              </a:solidFill>
              <a:latin typeface="+mn-lt"/>
              <a:ea typeface="+mn-ea"/>
              <a:cs typeface="+mn-cs"/>
            </a:endParaRPr>
          </a:p>
          <a:p>
            <a:endParaRPr lang="en-US" dirty="0" smtClean="0"/>
          </a:p>
          <a:p>
            <a:r>
              <a:rPr lang="en-US" sz="1200" b="0" i="0" u="none" strike="noStrike" kern="1200" baseline="0" dirty="0" smtClean="0">
                <a:solidFill>
                  <a:schemeClr val="tx1"/>
                </a:solidFill>
                <a:latin typeface="+mn-lt"/>
                <a:ea typeface="+mn-ea"/>
                <a:cs typeface="+mn-cs"/>
              </a:rPr>
              <a:t>Throughout this book, we’ve consistently relied on the console object to debug and learn more about how JavaScript works. We’ve also touched upon the fact that JavaScript can throw errors </a:t>
            </a:r>
          </a:p>
          <a:p>
            <a:r>
              <a:rPr lang="en-US" sz="1200" b="0" i="0" u="none" strike="noStrike" kern="1200" baseline="0" dirty="0" smtClean="0">
                <a:solidFill>
                  <a:schemeClr val="tx1"/>
                </a:solidFill>
                <a:latin typeface="+mn-lt"/>
                <a:ea typeface="+mn-ea"/>
                <a:cs typeface="+mn-cs"/>
              </a:rPr>
              <a:t>if you do something it doesn’t understand. In this chapter, we’ll dive deeper into how the console works, along with additional methods available to you so that you can get the most out of it. After we’ve fully explored the console, we’ll look at errors and how to handle them.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dive deeper into how the console works, along with additional methods available to you so that you can get the most out of it. </a:t>
            </a:r>
          </a:p>
          <a:p>
            <a:endParaRPr lang="en-US" sz="1200" b="0" i="0" u="none" strike="noStrike" kern="1200" baseline="0" dirty="0" smtClean="0">
              <a:solidFill>
                <a:schemeClr val="tx1"/>
              </a:solidFill>
              <a:latin typeface="+mn-lt"/>
              <a:ea typeface="+mn-ea"/>
              <a:cs typeface="+mn-cs"/>
            </a:endParaRPr>
          </a:p>
          <a:p>
            <a:r>
              <a:rPr lang="en-US" dirty="0" smtClean="0"/>
              <a:t>no meat detected.. and Vegan Lite is 2400 </a:t>
            </a:r>
            <a:r>
              <a:rPr lang="en-US" dirty="0" err="1" smtClean="0"/>
              <a:t>scoville</a:t>
            </a:r>
            <a:endParaRPr lang="en-US" dirty="0" smtClean="0"/>
          </a:p>
          <a:p>
            <a:r>
              <a:rPr lang="en-US" dirty="0" smtClean="0"/>
              <a:t>[Arguments] {</a:t>
            </a:r>
          </a:p>
          <a:p>
            <a:r>
              <a:rPr lang="en-US" dirty="0" smtClean="0"/>
              <a:t>  '0': {},</a:t>
            </a:r>
          </a:p>
          <a:p>
            <a:r>
              <a:rPr lang="en-US" dirty="0" smtClean="0"/>
              <a:t>  '1': [Function: require] {</a:t>
            </a:r>
          </a:p>
          <a:p>
            <a:r>
              <a:rPr lang="en-US" dirty="0" smtClean="0"/>
              <a:t>    resolve: [Function: resolve] { paths: [Function: paths] },</a:t>
            </a:r>
          </a:p>
          <a:p>
            <a:r>
              <a:rPr lang="en-US" dirty="0" smtClean="0"/>
              <a:t>    main: {</a:t>
            </a:r>
          </a:p>
          <a:p>
            <a:r>
              <a:rPr lang="en-US" dirty="0" smtClean="0"/>
              <a:t>      id: '.',</a:t>
            </a:r>
          </a:p>
          <a:p>
            <a:r>
              <a:rPr lang="en-US" dirty="0" smtClean="0"/>
              <a:t>      path: 'C:\\</a:t>
            </a:r>
            <a:r>
              <a:rPr lang="en-US" dirty="0" err="1" smtClean="0"/>
              <a:t>workspace_nodejs</a:t>
            </a:r>
            <a:r>
              <a:rPr lang="en-US" dirty="0" smtClean="0"/>
              <a:t>\\</a:t>
            </a:r>
            <a:r>
              <a:rPr lang="en-US" dirty="0" err="1" smtClean="0"/>
              <a:t>nodejs</a:t>
            </a:r>
            <a:r>
              <a:rPr lang="en-US" dirty="0" smtClean="0"/>
              <a:t>-app\\</a:t>
            </a:r>
            <a:r>
              <a:rPr lang="en-US" dirty="0" err="1" smtClean="0"/>
              <a:t>src</a:t>
            </a:r>
            <a:r>
              <a:rPr lang="en-US" dirty="0" smtClean="0"/>
              <a:t>-</a:t>
            </a:r>
            <a:r>
              <a:rPr lang="en-US" dirty="0" err="1" smtClean="0"/>
              <a:t>js</a:t>
            </a:r>
            <a:r>
              <a:rPr lang="en-US" dirty="0" smtClean="0"/>
              <a:t>-deep',</a:t>
            </a:r>
          </a:p>
          <a:p>
            <a:r>
              <a:rPr lang="en-US" dirty="0" smtClean="0"/>
              <a:t>      exports: {},</a:t>
            </a:r>
          </a:p>
          <a:p>
            <a:r>
              <a:rPr lang="en-US" dirty="0" smtClean="0"/>
              <a:t>      filename: 'C:\\</a:t>
            </a:r>
            <a:r>
              <a:rPr lang="en-US" dirty="0" err="1" smtClean="0"/>
              <a:t>workspace_nodejs</a:t>
            </a:r>
            <a:r>
              <a:rPr lang="en-US" dirty="0" smtClean="0"/>
              <a:t>\\</a:t>
            </a:r>
            <a:r>
              <a:rPr lang="en-US" dirty="0" err="1" smtClean="0"/>
              <a:t>nodejs</a:t>
            </a:r>
            <a:r>
              <a:rPr lang="en-US" dirty="0" smtClean="0"/>
              <a:t>-app\\</a:t>
            </a:r>
            <a:r>
              <a:rPr lang="en-US" dirty="0" err="1" smtClean="0"/>
              <a:t>src</a:t>
            </a:r>
            <a:r>
              <a:rPr lang="en-US" dirty="0" smtClean="0"/>
              <a:t>-</a:t>
            </a:r>
            <a:r>
              <a:rPr lang="en-US" dirty="0" err="1" smtClean="0"/>
              <a:t>js</a:t>
            </a:r>
            <a:r>
              <a:rPr lang="en-US" dirty="0" smtClean="0"/>
              <a:t>-deep\\r-class3-inheritance.js',</a:t>
            </a:r>
          </a:p>
          <a:p>
            <a:r>
              <a:rPr lang="en-US" dirty="0" smtClean="0"/>
              <a:t>      loaded: false,</a:t>
            </a:r>
          </a:p>
          <a:p>
            <a:r>
              <a:rPr lang="en-US" dirty="0" smtClean="0"/>
              <a:t>      children: [],</a:t>
            </a:r>
          </a:p>
          <a:p>
            <a:r>
              <a:rPr lang="en-US" dirty="0" smtClean="0"/>
              <a:t>      paths: [Array]</a:t>
            </a:r>
          </a:p>
          <a:p>
            <a:r>
              <a:rPr lang="en-US" dirty="0" smtClean="0"/>
              <a:t>    },</a:t>
            </a:r>
          </a:p>
          <a:p>
            <a:r>
              <a:rPr lang="en-US" dirty="0" smtClean="0"/>
              <a:t>    extensions: [Object: null prototype] {</a:t>
            </a:r>
          </a:p>
          <a:p>
            <a:r>
              <a:rPr lang="en-US" dirty="0" smtClean="0"/>
              <a:t>      '.</a:t>
            </a:r>
            <a:r>
              <a:rPr lang="en-US" dirty="0" err="1" smtClean="0"/>
              <a:t>js</a:t>
            </a:r>
            <a:r>
              <a:rPr lang="en-US" dirty="0" smtClean="0"/>
              <a:t>': [Function (anonymous)],</a:t>
            </a:r>
          </a:p>
          <a:p>
            <a:r>
              <a:rPr lang="en-US" dirty="0" smtClean="0"/>
              <a:t>      '.</a:t>
            </a:r>
            <a:r>
              <a:rPr lang="en-US" dirty="0" err="1" smtClean="0"/>
              <a:t>json</a:t>
            </a:r>
            <a:r>
              <a:rPr lang="en-US" dirty="0" smtClean="0"/>
              <a:t>': [Function (anonymous)],</a:t>
            </a:r>
          </a:p>
          <a:p>
            <a:r>
              <a:rPr lang="en-US" dirty="0" smtClean="0"/>
              <a:t>      '.node': [Function (anonymous)]</a:t>
            </a:r>
          </a:p>
          <a:p>
            <a:r>
              <a:rPr lang="en-US" dirty="0" smtClean="0"/>
              <a:t>    },</a:t>
            </a:r>
          </a:p>
          <a:p>
            <a:r>
              <a:rPr lang="en-US" dirty="0" smtClean="0"/>
              <a:t>    cache: [Object: null prototype] {</a:t>
            </a:r>
          </a:p>
          <a:p>
            <a:r>
              <a:rPr lang="en-US" dirty="0" smtClean="0"/>
              <a:t>      'C:\\</a:t>
            </a:r>
            <a:r>
              <a:rPr lang="en-US" dirty="0" err="1" smtClean="0"/>
              <a:t>workspace_nodejs</a:t>
            </a:r>
            <a:r>
              <a:rPr lang="en-US" dirty="0" smtClean="0"/>
              <a:t>\\</a:t>
            </a:r>
            <a:r>
              <a:rPr lang="en-US" dirty="0" err="1" smtClean="0"/>
              <a:t>nodejs</a:t>
            </a:r>
            <a:r>
              <a:rPr lang="en-US" dirty="0" smtClean="0"/>
              <a:t>-app\\</a:t>
            </a:r>
            <a:r>
              <a:rPr lang="en-US" dirty="0" err="1" smtClean="0"/>
              <a:t>src</a:t>
            </a:r>
            <a:r>
              <a:rPr lang="en-US" dirty="0" smtClean="0"/>
              <a:t>-</a:t>
            </a:r>
            <a:r>
              <a:rPr lang="en-US" dirty="0" err="1" smtClean="0"/>
              <a:t>js</a:t>
            </a:r>
            <a:r>
              <a:rPr lang="en-US" dirty="0" smtClean="0"/>
              <a:t>-deep\\r-class3-inheritance.js': [Object]</a:t>
            </a:r>
          </a:p>
          <a:p>
            <a:r>
              <a:rPr lang="en-US" dirty="0" smtClean="0"/>
              <a:t>    }</a:t>
            </a:r>
          </a:p>
          <a:p>
            <a:r>
              <a:rPr lang="en-US" dirty="0" smtClean="0"/>
              <a:t>  },</a:t>
            </a:r>
          </a:p>
          <a:p>
            <a:r>
              <a:rPr lang="en-US" dirty="0" smtClean="0"/>
              <a:t>  '2': {</a:t>
            </a:r>
          </a:p>
          <a:p>
            <a:r>
              <a:rPr lang="en-US" dirty="0" smtClean="0"/>
              <a:t>    id: '.',</a:t>
            </a:r>
          </a:p>
          <a:p>
            <a:r>
              <a:rPr lang="en-US" dirty="0" smtClean="0"/>
              <a:t>    path: 'C:\\</a:t>
            </a:r>
            <a:r>
              <a:rPr lang="en-US" dirty="0" err="1" smtClean="0"/>
              <a:t>workspace_nodejs</a:t>
            </a:r>
            <a:r>
              <a:rPr lang="en-US" dirty="0" smtClean="0"/>
              <a:t>\\</a:t>
            </a:r>
            <a:r>
              <a:rPr lang="en-US" dirty="0" err="1" smtClean="0"/>
              <a:t>nodejs</a:t>
            </a:r>
            <a:r>
              <a:rPr lang="en-US" dirty="0" smtClean="0"/>
              <a:t>-app\\</a:t>
            </a:r>
            <a:r>
              <a:rPr lang="en-US" dirty="0" err="1" smtClean="0"/>
              <a:t>src</a:t>
            </a:r>
            <a:r>
              <a:rPr lang="en-US" dirty="0" smtClean="0"/>
              <a:t>-</a:t>
            </a:r>
            <a:r>
              <a:rPr lang="en-US" dirty="0" err="1" smtClean="0"/>
              <a:t>js</a:t>
            </a:r>
            <a:r>
              <a:rPr lang="en-US" dirty="0" smtClean="0"/>
              <a:t>-deep',</a:t>
            </a:r>
          </a:p>
          <a:p>
            <a:r>
              <a:rPr lang="en-US" dirty="0" smtClean="0"/>
              <a:t>    exports: {},</a:t>
            </a:r>
          </a:p>
          <a:p>
            <a:r>
              <a:rPr lang="en-US" dirty="0" smtClean="0"/>
              <a:t>    filename: 'C:\\</a:t>
            </a:r>
            <a:r>
              <a:rPr lang="en-US" dirty="0" err="1" smtClean="0"/>
              <a:t>workspace_nodejs</a:t>
            </a:r>
            <a:r>
              <a:rPr lang="en-US" dirty="0" smtClean="0"/>
              <a:t>\\</a:t>
            </a:r>
            <a:r>
              <a:rPr lang="en-US" dirty="0" err="1" smtClean="0"/>
              <a:t>nodejs</a:t>
            </a:r>
            <a:r>
              <a:rPr lang="en-US" dirty="0" smtClean="0"/>
              <a:t>-app\\</a:t>
            </a:r>
            <a:r>
              <a:rPr lang="en-US" dirty="0" err="1" smtClean="0"/>
              <a:t>src</a:t>
            </a:r>
            <a:r>
              <a:rPr lang="en-US" dirty="0" smtClean="0"/>
              <a:t>-</a:t>
            </a:r>
            <a:r>
              <a:rPr lang="en-US" dirty="0" err="1" smtClean="0"/>
              <a:t>js</a:t>
            </a:r>
            <a:r>
              <a:rPr lang="en-US" dirty="0" smtClean="0"/>
              <a:t>-deep\\r-class3-inheritance.js',</a:t>
            </a:r>
          </a:p>
          <a:p>
            <a:r>
              <a:rPr lang="en-US" dirty="0" smtClean="0"/>
              <a:t>    loaded: false,</a:t>
            </a:r>
          </a:p>
          <a:p>
            <a:r>
              <a:rPr lang="en-US" dirty="0" smtClean="0"/>
              <a:t>    children: [],</a:t>
            </a:r>
          </a:p>
          <a:p>
            <a:r>
              <a:rPr lang="en-US" dirty="0" smtClean="0"/>
              <a:t>    paths: [</a:t>
            </a:r>
          </a:p>
          <a:p>
            <a:r>
              <a:rPr lang="en-US" dirty="0" smtClean="0"/>
              <a:t>      'C:\\</a:t>
            </a:r>
            <a:r>
              <a:rPr lang="en-US" dirty="0" err="1" smtClean="0"/>
              <a:t>workspace_nodejs</a:t>
            </a:r>
            <a:r>
              <a:rPr lang="en-US" dirty="0" smtClean="0"/>
              <a:t>\\</a:t>
            </a:r>
            <a:r>
              <a:rPr lang="en-US" dirty="0" err="1" smtClean="0"/>
              <a:t>nodejs</a:t>
            </a:r>
            <a:r>
              <a:rPr lang="en-US" dirty="0" smtClean="0"/>
              <a:t>-app\\</a:t>
            </a:r>
            <a:r>
              <a:rPr lang="en-US" dirty="0" err="1" smtClean="0"/>
              <a:t>src</a:t>
            </a:r>
            <a:r>
              <a:rPr lang="en-US" dirty="0" smtClean="0"/>
              <a:t>-</a:t>
            </a:r>
            <a:r>
              <a:rPr lang="en-US" dirty="0" err="1" smtClean="0"/>
              <a:t>js</a:t>
            </a:r>
            <a:r>
              <a:rPr lang="en-US" dirty="0" smtClean="0"/>
              <a:t>-deep\\</a:t>
            </a:r>
            <a:r>
              <a:rPr lang="en-US" dirty="0" err="1" smtClean="0"/>
              <a:t>node_modules</a:t>
            </a:r>
            <a:r>
              <a:rPr lang="en-US" dirty="0" smtClean="0"/>
              <a:t>',</a:t>
            </a:r>
          </a:p>
          <a:p>
            <a:r>
              <a:rPr lang="en-US" dirty="0" smtClean="0"/>
              <a:t>      'C:\\</a:t>
            </a:r>
            <a:r>
              <a:rPr lang="en-US" dirty="0" err="1" smtClean="0"/>
              <a:t>workspace_nodejs</a:t>
            </a:r>
            <a:r>
              <a:rPr lang="en-US" dirty="0" smtClean="0"/>
              <a:t>\\</a:t>
            </a:r>
            <a:r>
              <a:rPr lang="en-US" dirty="0" err="1" smtClean="0"/>
              <a:t>nodejs</a:t>
            </a:r>
            <a:r>
              <a:rPr lang="en-US" dirty="0" smtClean="0"/>
              <a:t>-app\\</a:t>
            </a:r>
            <a:r>
              <a:rPr lang="en-US" dirty="0" err="1" smtClean="0"/>
              <a:t>node_modules</a:t>
            </a:r>
            <a:r>
              <a:rPr lang="en-US" dirty="0" smtClean="0"/>
              <a:t>',</a:t>
            </a:r>
          </a:p>
          <a:p>
            <a:r>
              <a:rPr lang="en-US" dirty="0" smtClean="0"/>
              <a:t>      'C:\\</a:t>
            </a:r>
            <a:r>
              <a:rPr lang="en-US" dirty="0" err="1" smtClean="0"/>
              <a:t>workspace_nodejs</a:t>
            </a:r>
            <a:r>
              <a:rPr lang="en-US" dirty="0" smtClean="0"/>
              <a:t>\\</a:t>
            </a:r>
            <a:r>
              <a:rPr lang="en-US" dirty="0" err="1" smtClean="0"/>
              <a:t>node_modules</a:t>
            </a:r>
            <a:r>
              <a:rPr lang="en-US" dirty="0" smtClean="0"/>
              <a:t>',</a:t>
            </a:r>
          </a:p>
          <a:p>
            <a:r>
              <a:rPr lang="en-US" dirty="0" smtClean="0"/>
              <a:t>      'C:\\</a:t>
            </a:r>
            <a:r>
              <a:rPr lang="en-US" dirty="0" err="1" smtClean="0"/>
              <a:t>node_modules</a:t>
            </a:r>
            <a:r>
              <a:rPr lang="en-US" dirty="0" smtClean="0"/>
              <a:t>'</a:t>
            </a:r>
          </a:p>
          <a:p>
            <a:r>
              <a:rPr lang="en-US" dirty="0" smtClean="0"/>
              <a:t>    ]</a:t>
            </a:r>
          </a:p>
          <a:p>
            <a:r>
              <a:rPr lang="en-US" dirty="0" smtClean="0"/>
              <a:t>  },</a:t>
            </a:r>
          </a:p>
          <a:p>
            <a:r>
              <a:rPr lang="en-US" dirty="0" smtClean="0"/>
              <a:t>  '3': 'C:\\</a:t>
            </a:r>
            <a:r>
              <a:rPr lang="en-US" dirty="0" err="1" smtClean="0"/>
              <a:t>workspace_nodejs</a:t>
            </a:r>
            <a:r>
              <a:rPr lang="en-US" dirty="0" smtClean="0"/>
              <a:t>\\</a:t>
            </a:r>
            <a:r>
              <a:rPr lang="en-US" dirty="0" err="1" smtClean="0"/>
              <a:t>nodejs</a:t>
            </a:r>
            <a:r>
              <a:rPr lang="en-US" dirty="0" smtClean="0"/>
              <a:t>-app\\</a:t>
            </a:r>
            <a:r>
              <a:rPr lang="en-US" dirty="0" err="1" smtClean="0"/>
              <a:t>src</a:t>
            </a:r>
            <a:r>
              <a:rPr lang="en-US" dirty="0" smtClean="0"/>
              <a:t>-</a:t>
            </a:r>
            <a:r>
              <a:rPr lang="en-US" dirty="0" err="1" smtClean="0"/>
              <a:t>js</a:t>
            </a:r>
            <a:r>
              <a:rPr lang="en-US" dirty="0" smtClean="0"/>
              <a:t>-deep\\r-class3-inheritance.js',</a:t>
            </a:r>
          </a:p>
          <a:p>
            <a:r>
              <a:rPr lang="en-US" dirty="0" smtClean="0"/>
              <a:t>  '4': 'C:\\</a:t>
            </a:r>
            <a:r>
              <a:rPr lang="en-US" dirty="0" err="1" smtClean="0"/>
              <a:t>workspace_nodejs</a:t>
            </a:r>
            <a:r>
              <a:rPr lang="en-US" dirty="0" smtClean="0"/>
              <a:t>\\</a:t>
            </a:r>
            <a:r>
              <a:rPr lang="en-US" dirty="0" err="1" smtClean="0"/>
              <a:t>nodejs</a:t>
            </a:r>
            <a:r>
              <a:rPr lang="en-US" dirty="0" smtClean="0"/>
              <a:t>-app\\</a:t>
            </a:r>
            <a:r>
              <a:rPr lang="en-US" dirty="0" err="1" smtClean="0"/>
              <a:t>src</a:t>
            </a:r>
            <a:r>
              <a:rPr lang="en-US" dirty="0" smtClean="0"/>
              <a:t>-</a:t>
            </a:r>
            <a:r>
              <a:rPr lang="en-US" dirty="0" err="1" smtClean="0"/>
              <a:t>js</a:t>
            </a:r>
            <a:r>
              <a:rPr lang="en-US" dirty="0" smtClean="0"/>
              <a:t>-deep'</a:t>
            </a:r>
          </a:p>
          <a:p>
            <a:r>
              <a:rPr lang="en-US" dirty="0" smtClean="0"/>
              <a: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3</a:t>
            </a:fld>
            <a:endParaRPr lang="en-US"/>
          </a:p>
        </p:txBody>
      </p:sp>
    </p:spTree>
    <p:extLst>
      <p:ext uri="{BB962C8B-B14F-4D97-AF65-F5344CB8AC3E}">
        <p14:creationId xmlns:p14="http://schemas.microsoft.com/office/powerpoint/2010/main" val="4057619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For example, the following code throws an exception</a:t>
            </a:r>
            <a:r>
              <a:rPr lang="en-US" sz="1200" b="1" i="0" kern="1200" dirty="0" smtClean="0">
                <a:solidFill>
                  <a:schemeClr val="tx1"/>
                </a:solidFill>
                <a:effectLst/>
                <a:latin typeface="+mn-lt"/>
                <a:ea typeface="+mn-ea"/>
                <a:cs typeface="+mn-cs"/>
              </a:rPr>
              <a:t>. When the exception occurs, control transfers to the </a:t>
            </a:r>
            <a:r>
              <a:rPr lang="en-US" b="1" dirty="0" smtClean="0"/>
              <a:t>catch</a:t>
            </a:r>
            <a:r>
              <a:rPr lang="en-US" sz="1200" b="1" i="0" kern="1200" dirty="0" smtClean="0">
                <a:solidFill>
                  <a:schemeClr val="tx1"/>
                </a:solidFill>
                <a:effectLst/>
                <a:latin typeface="+mn-lt"/>
                <a:ea typeface="+mn-ea"/>
                <a:cs typeface="+mn-cs"/>
              </a:rPr>
              <a:t> block</a:t>
            </a:r>
            <a:r>
              <a:rPr lang="en-US" sz="1200" b="0" i="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using </a:t>
            </a:r>
            <a:r>
              <a:rPr lang="en-US" dirty="0" err="1" smtClean="0"/>
              <a:t>console.error</a:t>
            </a:r>
            <a:r>
              <a:rPr lang="en-US" dirty="0" smtClean="0"/>
              <a:t>()</a:t>
            </a:r>
            <a:r>
              <a:rPr lang="en-US" sz="1200" b="0" i="0" kern="1200" dirty="0" smtClean="0">
                <a:solidFill>
                  <a:schemeClr val="tx1"/>
                </a:solidFill>
                <a:effectLst/>
                <a:latin typeface="+mn-lt"/>
                <a:ea typeface="+mn-ea"/>
                <a:cs typeface="+mn-cs"/>
              </a:rPr>
              <a:t> rather than </a:t>
            </a:r>
            <a:r>
              <a:rPr lang="en-US" dirty="0" smtClean="0"/>
              <a:t>console.log()</a:t>
            </a:r>
            <a:r>
              <a:rPr lang="en-US" sz="1200" b="0" i="0" kern="1200" dirty="0" smtClean="0">
                <a:solidFill>
                  <a:schemeClr val="tx1"/>
                </a:solidFill>
                <a:effectLst/>
                <a:latin typeface="+mn-lt"/>
                <a:ea typeface="+mn-ea"/>
                <a:cs typeface="+mn-cs"/>
              </a:rPr>
              <a:t> is advised for debugging</a:t>
            </a: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You’ll run into all sorts of errors in JavaScript. The main kinds of errors in JavaScript are listed below: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 </a:t>
            </a:r>
            <a:r>
              <a:rPr lang="en-US" sz="1200" dirty="0" err="1" smtClean="0">
                <a:solidFill>
                  <a:srgbClr val="7030A0"/>
                </a:solidFill>
                <a:latin typeface="Consolas" panose="020B0609020204030204" pitchFamily="49" charset="0"/>
              </a:rPr>
              <a:t>console.</a:t>
            </a:r>
            <a:r>
              <a:rPr lang="en-US" sz="1200" b="1" dirty="0" err="1" smtClean="0">
                <a:solidFill>
                  <a:srgbClr val="7030A0"/>
                </a:solidFill>
                <a:latin typeface="Consolas" panose="020B0609020204030204" pitchFamily="49" charset="0"/>
              </a:rPr>
              <a:t>error</a:t>
            </a:r>
            <a:r>
              <a:rPr lang="en-US" sz="1200" dirty="0" smtClean="0">
                <a:solidFill>
                  <a:srgbClr val="7030A0"/>
                </a:solidFill>
                <a:latin typeface="Consolas" panose="020B0609020204030204" pitchFamily="49" charset="0"/>
              </a:rPr>
              <a:t>("Your JSON is invalid")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It is also important to note that the </a:t>
            </a:r>
            <a:r>
              <a:rPr lang="en-US" dirty="0" smtClean="0"/>
              <a:t>finally</a:t>
            </a:r>
            <a:r>
              <a:rPr lang="en-US" sz="1200" b="0" i="0" kern="1200" dirty="0" smtClean="0">
                <a:solidFill>
                  <a:schemeClr val="tx1"/>
                </a:solidFill>
                <a:effectLst/>
                <a:latin typeface="+mn-lt"/>
                <a:ea typeface="+mn-ea"/>
                <a:cs typeface="+mn-cs"/>
              </a:rPr>
              <a:t> block </a:t>
            </a:r>
            <a:r>
              <a:rPr lang="en-US" sz="1200" b="1" i="0" kern="1200" dirty="0" smtClean="0">
                <a:solidFill>
                  <a:schemeClr val="tx1"/>
                </a:solidFill>
                <a:effectLst/>
                <a:latin typeface="+mn-lt"/>
                <a:ea typeface="+mn-ea"/>
                <a:cs typeface="+mn-cs"/>
              </a:rPr>
              <a:t>will execute </a:t>
            </a:r>
            <a:r>
              <a:rPr lang="en-US" sz="1200" b="1" i="1" kern="1200" dirty="0" smtClean="0">
                <a:solidFill>
                  <a:schemeClr val="tx1"/>
                </a:solidFill>
                <a:effectLst/>
                <a:latin typeface="+mn-lt"/>
                <a:ea typeface="+mn-ea"/>
                <a:cs typeface="+mn-cs"/>
              </a:rPr>
              <a:t>whether or not</a:t>
            </a:r>
            <a:r>
              <a:rPr lang="en-US" sz="1200" b="1" i="0" kern="1200" dirty="0" smtClean="0">
                <a:solidFill>
                  <a:schemeClr val="tx1"/>
                </a:solidFill>
                <a:effectLst/>
                <a:latin typeface="+mn-lt"/>
                <a:ea typeface="+mn-ea"/>
                <a:cs typeface="+mn-cs"/>
              </a:rPr>
              <a:t> an exception is thrown</a:t>
            </a:r>
            <a:r>
              <a:rPr lang="en-US" sz="1200" b="0" i="0" kern="1200" dirty="0" smtClean="0">
                <a:solidFill>
                  <a:schemeClr val="tx1"/>
                </a:solidFill>
                <a:effectLst/>
                <a:latin typeface="+mn-lt"/>
                <a:ea typeface="+mn-ea"/>
                <a:cs typeface="+mn-cs"/>
              </a:rPr>
              <a:t>. If an exception is thrown, however, the statements in the </a:t>
            </a:r>
            <a:r>
              <a:rPr lang="en-US" dirty="0" smtClean="0"/>
              <a:t>finally</a:t>
            </a:r>
            <a:r>
              <a:rPr lang="en-US" sz="1200" b="0" i="0" kern="1200" dirty="0" smtClean="0">
                <a:solidFill>
                  <a:schemeClr val="tx1"/>
                </a:solidFill>
                <a:effectLst/>
                <a:latin typeface="+mn-lt"/>
                <a:ea typeface="+mn-ea"/>
                <a:cs typeface="+mn-cs"/>
              </a:rPr>
              <a:t> block execute even if no </a:t>
            </a:r>
            <a:r>
              <a:rPr lang="en-US" dirty="0" smtClean="0"/>
              <a:t>catch</a:t>
            </a:r>
            <a:r>
              <a:rPr lang="en-US" sz="1200" b="0" i="0" kern="1200" dirty="0" smtClean="0">
                <a:solidFill>
                  <a:schemeClr val="tx1"/>
                </a:solidFill>
                <a:effectLst/>
                <a:latin typeface="+mn-lt"/>
                <a:ea typeface="+mn-ea"/>
                <a:cs typeface="+mn-cs"/>
              </a:rPr>
              <a:t> block handles the exception that was thrown.</a:t>
            </a: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You can use the </a:t>
            </a:r>
            <a:r>
              <a:rPr lang="en-US" dirty="0" smtClean="0"/>
              <a:t>finally</a:t>
            </a:r>
            <a:r>
              <a:rPr lang="en-US" sz="1200" b="0" i="0" kern="1200" dirty="0" smtClean="0">
                <a:solidFill>
                  <a:schemeClr val="tx1"/>
                </a:solidFill>
                <a:effectLst/>
                <a:latin typeface="+mn-lt"/>
                <a:ea typeface="+mn-ea"/>
                <a:cs typeface="+mn-cs"/>
              </a:rPr>
              <a:t> block to make your script fail gracefully when an exception occurs. For example, you may need to release a resource that your script has tied up.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Error</a:t>
            </a:r>
            <a:r>
              <a:rPr lang="en-US" sz="1200" b="0" i="0" kern="1200" dirty="0" smtClean="0">
                <a:solidFill>
                  <a:schemeClr val="tx1"/>
                </a:solidFill>
                <a:effectLst/>
                <a:latin typeface="+mn-lt"/>
                <a:ea typeface="+mn-ea"/>
                <a:cs typeface="+mn-cs"/>
              </a:rPr>
              <a:t> is a </a:t>
            </a:r>
            <a:r>
              <a:rPr lang="en-US" sz="1200" b="0" i="0" u="sng" kern="1200" dirty="0" smtClean="0">
                <a:solidFill>
                  <a:schemeClr val="tx1"/>
                </a:solidFill>
                <a:effectLst/>
                <a:latin typeface="+mn-lt"/>
                <a:ea typeface="+mn-ea"/>
                <a:cs typeface="+mn-cs"/>
                <a:hlinkClick r:id="rId3"/>
              </a:rPr>
              <a:t>serializable object</a:t>
            </a:r>
            <a:r>
              <a:rPr lang="en-US" sz="1200" b="0" i="0" kern="1200" dirty="0" smtClean="0">
                <a:solidFill>
                  <a:schemeClr val="tx1"/>
                </a:solidFill>
                <a:effectLst/>
                <a:latin typeface="+mn-lt"/>
                <a:ea typeface="+mn-ea"/>
                <a:cs typeface="+mn-cs"/>
              </a:rPr>
              <a:t>, so it can be cloned with </a:t>
            </a:r>
            <a:r>
              <a:rPr lang="en-US" sz="1200" b="0" i="0" u="sng" kern="1200" dirty="0" err="1" smtClean="0">
                <a:solidFill>
                  <a:schemeClr val="tx1"/>
                </a:solidFill>
                <a:effectLst/>
                <a:latin typeface="+mn-lt"/>
                <a:ea typeface="+mn-ea"/>
                <a:cs typeface="+mn-cs"/>
                <a:hlinkClick r:id="rId4" tooltip="structuredClone()"/>
              </a:rPr>
              <a:t>structuredClone</a:t>
            </a:r>
            <a:r>
              <a:rPr lang="en-US" sz="1200" b="0" i="0" u="sng" kern="1200" dirty="0" smtClean="0">
                <a:solidFill>
                  <a:schemeClr val="tx1"/>
                </a:solidFill>
                <a:effectLst/>
                <a:latin typeface="+mn-lt"/>
                <a:ea typeface="+mn-ea"/>
                <a:cs typeface="+mn-cs"/>
                <a:hlinkClick r:id="rId4" tooltip="structuredClone()"/>
              </a:rPr>
              <a:t>()</a:t>
            </a:r>
            <a:r>
              <a:rPr lang="en-US" sz="1200" b="0" i="0" kern="1200" dirty="0" smtClean="0">
                <a:solidFill>
                  <a:schemeClr val="tx1"/>
                </a:solidFill>
                <a:effectLst/>
                <a:latin typeface="+mn-lt"/>
                <a:ea typeface="+mn-ea"/>
                <a:cs typeface="+mn-cs"/>
              </a:rPr>
              <a:t> or copied between </a:t>
            </a:r>
            <a:r>
              <a:rPr lang="en-US" sz="1200" b="0" i="0" u="sng" kern="1200" dirty="0" smtClean="0">
                <a:solidFill>
                  <a:schemeClr val="tx1"/>
                </a:solidFill>
                <a:effectLst/>
                <a:latin typeface="+mn-lt"/>
                <a:ea typeface="+mn-ea"/>
                <a:cs typeface="+mn-cs"/>
                <a:hlinkClick r:id="rId5"/>
              </a:rPr>
              <a:t>Workers</a:t>
            </a:r>
            <a:r>
              <a:rPr lang="en-US" sz="1200" b="0" i="0" kern="1200" dirty="0" smtClean="0">
                <a:solidFill>
                  <a:schemeClr val="tx1"/>
                </a:solidFill>
                <a:effectLst/>
                <a:latin typeface="+mn-lt"/>
                <a:ea typeface="+mn-ea"/>
                <a:cs typeface="+mn-cs"/>
              </a:rPr>
              <a:t> using </a:t>
            </a:r>
            <a:r>
              <a:rPr lang="en-US" sz="1200" b="0" i="0" u="sng" kern="1200" dirty="0" err="1" smtClean="0">
                <a:solidFill>
                  <a:schemeClr val="tx1"/>
                </a:solidFill>
                <a:effectLst/>
                <a:latin typeface="+mn-lt"/>
                <a:ea typeface="+mn-ea"/>
                <a:cs typeface="+mn-cs"/>
                <a:hlinkClick r:id="rId6" tooltip="postMessage()"/>
              </a:rPr>
              <a:t>postMessage</a:t>
            </a:r>
            <a:r>
              <a:rPr lang="en-US" sz="1200" b="0" i="0" u="sng" kern="1200" dirty="0" smtClean="0">
                <a:solidFill>
                  <a:schemeClr val="tx1"/>
                </a:solidFill>
                <a:effectLst/>
                <a:latin typeface="+mn-lt"/>
                <a:ea typeface="+mn-ea"/>
                <a:cs typeface="+mn-cs"/>
                <a:hlinkClick r:id="rId6" tooltip="postMessage()"/>
              </a:rPr>
              <a:t>()</a:t>
            </a:r>
            <a:r>
              <a:rPr lang="en-US" sz="1200" b="0" i="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r>
              <a:rPr lang="en-US" u="sng" dirty="0" err="1" smtClean="0">
                <a:effectLst/>
                <a:hlinkClick r:id="rId7"/>
              </a:rPr>
              <a:t>EvalError</a:t>
            </a:r>
            <a:r>
              <a:rPr lang="en-US" dirty="0" err="1" smtClean="0">
                <a:effectLst/>
              </a:rPr>
              <a:t>Creates</a:t>
            </a:r>
            <a:r>
              <a:rPr lang="en-US" dirty="0" smtClean="0">
                <a:effectLst/>
              </a:rPr>
              <a:t> an instance representing an error that occurs regarding the global function </a:t>
            </a:r>
            <a:r>
              <a:rPr lang="en-US" u="sng" dirty="0" err="1" smtClean="0">
                <a:effectLst/>
                <a:hlinkClick r:id="rId8"/>
              </a:rPr>
              <a:t>eval</a:t>
            </a:r>
            <a:r>
              <a:rPr lang="en-US" u="sng" dirty="0" smtClean="0">
                <a:effectLst/>
                <a:hlinkClick r:id="rId8"/>
              </a:rPr>
              <a:t>()</a:t>
            </a:r>
            <a:r>
              <a:rPr lang="en-US" dirty="0" smtClean="0">
                <a:effectLst/>
              </a:rPr>
              <a:t>.</a:t>
            </a:r>
          </a:p>
          <a:p>
            <a:r>
              <a:rPr lang="en-US" u="sng" dirty="0" err="1" smtClean="0">
                <a:effectLst/>
                <a:hlinkClick r:id="rId9"/>
              </a:rPr>
              <a:t>RangeError</a:t>
            </a:r>
            <a:r>
              <a:rPr lang="en-US" dirty="0" err="1" smtClean="0">
                <a:effectLst/>
              </a:rPr>
              <a:t>Creates</a:t>
            </a:r>
            <a:r>
              <a:rPr lang="en-US" dirty="0" smtClean="0">
                <a:effectLst/>
              </a:rPr>
              <a:t> an instance representing an error that occurs when a numeric variable or parameter is outside its valid range.</a:t>
            </a:r>
          </a:p>
          <a:p>
            <a:r>
              <a:rPr lang="en-US" u="sng" dirty="0" err="1" smtClean="0">
                <a:effectLst/>
                <a:hlinkClick r:id="rId10"/>
              </a:rPr>
              <a:t>ReferenceError</a:t>
            </a:r>
            <a:r>
              <a:rPr lang="en-US" dirty="0" err="1" smtClean="0">
                <a:effectLst/>
              </a:rPr>
              <a:t>Creates</a:t>
            </a:r>
            <a:r>
              <a:rPr lang="en-US" dirty="0" smtClean="0">
                <a:effectLst/>
              </a:rPr>
              <a:t> an instance representing an error that occurs when de-referencing an invalid reference.</a:t>
            </a:r>
          </a:p>
          <a:p>
            <a:r>
              <a:rPr lang="en-US" u="sng" dirty="0" err="1" smtClean="0">
                <a:effectLst/>
                <a:hlinkClick r:id="rId11"/>
              </a:rPr>
              <a:t>SyntaxError</a:t>
            </a:r>
            <a:r>
              <a:rPr lang="en-US" dirty="0" err="1" smtClean="0">
                <a:effectLst/>
              </a:rPr>
              <a:t>Creates</a:t>
            </a:r>
            <a:r>
              <a:rPr lang="en-US" dirty="0" smtClean="0">
                <a:effectLst/>
              </a:rPr>
              <a:t> an instance representing a syntax error.</a:t>
            </a:r>
          </a:p>
          <a:p>
            <a:r>
              <a:rPr lang="en-US" u="sng" dirty="0" err="1" smtClean="0">
                <a:effectLst/>
                <a:hlinkClick r:id="rId12"/>
              </a:rPr>
              <a:t>TypeError</a:t>
            </a:r>
            <a:r>
              <a:rPr lang="en-US" dirty="0" err="1" smtClean="0">
                <a:effectLst/>
              </a:rPr>
              <a:t>Creates</a:t>
            </a:r>
            <a:r>
              <a:rPr lang="en-US" dirty="0" smtClean="0">
                <a:effectLst/>
              </a:rPr>
              <a:t> an instance representing an error that occurs when a variable or parameter is not of a valid type.</a:t>
            </a:r>
          </a:p>
          <a:p>
            <a:r>
              <a:rPr lang="en-US" u="sng" dirty="0" err="1" smtClean="0">
                <a:effectLst/>
                <a:hlinkClick r:id="rId13"/>
              </a:rPr>
              <a:t>URIError</a:t>
            </a:r>
            <a:r>
              <a:rPr lang="en-US" dirty="0" err="1" smtClean="0">
                <a:effectLst/>
              </a:rPr>
              <a:t>Creates</a:t>
            </a:r>
            <a:r>
              <a:rPr lang="en-US" dirty="0" smtClean="0">
                <a:effectLst/>
              </a:rPr>
              <a:t> an instance representing an error that occurs when </a:t>
            </a:r>
            <a:r>
              <a:rPr lang="en-US" u="sng" dirty="0" err="1" smtClean="0">
                <a:effectLst/>
                <a:hlinkClick r:id="rId14"/>
              </a:rPr>
              <a:t>encodeURI</a:t>
            </a:r>
            <a:r>
              <a:rPr lang="en-US" u="sng" dirty="0" smtClean="0">
                <a:effectLst/>
                <a:hlinkClick r:id="rId14"/>
              </a:rPr>
              <a:t>()</a:t>
            </a:r>
            <a:r>
              <a:rPr lang="en-US" dirty="0" smtClean="0">
                <a:effectLst/>
              </a:rPr>
              <a:t> or </a:t>
            </a:r>
            <a:r>
              <a:rPr lang="en-US" u="sng" dirty="0" err="1" smtClean="0">
                <a:effectLst/>
                <a:hlinkClick r:id="rId15"/>
              </a:rPr>
              <a:t>decodeURI</a:t>
            </a:r>
            <a:r>
              <a:rPr lang="en-US" u="sng" dirty="0" smtClean="0">
                <a:effectLst/>
                <a:hlinkClick r:id="rId15"/>
              </a:rPr>
              <a:t>()</a:t>
            </a:r>
            <a:r>
              <a:rPr lang="en-US" dirty="0" smtClean="0">
                <a:effectLst/>
              </a:rPr>
              <a:t> are passed invalid parameters.</a:t>
            </a:r>
          </a:p>
          <a:p>
            <a:r>
              <a:rPr lang="en-US" u="sng" dirty="0" err="1" smtClean="0">
                <a:effectLst/>
                <a:hlinkClick r:id="rId16"/>
              </a:rPr>
              <a:t>AggregateError</a:t>
            </a:r>
            <a:r>
              <a:rPr lang="en-US" dirty="0" err="1" smtClean="0">
                <a:effectLst/>
              </a:rPr>
              <a:t>Creates</a:t>
            </a:r>
            <a:r>
              <a:rPr lang="en-US" dirty="0" smtClean="0">
                <a:effectLst/>
              </a:rPr>
              <a:t> an instance representing several errors wrapped in a single error when multiple errors need to be reported by an operation, for example by </a:t>
            </a:r>
            <a:r>
              <a:rPr lang="en-US" u="sng" dirty="0" err="1" smtClean="0">
                <a:effectLst/>
                <a:hlinkClick r:id="rId17"/>
              </a:rPr>
              <a:t>Promise.any</a:t>
            </a:r>
            <a:r>
              <a:rPr lang="en-US" u="sng" dirty="0" smtClean="0">
                <a:effectLst/>
                <a:hlinkClick r:id="rId17"/>
              </a:rPr>
              <a:t>()</a:t>
            </a:r>
            <a:r>
              <a:rPr lang="en-US" dirty="0" smtClean="0">
                <a:effectLst/>
              </a:rPr>
              <a:t>.</a:t>
            </a:r>
          </a:p>
          <a:p>
            <a:r>
              <a:rPr lang="en-US" u="sng" dirty="0" err="1" smtClean="0">
                <a:effectLst/>
                <a:hlinkClick r:id="rId18"/>
              </a:rPr>
              <a:t>InternalError</a:t>
            </a:r>
            <a:r>
              <a:rPr lang="en-US" dirty="0" smtClean="0"/>
              <a:t> </a:t>
            </a:r>
            <a:r>
              <a:rPr lang="en-US" dirty="0" smtClean="0">
                <a:effectLst/>
              </a:rPr>
              <a:t>Non-</a:t>
            </a:r>
            <a:r>
              <a:rPr lang="en-US" dirty="0" err="1" smtClean="0">
                <a:effectLst/>
              </a:rPr>
              <a:t>standardCreates</a:t>
            </a:r>
            <a:r>
              <a:rPr lang="en-US" dirty="0" smtClean="0">
                <a:effectLst/>
              </a:rPr>
              <a:t> an instance representing an error that occurs when an internal error in the JavaScript engine is thrown. E.g. "too much recursion".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r>
              <a:rPr lang="en-US" b="1" u="none" strike="noStrike" dirty="0" smtClean="0">
                <a:effectLst/>
                <a:hlinkClick r:id="rId19"/>
              </a:rPr>
              <a:t>Instance properties</a:t>
            </a:r>
            <a:endParaRPr lang="en-US" b="1" dirty="0" smtClean="0">
              <a:effectLst/>
            </a:endParaRPr>
          </a:p>
          <a:p>
            <a:r>
              <a:rPr lang="en-US" dirty="0" smtClean="0">
                <a:effectLst/>
              </a:rPr>
              <a:t>These properties are defined on </a:t>
            </a:r>
            <a:r>
              <a:rPr lang="en-US" dirty="0" err="1" smtClean="0">
                <a:effectLst/>
              </a:rPr>
              <a:t>Error.prototype</a:t>
            </a:r>
            <a:r>
              <a:rPr lang="en-US" dirty="0" smtClean="0">
                <a:effectLst/>
              </a:rPr>
              <a:t> and shared by all Error instances.</a:t>
            </a:r>
          </a:p>
          <a:p>
            <a:r>
              <a:rPr lang="en-US" u="sng" dirty="0" err="1" smtClean="0">
                <a:effectLst/>
                <a:hlinkClick r:id="rId20"/>
              </a:rPr>
              <a:t>Error.prototype.constructor</a:t>
            </a:r>
            <a:r>
              <a:rPr lang="en-US" dirty="0" err="1" smtClean="0">
                <a:effectLst/>
              </a:rPr>
              <a:t>The</a:t>
            </a:r>
            <a:r>
              <a:rPr lang="en-US" dirty="0" smtClean="0">
                <a:effectLst/>
              </a:rPr>
              <a:t> constructor function that created the instance object. For Error instances, the initial value is the </a:t>
            </a:r>
            <a:r>
              <a:rPr lang="en-US" u="sng" dirty="0" smtClean="0">
                <a:effectLst/>
                <a:hlinkClick r:id="rId21"/>
              </a:rPr>
              <a:t>Error</a:t>
            </a:r>
            <a:r>
              <a:rPr lang="en-US" dirty="0" smtClean="0">
                <a:effectLst/>
              </a:rPr>
              <a:t> constructor.</a:t>
            </a:r>
          </a:p>
          <a:p>
            <a:r>
              <a:rPr lang="en-US" u="sng" dirty="0" err="1" smtClean="0">
                <a:effectLst/>
                <a:hlinkClick r:id="rId22"/>
              </a:rPr>
              <a:t>Error.prototype.name</a:t>
            </a:r>
            <a:r>
              <a:rPr lang="en-US" dirty="0" err="1" smtClean="0">
                <a:effectLst/>
              </a:rPr>
              <a:t>Represents</a:t>
            </a:r>
            <a:r>
              <a:rPr lang="en-US" dirty="0" smtClean="0">
                <a:effectLst/>
              </a:rPr>
              <a:t> the name for the type of error. For Error.prototype.name, the initial value is "Error". Subclasses like </a:t>
            </a:r>
            <a:r>
              <a:rPr lang="en-US" u="sng" dirty="0" err="1" smtClean="0">
                <a:effectLst/>
                <a:hlinkClick r:id="rId12"/>
              </a:rPr>
              <a:t>TypeError</a:t>
            </a:r>
            <a:r>
              <a:rPr lang="en-US" dirty="0" smtClean="0">
                <a:effectLst/>
              </a:rPr>
              <a:t> and </a:t>
            </a:r>
            <a:r>
              <a:rPr lang="en-US" u="sng" dirty="0" err="1" smtClean="0">
                <a:effectLst/>
                <a:hlinkClick r:id="rId11"/>
              </a:rPr>
              <a:t>SyntaxError</a:t>
            </a:r>
            <a:r>
              <a:rPr lang="en-US" dirty="0" smtClean="0">
                <a:effectLst/>
              </a:rPr>
              <a:t> provide their own name properties.</a:t>
            </a:r>
          </a:p>
          <a:p>
            <a:r>
              <a:rPr lang="en-US" u="sng" dirty="0" err="1" smtClean="0">
                <a:effectLst/>
                <a:hlinkClick r:id="rId23"/>
              </a:rPr>
              <a:t>Error.prototype.stack</a:t>
            </a:r>
            <a:r>
              <a:rPr lang="en-US" dirty="0" smtClean="0">
                <a:effectLst/>
              </a:rPr>
              <a:t> Non-</a:t>
            </a:r>
            <a:r>
              <a:rPr lang="en-US" dirty="0" err="1" smtClean="0">
                <a:effectLst/>
              </a:rPr>
              <a:t>standardA</a:t>
            </a:r>
            <a:r>
              <a:rPr lang="en-US" dirty="0" smtClean="0">
                <a:effectLst/>
              </a:rPr>
              <a:t> non-standard property for a stack trace.</a:t>
            </a:r>
          </a:p>
          <a:p>
            <a:r>
              <a:rPr lang="en-US" dirty="0" smtClean="0">
                <a:effectLst/>
              </a:rPr>
              <a:t>These properties are own properties of each Error instance.</a:t>
            </a:r>
          </a:p>
          <a:p>
            <a:r>
              <a:rPr lang="en-US" u="sng" dirty="0" err="1" smtClean="0">
                <a:effectLst/>
                <a:hlinkClick r:id="rId24"/>
              </a:rPr>
              <a:t>cause</a:t>
            </a:r>
            <a:r>
              <a:rPr lang="en-US" dirty="0" err="1" smtClean="0">
                <a:effectLst/>
              </a:rPr>
              <a:t>Error</a:t>
            </a:r>
            <a:r>
              <a:rPr lang="en-US" dirty="0" smtClean="0">
                <a:effectLst/>
              </a:rPr>
              <a:t> cause indicating the reason why the current error is thrown — usually another caught error. For user-created Error objects, this is the value provided as the cause property of the constructor's second argument.</a:t>
            </a:r>
          </a:p>
          <a:p>
            <a:r>
              <a:rPr lang="en-US" u="sng" dirty="0" err="1" smtClean="0">
                <a:effectLst/>
                <a:hlinkClick r:id="rId25"/>
              </a:rPr>
              <a:t>columnNumber</a:t>
            </a:r>
            <a:r>
              <a:rPr lang="en-US" dirty="0" smtClean="0">
                <a:effectLst/>
              </a:rPr>
              <a:t> Non-</a:t>
            </a:r>
            <a:r>
              <a:rPr lang="en-US" dirty="0" err="1" smtClean="0">
                <a:effectLst/>
              </a:rPr>
              <a:t>standardA</a:t>
            </a:r>
            <a:r>
              <a:rPr lang="en-US" dirty="0" smtClean="0">
                <a:effectLst/>
              </a:rPr>
              <a:t> non-standard Mozilla property for the column number in the line that raised this error.</a:t>
            </a:r>
          </a:p>
          <a:p>
            <a:r>
              <a:rPr lang="en-US" u="sng" dirty="0" err="1" smtClean="0">
                <a:effectLst/>
                <a:hlinkClick r:id="rId26"/>
              </a:rPr>
              <a:t>fileName</a:t>
            </a:r>
            <a:r>
              <a:rPr lang="en-US" dirty="0" smtClean="0">
                <a:effectLst/>
              </a:rPr>
              <a:t> Non-</a:t>
            </a:r>
            <a:r>
              <a:rPr lang="en-US" dirty="0" err="1" smtClean="0">
                <a:effectLst/>
              </a:rPr>
              <a:t>standardA</a:t>
            </a:r>
            <a:r>
              <a:rPr lang="en-US" dirty="0" smtClean="0">
                <a:effectLst/>
              </a:rPr>
              <a:t> non-standard Mozilla property for the path to the file that raised this error.</a:t>
            </a:r>
          </a:p>
          <a:p>
            <a:r>
              <a:rPr lang="en-US" u="sng" dirty="0" err="1" smtClean="0">
                <a:effectLst/>
                <a:hlinkClick r:id="rId27"/>
              </a:rPr>
              <a:t>lineNumber</a:t>
            </a:r>
            <a:r>
              <a:rPr lang="en-US" dirty="0" smtClean="0">
                <a:effectLst/>
              </a:rPr>
              <a:t> Non-</a:t>
            </a:r>
            <a:r>
              <a:rPr lang="en-US" dirty="0" err="1" smtClean="0">
                <a:effectLst/>
              </a:rPr>
              <a:t>standardA</a:t>
            </a:r>
            <a:r>
              <a:rPr lang="en-US" dirty="0" smtClean="0">
                <a:effectLst/>
              </a:rPr>
              <a:t> non-standard Mozilla property for the line number in the file that raised this error.</a:t>
            </a:r>
          </a:p>
          <a:p>
            <a:r>
              <a:rPr lang="en-US" u="sng" dirty="0" err="1" smtClean="0">
                <a:effectLst/>
                <a:hlinkClick r:id="rId28"/>
              </a:rPr>
              <a:t>message</a:t>
            </a:r>
            <a:r>
              <a:rPr lang="en-US" dirty="0" err="1" smtClean="0">
                <a:effectLst/>
              </a:rPr>
              <a:t>Error</a:t>
            </a:r>
            <a:r>
              <a:rPr lang="en-US" dirty="0" smtClean="0">
                <a:effectLst/>
              </a:rPr>
              <a:t> message. For user-created Error objects, this is the string provided as the constructor's first argument.</a:t>
            </a:r>
          </a:p>
          <a:p>
            <a:r>
              <a:rPr lang="en-US" b="1" u="none" strike="noStrike" dirty="0" smtClean="0">
                <a:effectLst/>
                <a:hlinkClick r:id="rId29"/>
              </a:rPr>
              <a:t>Instance methods</a:t>
            </a:r>
            <a:endParaRPr lang="en-US" b="1" dirty="0" smtClean="0">
              <a:effectLst/>
            </a:endParaRPr>
          </a:p>
          <a:p>
            <a:r>
              <a:rPr lang="en-US" u="sng" dirty="0" err="1" smtClean="0">
                <a:effectLst/>
                <a:hlinkClick r:id="rId30"/>
              </a:rPr>
              <a:t>Error.prototype.toString</a:t>
            </a:r>
            <a:r>
              <a:rPr lang="en-US" u="sng" dirty="0" smtClean="0">
                <a:effectLst/>
                <a:hlinkClick r:id="rId30"/>
              </a:rPr>
              <a:t>()</a:t>
            </a:r>
            <a:r>
              <a:rPr lang="en-US" dirty="0" smtClean="0">
                <a:effectLst/>
              </a:rPr>
              <a:t>Returns a string representing the specified object. Overrides the </a:t>
            </a:r>
            <a:r>
              <a:rPr lang="en-US" u="sng" dirty="0" err="1" smtClean="0">
                <a:effectLst/>
                <a:hlinkClick r:id="rId31"/>
              </a:rPr>
              <a:t>Object.prototype.toString</a:t>
            </a:r>
            <a:r>
              <a:rPr lang="en-US" u="sng" dirty="0" smtClean="0">
                <a:effectLst/>
                <a:hlinkClick r:id="rId31"/>
              </a:rPr>
              <a:t>()</a:t>
            </a:r>
            <a:r>
              <a:rPr lang="en-US" dirty="0" smtClean="0">
                <a:effectLst/>
              </a:rPr>
              <a:t> method.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solidFill>
                <a:srgbClr val="C00000"/>
              </a:solidFill>
              <a:latin typeface="PSTTCommons-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solidFill>
                <a:srgbClr val="C00000"/>
              </a:solidFill>
              <a:latin typeface="PSTTCommons-Bold"/>
            </a:endParaRPr>
          </a:p>
          <a:p>
            <a:r>
              <a:rPr lang="en-US" sz="1200" dirty="0" smtClean="0">
                <a:solidFill>
                  <a:srgbClr val="0000CD"/>
                </a:solidFill>
                <a:latin typeface="Consolas" panose="020B0609020204030204" pitchFamily="49" charset="0"/>
              </a:rPr>
              <a:t>let</a:t>
            </a:r>
            <a:r>
              <a:rPr lang="en-US" sz="1200" dirty="0" smtClean="0">
                <a:solidFill>
                  <a:srgbClr val="000000"/>
                </a:solidFill>
                <a:latin typeface="Consolas" panose="020B0609020204030204" pitchFamily="49" charset="0"/>
              </a:rPr>
              <a:t> </a:t>
            </a:r>
            <a:r>
              <a:rPr lang="en-US" sz="1200" dirty="0" err="1" smtClean="0">
                <a:solidFill>
                  <a:srgbClr val="000000"/>
                </a:solidFill>
                <a:latin typeface="Consolas" panose="020B0609020204030204" pitchFamily="49" charset="0"/>
              </a:rPr>
              <a:t>num</a:t>
            </a:r>
            <a:r>
              <a:rPr lang="en-US" sz="1200" dirty="0" smtClean="0">
                <a:solidFill>
                  <a:srgbClr val="000000"/>
                </a:solidFill>
                <a:latin typeface="Consolas" panose="020B0609020204030204" pitchFamily="49" charset="0"/>
              </a:rPr>
              <a:t> = </a:t>
            </a:r>
            <a:r>
              <a:rPr lang="en-US" sz="1200" dirty="0" smtClean="0">
                <a:solidFill>
                  <a:srgbClr val="FF0000"/>
                </a:solidFill>
                <a:latin typeface="Consolas" panose="020B0609020204030204" pitchFamily="49" charset="0"/>
              </a:rPr>
              <a:t>1, </a:t>
            </a:r>
            <a:r>
              <a:rPr lang="en-US" sz="1200" dirty="0" smtClean="0">
                <a:solidFill>
                  <a:srgbClr val="000000"/>
                </a:solidFill>
                <a:latin typeface="Consolas" panose="020B0609020204030204" pitchFamily="49" charset="0"/>
              </a:rPr>
              <a:t>x = </a:t>
            </a:r>
            <a:r>
              <a:rPr lang="en-US" sz="1200" dirty="0" smtClean="0">
                <a:solidFill>
                  <a:srgbClr val="FF0000"/>
                </a:solidFill>
                <a:latin typeface="Consolas" panose="020B0609020204030204" pitchFamily="49" charset="0"/>
              </a:rPr>
              <a:t>5</a:t>
            </a:r>
            <a:r>
              <a:rPr lang="en-US" sz="1200" dirty="0" smtClean="0">
                <a:solidFill>
                  <a:srgbClr val="000000"/>
                </a:solidFill>
                <a:latin typeface="Consolas" panose="020B0609020204030204" pitchFamily="49" charset="0"/>
              </a:rPr>
              <a:t>;</a:t>
            </a:r>
            <a:r>
              <a:rPr lang="en-US" sz="1200" dirty="0" smtClean="0"/>
              <a:t/>
            </a:r>
            <a:br>
              <a:rPr lang="en-US" sz="1200" dirty="0" smtClean="0"/>
            </a:br>
            <a:r>
              <a:rPr lang="en-US" sz="1200" dirty="0" smtClean="0">
                <a:solidFill>
                  <a:srgbClr val="0000CD"/>
                </a:solidFill>
                <a:latin typeface="Consolas" panose="020B0609020204030204" pitchFamily="49" charset="0"/>
              </a:rPr>
              <a:t>try</a:t>
            </a:r>
            <a:r>
              <a:rPr lang="en-US" sz="1200" dirty="0" smtClean="0">
                <a:solidFill>
                  <a:srgbClr val="000000"/>
                </a:solidFill>
                <a:latin typeface="Consolas" panose="020B0609020204030204" pitchFamily="49" charset="0"/>
              </a:rPr>
              <a:t> {</a:t>
            </a:r>
            <a:r>
              <a:rPr lang="en-US" sz="1200" dirty="0" smtClean="0">
                <a:solidFill>
                  <a:srgbClr val="008000"/>
                </a:solidFill>
                <a:latin typeface="Consolas" panose="020B0609020204030204" pitchFamily="49" charset="0"/>
              </a:rPr>
              <a:t>//code block to run  </a:t>
            </a:r>
            <a:r>
              <a:rPr lang="en-US" sz="1200" dirty="0" smtClean="0"/>
              <a:t/>
            </a:r>
            <a:br>
              <a:rPr lang="en-US" sz="1200" dirty="0" smtClean="0"/>
            </a:br>
            <a:r>
              <a:rPr lang="en-US" sz="1200" dirty="0" smtClean="0">
                <a:solidFill>
                  <a:srgbClr val="000000"/>
                </a:solidFill>
                <a:latin typeface="Consolas" panose="020B0609020204030204" pitchFamily="49" charset="0"/>
              </a:rPr>
              <a:t>  </a:t>
            </a:r>
            <a:r>
              <a:rPr lang="en-US" sz="1200" dirty="0" err="1" smtClean="0">
                <a:solidFill>
                  <a:srgbClr val="000000"/>
                </a:solidFill>
                <a:latin typeface="Consolas" panose="020B0609020204030204" pitchFamily="49" charset="0"/>
              </a:rPr>
              <a:t>num.toUpperCase</a:t>
            </a:r>
            <a:r>
              <a:rPr lang="en-US" sz="1200" dirty="0" smtClean="0">
                <a:solidFill>
                  <a:srgbClr val="000000"/>
                </a:solidFill>
                <a:latin typeface="Consolas" panose="020B0609020204030204" pitchFamily="49" charset="0"/>
              </a:rPr>
              <a:t>();   </a:t>
            </a:r>
            <a:r>
              <a:rPr lang="en-US" sz="1200" dirty="0" smtClean="0">
                <a:solidFill>
                  <a:srgbClr val="008000"/>
                </a:solidFill>
                <a:latin typeface="Consolas" panose="020B0609020204030204" pitchFamily="49" charset="0"/>
              </a:rPr>
              <a:t>//cannot convert to upper case</a:t>
            </a:r>
          </a:p>
          <a:p>
            <a:r>
              <a:rPr lang="en-US" sz="1200" dirty="0" smtClean="0">
                <a:solidFill>
                  <a:srgbClr val="000000"/>
                </a:solidFill>
                <a:latin typeface="Consolas" panose="020B0609020204030204" pitchFamily="49" charset="0"/>
              </a:rPr>
              <a:t>  x = y + </a:t>
            </a:r>
            <a:r>
              <a:rPr lang="en-US" sz="1200" dirty="0" smtClean="0">
                <a:solidFill>
                  <a:srgbClr val="FF0000"/>
                </a:solidFill>
                <a:latin typeface="Consolas" panose="020B0609020204030204" pitchFamily="49" charset="0"/>
              </a:rPr>
              <a:t>1</a:t>
            </a:r>
            <a:r>
              <a:rPr lang="en-US" sz="1200" dirty="0" smtClean="0">
                <a:solidFill>
                  <a:srgbClr val="000000"/>
                </a:solidFill>
                <a:latin typeface="Consolas" panose="020B0609020204030204" pitchFamily="49" charset="0"/>
              </a:rPr>
              <a:t>;   </a:t>
            </a:r>
            <a:r>
              <a:rPr lang="en-US" sz="1200" dirty="0" smtClean="0">
                <a:solidFill>
                  <a:srgbClr val="008000"/>
                </a:solidFill>
                <a:latin typeface="Consolas" panose="020B0609020204030204" pitchFamily="49" charset="0"/>
              </a:rPr>
              <a:t>// y cannot be used (referenced)</a:t>
            </a:r>
          </a:p>
          <a:p>
            <a:r>
              <a:rPr lang="en-US" sz="1200" dirty="0" smtClean="0">
                <a:latin typeface="Consolas" panose="020B0609020204030204" pitchFamily="49" charset="0"/>
              </a:rPr>
              <a:t>  </a:t>
            </a:r>
            <a:r>
              <a:rPr lang="en-US" sz="1200" dirty="0" smtClean="0">
                <a:solidFill>
                  <a:srgbClr val="7030A0"/>
                </a:solidFill>
                <a:latin typeface="Consolas" panose="020B0609020204030204" pitchFamily="49" charset="0"/>
              </a:rPr>
              <a:t>let </a:t>
            </a:r>
            <a:r>
              <a:rPr lang="en-US" sz="1200" dirty="0" err="1" smtClean="0">
                <a:solidFill>
                  <a:srgbClr val="7030A0"/>
                </a:solidFill>
                <a:latin typeface="Consolas" panose="020B0609020204030204" pitchFamily="49" charset="0"/>
              </a:rPr>
              <a:t>jsonData</a:t>
            </a:r>
            <a:r>
              <a:rPr lang="en-US" sz="1200" dirty="0" smtClean="0">
                <a:solidFill>
                  <a:srgbClr val="7030A0"/>
                </a:solidFill>
                <a:latin typeface="Consolas" panose="020B0609020204030204" pitchFamily="49" charset="0"/>
              </a:rPr>
              <a:t> = </a:t>
            </a:r>
            <a:r>
              <a:rPr lang="en-US" sz="1200" dirty="0" err="1" smtClean="0">
                <a:solidFill>
                  <a:srgbClr val="7030A0"/>
                </a:solidFill>
                <a:latin typeface="Consolas" panose="020B0609020204030204" pitchFamily="49" charset="0"/>
              </a:rPr>
              <a:t>JSON.pase</a:t>
            </a:r>
            <a:r>
              <a:rPr lang="en-US" sz="1200" dirty="0" smtClean="0">
                <a:solidFill>
                  <a:srgbClr val="7030A0"/>
                </a:solidFill>
                <a:latin typeface="Consolas" panose="020B0609020204030204" pitchFamily="49" charset="0"/>
              </a:rPr>
              <a:t>(</a:t>
            </a:r>
            <a:r>
              <a:rPr lang="en-US" sz="1200" dirty="0" err="1" smtClean="0">
                <a:solidFill>
                  <a:srgbClr val="7030A0"/>
                </a:solidFill>
                <a:latin typeface="Consolas" panose="020B0609020204030204" pitchFamily="49" charset="0"/>
              </a:rPr>
              <a:t>inputData</a:t>
            </a:r>
            <a:r>
              <a:rPr lang="en-US" sz="1200" dirty="0" smtClean="0">
                <a:solidFill>
                  <a:srgbClr val="7030A0"/>
                </a:solidFill>
                <a:latin typeface="Consolas" panose="020B0609020204030204" pitchFamily="49" charset="0"/>
              </a:rPr>
              <a:t>)</a:t>
            </a:r>
            <a:r>
              <a:rPr lang="en-US" sz="1200" dirty="0" smtClean="0">
                <a:latin typeface="Consolas" panose="020B0609020204030204" pitchFamily="49" charset="0"/>
              </a:rPr>
              <a:t>//</a:t>
            </a:r>
            <a:r>
              <a:rPr lang="en-US" sz="1200" dirty="0" smtClean="0">
                <a:solidFill>
                  <a:srgbClr val="008000"/>
                </a:solidFill>
                <a:latin typeface="Consolas" panose="020B0609020204030204" pitchFamily="49" charset="0"/>
              </a:rPr>
              <a:t>non-</a:t>
            </a:r>
            <a:r>
              <a:rPr lang="en-US" sz="1200" dirty="0" err="1" smtClean="0">
                <a:solidFill>
                  <a:srgbClr val="008000"/>
                </a:solidFill>
                <a:latin typeface="Consolas" panose="020B0609020204030204" pitchFamily="49" charset="0"/>
              </a:rPr>
              <a:t>json</a:t>
            </a:r>
            <a:r>
              <a:rPr lang="en-US" sz="1200" dirty="0" smtClean="0">
                <a:solidFill>
                  <a:srgbClr val="008000"/>
                </a:solidFill>
                <a:latin typeface="Consolas" panose="020B0609020204030204" pitchFamily="49" charset="0"/>
              </a:rPr>
              <a:t> input</a:t>
            </a:r>
            <a:br>
              <a:rPr lang="en-US" sz="1200" dirty="0" smtClean="0">
                <a:solidFill>
                  <a:srgbClr val="008000"/>
                </a:solidFill>
                <a:latin typeface="Consolas" panose="020B0609020204030204" pitchFamily="49" charset="0"/>
              </a:rPr>
            </a:br>
            <a:r>
              <a:rPr lang="en-US" sz="1200" dirty="0" smtClean="0">
                <a:solidFill>
                  <a:srgbClr val="000000"/>
                </a:solidFill>
                <a:latin typeface="Consolas" panose="020B0609020204030204" pitchFamily="49" charset="0"/>
              </a:rPr>
              <a:t>} </a:t>
            </a:r>
            <a:r>
              <a:rPr lang="en-US" sz="1200" dirty="0" smtClean="0">
                <a:solidFill>
                  <a:srgbClr val="0000CD"/>
                </a:solidFill>
                <a:latin typeface="Consolas" panose="020B0609020204030204" pitchFamily="49" charset="0"/>
              </a:rPr>
              <a:t>catch</a:t>
            </a:r>
            <a:r>
              <a:rPr lang="en-US" sz="1200" dirty="0" smtClean="0">
                <a:solidFill>
                  <a:srgbClr val="000000"/>
                </a:solidFill>
                <a:latin typeface="Consolas" panose="020B0609020204030204" pitchFamily="49" charset="0"/>
              </a:rPr>
              <a:t>(err) {</a:t>
            </a:r>
            <a:r>
              <a:rPr lang="en-US" sz="1200" dirty="0" smtClean="0">
                <a:solidFill>
                  <a:srgbClr val="008000"/>
                </a:solidFill>
                <a:latin typeface="Consolas" panose="020B0609020204030204" pitchFamily="49" charset="0"/>
              </a:rPr>
              <a:t>//code block to handle errors  </a:t>
            </a:r>
            <a:r>
              <a:rPr lang="en-US" sz="1200" dirty="0" smtClean="0"/>
              <a:t/>
            </a:r>
            <a:br>
              <a:rPr lang="en-US" sz="1200" dirty="0" smtClean="0"/>
            </a:br>
            <a:r>
              <a:rPr lang="en-US" sz="1200" dirty="0" smtClean="0">
                <a:solidFill>
                  <a:srgbClr val="000000"/>
                </a:solidFill>
                <a:latin typeface="Consolas" panose="020B0609020204030204" pitchFamily="49" charset="0"/>
              </a:rPr>
              <a:t>  </a:t>
            </a:r>
            <a:r>
              <a:rPr lang="en-US" sz="1200" dirty="0" err="1" smtClean="0">
                <a:solidFill>
                  <a:srgbClr val="000000"/>
                </a:solidFill>
                <a:latin typeface="Consolas" panose="020B0609020204030204" pitchFamily="49" charset="0"/>
              </a:rPr>
              <a:t>document.getElementById</a:t>
            </a:r>
            <a:r>
              <a:rPr lang="en-US" sz="1200" dirty="0" smtClean="0">
                <a:solidFill>
                  <a:srgbClr val="000000"/>
                </a:solidFill>
                <a:latin typeface="Consolas" panose="020B0609020204030204" pitchFamily="49" charset="0"/>
              </a:rPr>
              <a:t>(</a:t>
            </a:r>
            <a:r>
              <a:rPr lang="en-US" sz="1200" dirty="0" smtClean="0">
                <a:solidFill>
                  <a:srgbClr val="A52A2A"/>
                </a:solidFill>
                <a:latin typeface="Consolas" panose="020B0609020204030204" pitchFamily="49" charset="0"/>
              </a:rPr>
              <a:t>"demo"</a:t>
            </a:r>
            <a:r>
              <a:rPr lang="en-US" sz="1200" dirty="0" smtClean="0">
                <a:solidFill>
                  <a:srgbClr val="000000"/>
                </a:solidFill>
                <a:latin typeface="Consolas" panose="020B0609020204030204" pitchFamily="49" charset="0"/>
              </a:rPr>
              <a:t>).</a:t>
            </a:r>
            <a:r>
              <a:rPr lang="en-US" sz="1200" dirty="0" err="1" smtClean="0">
                <a:solidFill>
                  <a:srgbClr val="000000"/>
                </a:solidFill>
                <a:latin typeface="Consolas" panose="020B0609020204030204" pitchFamily="49" charset="0"/>
              </a:rPr>
              <a:t>innerHTML</a:t>
            </a:r>
            <a:r>
              <a:rPr lang="en-US" sz="1200" dirty="0" smtClean="0">
                <a:solidFill>
                  <a:srgbClr val="000000"/>
                </a:solidFill>
                <a:latin typeface="Consolas" panose="020B0609020204030204" pitchFamily="49" charset="0"/>
              </a:rPr>
              <a:t> = err.name;</a:t>
            </a:r>
          </a:p>
          <a:p>
            <a:r>
              <a:rPr lang="en-US" sz="1200" dirty="0" smtClean="0"/>
              <a:t>   </a:t>
            </a:r>
            <a:r>
              <a:rPr lang="en-US" sz="1200" dirty="0" smtClean="0">
                <a:solidFill>
                  <a:srgbClr val="7030A0"/>
                </a:solidFill>
                <a:latin typeface="Consolas" panose="020B0609020204030204" pitchFamily="49" charset="0"/>
              </a:rPr>
              <a:t>console.log("Your JSON is invalid")</a:t>
            </a:r>
          </a:p>
          <a:p>
            <a:r>
              <a:rPr lang="en-US" sz="1200" dirty="0" smtClean="0">
                <a:solidFill>
                  <a:srgbClr val="000000"/>
                </a:solidFill>
                <a:latin typeface="Consolas" panose="020B0609020204030204" pitchFamily="49" charset="0"/>
              </a:rPr>
              <a:t>} </a:t>
            </a:r>
            <a:r>
              <a:rPr lang="en-US" sz="1200" dirty="0" smtClean="0">
                <a:solidFill>
                  <a:srgbClr val="0000CD"/>
                </a:solidFill>
                <a:latin typeface="Consolas" panose="020B0609020204030204" pitchFamily="49" charset="0"/>
              </a:rPr>
              <a:t>finally</a:t>
            </a:r>
            <a:r>
              <a:rPr lang="en-US" sz="1200" dirty="0" smtClean="0">
                <a:solidFill>
                  <a:srgbClr val="000000"/>
                </a:solidFill>
                <a:latin typeface="Consolas" panose="020B0609020204030204" pitchFamily="49" charset="0"/>
              </a:rPr>
              <a:t>() {</a:t>
            </a:r>
            <a:r>
              <a:rPr lang="en-US" sz="1200" dirty="0" smtClean="0"/>
              <a:t/>
            </a:r>
            <a:br>
              <a:rPr lang="en-US" sz="1200" dirty="0" smtClean="0"/>
            </a:br>
            <a:r>
              <a:rPr lang="en-US" sz="1200" dirty="0" smtClean="0">
                <a:solidFill>
                  <a:srgbClr val="000000"/>
                </a:solidFill>
                <a:latin typeface="Consolas" panose="020B0609020204030204" pitchFamily="49" charset="0"/>
              </a:rPr>
              <a:t>  </a:t>
            </a:r>
            <a:r>
              <a:rPr lang="en-US" sz="1200" dirty="0" smtClean="0">
                <a:solidFill>
                  <a:srgbClr val="008000"/>
                </a:solidFill>
                <a:latin typeface="Consolas" panose="020B0609020204030204" pitchFamily="49" charset="0"/>
              </a:rPr>
              <a:t>//runs always, does clean up or release resources </a:t>
            </a:r>
          </a:p>
          <a:p>
            <a:r>
              <a:rPr lang="en-US" sz="1200" dirty="0" smtClean="0">
                <a:solidFill>
                  <a:srgbClr val="7030A0"/>
                </a:solidFill>
                <a:latin typeface="Consolas" panose="020B0609020204030204" pitchFamily="49" charset="0"/>
              </a:rPr>
              <a:t>  let </a:t>
            </a:r>
            <a:r>
              <a:rPr lang="en-US" sz="1200" dirty="0" err="1" smtClean="0">
                <a:solidFill>
                  <a:srgbClr val="7030A0"/>
                </a:solidFill>
                <a:latin typeface="Consolas" panose="020B0609020204030204" pitchFamily="49" charset="0"/>
              </a:rPr>
              <a:t>JSONData</a:t>
            </a:r>
            <a:r>
              <a:rPr lang="en-US" sz="1200" dirty="0" smtClean="0">
                <a:solidFill>
                  <a:srgbClr val="7030A0"/>
                </a:solidFill>
                <a:latin typeface="Consolas" panose="020B0609020204030204" pitchFamily="49" charset="0"/>
              </a:rPr>
              <a:t> = {} </a:t>
            </a:r>
          </a:p>
          <a:p>
            <a:r>
              <a:rPr lang="en-US" sz="1200" dirty="0" smtClean="0">
                <a:solidFill>
                  <a:srgbClr val="7030A0"/>
                </a:solidFill>
                <a:latin typeface="Consolas" panose="020B0609020204030204" pitchFamily="49" charset="0"/>
              </a:rPr>
              <a:t>  console.log(</a:t>
            </a:r>
            <a:r>
              <a:rPr lang="en-US" sz="1200" dirty="0" err="1" smtClean="0">
                <a:solidFill>
                  <a:srgbClr val="7030A0"/>
                </a:solidFill>
                <a:latin typeface="Consolas" panose="020B0609020204030204" pitchFamily="49" charset="0"/>
              </a:rPr>
              <a:t>JSONData</a:t>
            </a:r>
            <a:r>
              <a:rPr lang="en-US" sz="1200" dirty="0" smtClean="0">
                <a:solidFill>
                  <a:srgbClr val="7030A0"/>
                </a:solidFill>
                <a:latin typeface="Consolas" panose="020B0609020204030204" pitchFamily="49" charset="0"/>
              </a:rPr>
              <a:t>)</a:t>
            </a:r>
          </a:p>
          <a:p>
            <a:r>
              <a:rPr lang="en-US" sz="1200" dirty="0" smtClean="0">
                <a:solidFill>
                  <a:srgbClr val="000000"/>
                </a:solidFill>
                <a:latin typeface="Consolas" panose="020B0609020204030204" pitchFamily="49" charset="0"/>
              </a:rPr>
              <a:t>}</a:t>
            </a: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solidFill>
                <a:srgbClr val="C00000"/>
              </a:solidFill>
              <a:latin typeface="PSTTCommons-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solidFill>
                <a:srgbClr val="C00000"/>
              </a:solidFill>
              <a:latin typeface="PSTTCommons-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solidFill>
                <a:srgbClr val="C00000"/>
              </a:solidFill>
              <a:latin typeface="PSTTCommons-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solidFill>
                  <a:srgbClr val="C00000"/>
                </a:solidFill>
                <a:latin typeface="PSTTCommons-Bold"/>
              </a:rPr>
              <a:t>Any errors not caught by us will bubble right up to the browser and potentially crash our application</a:t>
            </a:r>
            <a:endParaRPr lang="en-US" dirty="0" smtClean="0">
              <a:solidFill>
                <a:srgbClr val="C00000"/>
              </a:solidFill>
            </a:endParaRPr>
          </a:p>
          <a:p>
            <a:endParaRPr lang="en-US" b="1" dirty="0" smtClean="0">
              <a:solidFill>
                <a:srgbClr val="130F25"/>
              </a:solidFill>
              <a:latin typeface="PSTTCommons-Bold"/>
            </a:endParaRPr>
          </a:p>
          <a:p>
            <a:endParaRPr lang="en-US" b="1" dirty="0" smtClean="0">
              <a:solidFill>
                <a:srgbClr val="130F25"/>
              </a:solidFill>
              <a:latin typeface="PSTTCommons-Bold"/>
            </a:endParaRPr>
          </a:p>
          <a:p>
            <a:r>
              <a:rPr lang="en-US" b="1" dirty="0" smtClean="0">
                <a:solidFill>
                  <a:srgbClr val="130F25"/>
                </a:solidFill>
                <a:latin typeface="PSTTCommons-Bold"/>
              </a:rPr>
              <a:t>The Purpose of TypeScript</a:t>
            </a:r>
          </a:p>
          <a:p>
            <a:r>
              <a:rPr lang="en-US" sz="1050" dirty="0" smtClean="0">
                <a:solidFill>
                  <a:srgbClr val="FF1675"/>
                </a:solidFill>
                <a:latin typeface="ArialMT"/>
              </a:rPr>
              <a:t>• </a:t>
            </a:r>
            <a:r>
              <a:rPr lang="en-US" b="1" dirty="0" smtClean="0">
                <a:solidFill>
                  <a:srgbClr val="FF1675"/>
                </a:solidFill>
                <a:latin typeface="PSTTCommons-DemiBold"/>
              </a:rPr>
              <a:t>TypeScript prevents many common errors using the type system during development or</a:t>
            </a:r>
          </a:p>
          <a:p>
            <a:r>
              <a:rPr lang="en-US" b="1" dirty="0" smtClean="0">
                <a:solidFill>
                  <a:srgbClr val="FF1675"/>
                </a:solidFill>
                <a:latin typeface="PSTTCommons-DemiBold"/>
              </a:rPr>
              <a:t>compile time </a:t>
            </a:r>
          </a:p>
          <a:p>
            <a:r>
              <a:rPr lang="en-US" sz="1050" dirty="0" smtClean="0">
                <a:solidFill>
                  <a:srgbClr val="FF1675"/>
                </a:solidFill>
                <a:latin typeface="ArialMT"/>
              </a:rPr>
              <a:t>• </a:t>
            </a:r>
            <a:r>
              <a:rPr lang="en-US" b="1" dirty="0" smtClean="0">
                <a:solidFill>
                  <a:srgbClr val="FF1675"/>
                </a:solidFill>
                <a:latin typeface="PSTTCommons-DemiBold"/>
              </a:rPr>
              <a:t>Most </a:t>
            </a:r>
            <a:r>
              <a:rPr lang="en-US" b="1" dirty="0" err="1" smtClean="0">
                <a:solidFill>
                  <a:srgbClr val="FF1675"/>
                </a:solidFill>
                <a:latin typeface="PSTTCommons-DemiBold"/>
              </a:rPr>
              <a:t>TypeErrors</a:t>
            </a:r>
            <a:r>
              <a:rPr lang="en-US" b="1" dirty="0" smtClean="0">
                <a:solidFill>
                  <a:srgbClr val="FF1675"/>
                </a:solidFill>
                <a:latin typeface="PSTTCommons-DemiBold"/>
              </a:rPr>
              <a:t> / </a:t>
            </a:r>
            <a:r>
              <a:rPr lang="en-US" b="1" dirty="0" err="1" smtClean="0">
                <a:solidFill>
                  <a:srgbClr val="FF1675"/>
                </a:solidFill>
                <a:latin typeface="PSTTCommons-DemiBold"/>
              </a:rPr>
              <a:t>ReferenceErrors</a:t>
            </a:r>
            <a:r>
              <a:rPr lang="en-US" b="1" dirty="0" smtClean="0">
                <a:solidFill>
                  <a:srgbClr val="FF1675"/>
                </a:solidFill>
                <a:latin typeface="PSTTCommons-DemiBold"/>
              </a:rPr>
              <a:t> / </a:t>
            </a:r>
            <a:r>
              <a:rPr lang="en-US" b="1" dirty="0" err="1" smtClean="0">
                <a:solidFill>
                  <a:srgbClr val="FF1675"/>
                </a:solidFill>
                <a:latin typeface="PSTTCommons-DemiBold"/>
              </a:rPr>
              <a:t>SyntaxErrors</a:t>
            </a:r>
            <a:r>
              <a:rPr lang="en-US" b="1" dirty="0" smtClean="0">
                <a:solidFill>
                  <a:srgbClr val="FF1675"/>
                </a:solidFill>
                <a:latin typeface="PSTTCommons-DemiBold"/>
              </a:rPr>
              <a:t> should be caught before a user would see them</a:t>
            </a:r>
            <a:endParaRPr lang="en-US" dirty="0" smtClean="0"/>
          </a:p>
          <a:p>
            <a:endParaRPr lang="en-US" sz="1200" b="0" i="0" u="none" strike="noStrike" kern="1200" baseline="0" dirty="0" smtClean="0">
              <a:solidFill>
                <a:schemeClr val="tx1"/>
              </a:solidFill>
              <a:latin typeface="+mn-lt"/>
              <a:ea typeface="+mn-ea"/>
              <a:cs typeface="+mn-cs"/>
            </a:endParaRPr>
          </a:p>
          <a:p>
            <a:r>
              <a:rPr lang="en-US" sz="1800" b="1" dirty="0" smtClean="0">
                <a:solidFill>
                  <a:srgbClr val="130F25"/>
                </a:solidFill>
                <a:latin typeface="PSTTCommons-Bold"/>
              </a:rPr>
              <a:t>Errors in TypeScript</a:t>
            </a:r>
          </a:p>
          <a:p>
            <a:r>
              <a:rPr lang="en-US" b="1" dirty="0" smtClean="0">
                <a:solidFill>
                  <a:srgbClr val="FF1675"/>
                </a:solidFill>
                <a:latin typeface="PSTTCommons-DemiBold"/>
              </a:rPr>
              <a:t>TypeScript gives us some basic tools for working with errors:</a:t>
            </a:r>
          </a:p>
          <a:p>
            <a:r>
              <a:rPr lang="en-US" sz="1050" dirty="0" smtClean="0">
                <a:solidFill>
                  <a:srgbClr val="FF1675"/>
                </a:solidFill>
                <a:latin typeface="ArialMT"/>
              </a:rPr>
              <a:t>• </a:t>
            </a:r>
            <a:r>
              <a:rPr lang="en-US" b="1" dirty="0" smtClean="0">
                <a:solidFill>
                  <a:srgbClr val="FF1675"/>
                </a:solidFill>
                <a:latin typeface="PSTTCommons-DemiBold"/>
              </a:rPr>
              <a:t>The `Error` type</a:t>
            </a:r>
          </a:p>
          <a:p>
            <a:r>
              <a:rPr lang="en-US" sz="1050" dirty="0" smtClean="0">
                <a:solidFill>
                  <a:srgbClr val="FF1675"/>
                </a:solidFill>
                <a:latin typeface="ArialMT"/>
              </a:rPr>
              <a:t>• </a:t>
            </a:r>
            <a:r>
              <a:rPr lang="en-US" b="1" dirty="0" smtClean="0">
                <a:solidFill>
                  <a:srgbClr val="FF1675"/>
                </a:solidFill>
                <a:latin typeface="PSTTCommons-DemiBold"/>
              </a:rPr>
              <a:t>The `throw` keyword</a:t>
            </a:r>
            <a:endParaRPr lang="en-US" dirty="0" smtClean="0"/>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b="1" dirty="0" smtClean="0">
                <a:solidFill>
                  <a:srgbClr val="FF1675"/>
                </a:solidFill>
                <a:latin typeface="PSTTCommons-DemiBold"/>
              </a:rPr>
              <a:t>We should follow error-handling best practices to:</a:t>
            </a:r>
          </a:p>
          <a:p>
            <a:endParaRPr lang="en-US" b="1" dirty="0" smtClean="0">
              <a:solidFill>
                <a:srgbClr val="FF1675"/>
              </a:solidFill>
              <a:latin typeface="PSTTCommons-DemiBold"/>
            </a:endParaRPr>
          </a:p>
          <a:p>
            <a:pPr marL="285750" indent="-285750">
              <a:buFontTx/>
              <a:buChar char="-"/>
            </a:pPr>
            <a:r>
              <a:rPr lang="en-US" dirty="0" smtClean="0">
                <a:solidFill>
                  <a:srgbClr val="FF1675"/>
                </a:solidFill>
                <a:latin typeface="PSTTCommons-Regular"/>
              </a:rPr>
              <a:t>Improve the reliability and stability of our applications by avoiding crashes</a:t>
            </a:r>
          </a:p>
          <a:p>
            <a:pPr marL="285750" indent="-285750">
              <a:buFontTx/>
              <a:buChar char="-"/>
            </a:pPr>
            <a:r>
              <a:rPr lang="en-US" dirty="0" smtClean="0">
                <a:solidFill>
                  <a:srgbClr val="FF1675"/>
                </a:solidFill>
                <a:latin typeface="PSTTCommons-Regular"/>
              </a:rPr>
              <a:t>Control failure in a way that minimizes the impact to uses and system functionality</a:t>
            </a:r>
          </a:p>
          <a:p>
            <a:pPr marL="285750" indent="-285750">
              <a:buFontTx/>
              <a:buChar char="-"/>
            </a:pPr>
            <a:r>
              <a:rPr lang="en-US" dirty="0" smtClean="0">
                <a:solidFill>
                  <a:srgbClr val="FF1675"/>
                </a:solidFill>
                <a:latin typeface="PSTTCommons-Regular"/>
              </a:rPr>
              <a:t>Use graceful degradation to offer partial or alternative functionality rather than failing completely</a:t>
            </a:r>
          </a:p>
          <a:p>
            <a:pPr marL="285750" indent="-285750">
              <a:buFontTx/>
              <a:buChar char="-"/>
            </a:pPr>
            <a:r>
              <a:rPr lang="en-US" dirty="0" smtClean="0">
                <a:solidFill>
                  <a:srgbClr val="FF1675"/>
                </a:solidFill>
                <a:latin typeface="PSTTCommons-Regular"/>
              </a:rPr>
              <a:t>Improve security by preventing malicious unintended use of the application </a:t>
            </a:r>
            <a:endParaRPr lang="en-US" dirty="0" smtClean="0"/>
          </a:p>
          <a:p>
            <a:endParaRPr lang="en-US" sz="1200" b="0" i="0" u="none" strike="noStrike" kern="1200" baseline="0" dirty="0" smtClean="0">
              <a:solidFill>
                <a:schemeClr val="tx1"/>
              </a:solidFill>
              <a:latin typeface="+mn-lt"/>
              <a:ea typeface="+mn-ea"/>
              <a:cs typeface="+mn-cs"/>
            </a:endParaRPr>
          </a:p>
          <a:p>
            <a:r>
              <a:rPr lang="en-US" sz="1200" b="1" dirty="0" smtClean="0">
                <a:solidFill>
                  <a:srgbClr val="130F25"/>
                </a:solidFill>
                <a:latin typeface="PSTTCommons-Bold"/>
              </a:rPr>
              <a:t>Handling Errors in TypeScript</a:t>
            </a:r>
          </a:p>
          <a:p>
            <a:pPr marL="285750" indent="-285750">
              <a:buFont typeface="Wingdings" panose="05000000000000000000" pitchFamily="2" charset="2"/>
              <a:buChar char="§"/>
            </a:pPr>
            <a:r>
              <a:rPr lang="en-US" sz="1200" b="1" dirty="0" smtClean="0">
                <a:solidFill>
                  <a:schemeClr val="tx1">
                    <a:lumMod val="95000"/>
                    <a:lumOff val="5000"/>
                  </a:schemeClr>
                </a:solidFill>
                <a:latin typeface="PSTTCommons-DemiBold"/>
              </a:rPr>
              <a:t>Handling errors is not about handling the errors that TypeScript will help avoid</a:t>
            </a:r>
          </a:p>
          <a:p>
            <a:pPr marL="285750" indent="-285750">
              <a:buFont typeface="Wingdings" panose="05000000000000000000" pitchFamily="2" charset="2"/>
              <a:buChar char="§"/>
            </a:pPr>
            <a:r>
              <a:rPr lang="en-US" sz="1200" b="1" dirty="0" smtClean="0">
                <a:solidFill>
                  <a:schemeClr val="tx1">
                    <a:lumMod val="95000"/>
                    <a:lumOff val="5000"/>
                  </a:schemeClr>
                </a:solidFill>
                <a:latin typeface="PSTTCommons-DemiBold"/>
              </a:rPr>
              <a:t>It means accounting for things beyond our control, like the availability of external resources</a:t>
            </a:r>
          </a:p>
          <a:p>
            <a:pPr marL="285750" indent="-285750">
              <a:buFont typeface="Wingdings" panose="05000000000000000000" pitchFamily="2" charset="2"/>
              <a:buChar char="§"/>
            </a:pPr>
            <a:r>
              <a:rPr lang="en-US" sz="1200" b="1" dirty="0" smtClean="0">
                <a:solidFill>
                  <a:schemeClr val="tx1">
                    <a:lumMod val="95000"/>
                    <a:lumOff val="5000"/>
                  </a:schemeClr>
                </a:solidFill>
                <a:latin typeface="PSTTCommons-DemiBold"/>
              </a:rPr>
              <a:t>Identify parts of your code where errors are likely to occur</a:t>
            </a:r>
          </a:p>
          <a:p>
            <a:pPr marL="285750" indent="-285750">
              <a:buFont typeface="Wingdings" panose="05000000000000000000" pitchFamily="2" charset="2"/>
              <a:buChar char="§"/>
            </a:pPr>
            <a:r>
              <a:rPr lang="en-US" sz="1200" b="1" dirty="0" smtClean="0">
                <a:solidFill>
                  <a:schemeClr val="tx1">
                    <a:lumMod val="95000"/>
                    <a:lumOff val="5000"/>
                  </a:schemeClr>
                </a:solidFill>
                <a:latin typeface="PSTTCommons-DemiBold"/>
              </a:rPr>
              <a:t>Take steps to handle these errors when they do occur</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Sometimes though, errors can be unavoidable. For example, passing non-JSON values to </a:t>
            </a:r>
            <a:r>
              <a:rPr lang="en-US" sz="1200" b="0" i="0" u="none" strike="noStrike" kern="1200" baseline="0" dirty="0" err="1" smtClean="0">
                <a:solidFill>
                  <a:schemeClr val="tx1"/>
                </a:solidFill>
                <a:latin typeface="+mn-lt"/>
                <a:ea typeface="+mn-ea"/>
                <a:cs typeface="+mn-cs"/>
              </a:rPr>
              <a:t>JSON.parse</a:t>
            </a:r>
            <a:r>
              <a:rPr lang="en-US" sz="1200" b="0" i="0" u="none" strike="noStrike" kern="1200" baseline="0" dirty="0" smtClean="0">
                <a:solidFill>
                  <a:schemeClr val="tx1"/>
                </a:solidFill>
                <a:latin typeface="+mn-lt"/>
                <a:ea typeface="+mn-ea"/>
                <a:cs typeface="+mn-cs"/>
              </a:rPr>
              <a:t>() will usually result in an error. This can happen quite easily, especially if you are working with badly written APIs.</a:t>
            </a:r>
          </a:p>
          <a:p>
            <a:r>
              <a:rPr lang="en-US" sz="1200" b="0" i="0" u="none" strike="noStrike" kern="1200" baseline="0" dirty="0" smtClean="0">
                <a:solidFill>
                  <a:schemeClr val="tx1"/>
                </a:solidFill>
                <a:latin typeface="+mn-lt"/>
                <a:ea typeface="+mn-ea"/>
                <a:cs typeface="+mn-cs"/>
              </a:rPr>
              <a:t>So this code must be in TRY block,… </a:t>
            </a:r>
          </a:p>
          <a:p>
            <a:endParaRPr lang="en-US" sz="1200" b="1"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finally will run before the error appears since finally runs immediately before any control statements (think return, throw, break or continue) complete. </a:t>
            </a:r>
          </a:p>
          <a:p>
            <a:r>
              <a:rPr lang="en-US" sz="1200" b="0" i="0" u="none" strike="noStrike" kern="1200" baseline="0" dirty="0" smtClean="0">
                <a:solidFill>
                  <a:schemeClr val="tx1"/>
                </a:solidFill>
                <a:latin typeface="+mn-lt"/>
                <a:ea typeface="+mn-ea"/>
                <a:cs typeface="+mn-cs"/>
              </a:rPr>
              <a:t>We’ve covered </a:t>
            </a:r>
            <a:r>
              <a:rPr lang="en-US" sz="1200" b="0" i="0" u="sng" strike="noStrike" kern="1200" baseline="0" dirty="0" smtClean="0">
                <a:solidFill>
                  <a:schemeClr val="tx1"/>
                </a:solidFill>
                <a:latin typeface="+mn-lt"/>
                <a:ea typeface="+mn-ea"/>
                <a:cs typeface="+mn-cs"/>
              </a:rPr>
              <a:t>control statements </a:t>
            </a:r>
            <a:r>
              <a:rPr lang="en-US" sz="1200" b="0" i="0" u="none" strike="noStrike" kern="1200" baseline="0" dirty="0" smtClean="0">
                <a:solidFill>
                  <a:schemeClr val="tx1"/>
                </a:solidFill>
                <a:latin typeface="+mn-lt"/>
                <a:ea typeface="+mn-ea"/>
                <a:cs typeface="+mn-cs"/>
              </a:rPr>
              <a:t>before, just under different topics. Control statements can be break, throw, return, or continue.</a:t>
            </a:r>
            <a:endParaRPr lang="en-US" sz="1200" b="1" i="0" u="none" strike="noStrike" kern="1200" baseline="0" dirty="0" smtClean="0">
              <a:solidFill>
                <a:schemeClr val="tx1"/>
              </a:solidFill>
              <a:latin typeface="+mn-lt"/>
              <a:ea typeface="+mn-ea"/>
              <a:cs typeface="+mn-cs"/>
            </a:endParaRPr>
          </a:p>
          <a:p>
            <a:r>
              <a:rPr lang="en-US" sz="1200" b="0" i="1" u="none" strike="noStrike" kern="1200" baseline="0" dirty="0" smtClean="0">
                <a:solidFill>
                  <a:schemeClr val="tx1"/>
                </a:solidFill>
                <a:latin typeface="+mn-lt"/>
                <a:ea typeface="+mn-ea"/>
                <a:cs typeface="+mn-cs"/>
              </a:rPr>
              <a:t>Finally will always fire before try and catch control statements. However, the rest of the try and catch code before the control statement will be executed before finally </a:t>
            </a:r>
            <a:endParaRPr lang="en-US" sz="1200" b="1"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1" i="1" u="none" strike="noStrike" kern="1200" baseline="0" dirty="0" smtClean="0">
                <a:solidFill>
                  <a:schemeClr val="tx1"/>
                </a:solidFill>
                <a:latin typeface="+mn-lt"/>
                <a:ea typeface="+mn-ea"/>
                <a:cs typeface="+mn-cs"/>
              </a:rPr>
              <a:t>Using the Error constructor does not create a new error but rather creates the text that would appear for that error</a:t>
            </a:r>
          </a:p>
          <a:p>
            <a:r>
              <a:rPr lang="en-US" sz="1200" b="0" i="0" u="none" strike="noStrike" kern="1200" baseline="0" dirty="0" smtClean="0">
                <a:solidFill>
                  <a:schemeClr val="tx1"/>
                </a:solidFill>
                <a:latin typeface="+mn-lt"/>
                <a:ea typeface="+mn-ea"/>
                <a:cs typeface="+mn-cs"/>
              </a:rPr>
              <a:t>If you want to generate an execution breaking error, you have to throw your error, too: </a:t>
            </a:r>
            <a:r>
              <a:rPr lang="en-US" sz="1200" b="1" i="0" u="none" strike="noStrike" kern="1200" baseline="0" dirty="0" smtClean="0">
                <a:solidFill>
                  <a:schemeClr val="tx1"/>
                </a:solidFill>
                <a:latin typeface="+mn-lt"/>
                <a:ea typeface="+mn-ea"/>
                <a:cs typeface="+mn-cs"/>
              </a:rPr>
              <a:t>throw new Error("Hello World") </a:t>
            </a:r>
            <a:endParaRPr lang="en-US" sz="1200" b="1" i="1"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1"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Errors and Exceptions</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We’ve now covered consoles and everything you can do with them. We’ve shown how you can create your own error messages using consoles too. </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err="1" smtClean="0">
                <a:solidFill>
                  <a:schemeClr val="tx1"/>
                </a:solidFill>
                <a:latin typeface="+mn-lt"/>
                <a:ea typeface="+mn-ea"/>
                <a:cs typeface="+mn-cs"/>
              </a:rPr>
              <a:t>URIError</a:t>
            </a:r>
            <a:r>
              <a:rPr lang="en-US" sz="1200" b="0" i="0" u="none" strike="noStrike" kern="1200" baseline="0" dirty="0" smtClean="0">
                <a:solidFill>
                  <a:schemeClr val="tx1"/>
                </a:solidFill>
                <a:latin typeface="+mn-lt"/>
                <a:ea typeface="+mn-ea"/>
                <a:cs typeface="+mn-cs"/>
              </a:rPr>
              <a:t> – We have an invalid URI string or have used a URI function incorrectly</a:t>
            </a:r>
          </a:p>
          <a:p>
            <a:endParaRPr lang="en-US" dirty="0" smtClean="0"/>
          </a:p>
          <a:p>
            <a:r>
              <a:rPr lang="en-US" sz="1200" b="1" i="0" u="none" strike="noStrike" kern="1200" baseline="0" dirty="0" smtClean="0">
                <a:solidFill>
                  <a:schemeClr val="tx1"/>
                </a:solidFill>
                <a:latin typeface="+mn-lt"/>
                <a:ea typeface="+mn-ea"/>
                <a:cs typeface="+mn-cs"/>
              </a:rPr>
              <a:t>We can avoid most errors or exceptions </a:t>
            </a:r>
            <a:r>
              <a:rPr lang="en-US" sz="1200" b="0" i="0" u="none" strike="noStrike" kern="1200" baseline="0" dirty="0" smtClean="0">
                <a:solidFill>
                  <a:schemeClr val="tx1"/>
                </a:solidFill>
                <a:latin typeface="+mn-lt"/>
                <a:ea typeface="+mn-ea"/>
                <a:cs typeface="+mn-cs"/>
              </a:rPr>
              <a:t>by ensuring our code is good quality and being strict about type control. In general, you’ll want to avoid errors, but if you do run into them, there are ways to get around them too. </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Using a catch statement here gives us the opportunity to not only prevent an error from causing our code to stop execution but also to set the </a:t>
            </a:r>
            <a:r>
              <a:rPr lang="en-US" sz="1200" b="0" i="0" u="none" strike="noStrike" kern="1200" baseline="0" dirty="0" err="1" smtClean="0">
                <a:solidFill>
                  <a:schemeClr val="tx1"/>
                </a:solidFill>
                <a:latin typeface="+mn-lt"/>
                <a:ea typeface="+mn-ea"/>
                <a:cs typeface="+mn-cs"/>
              </a:rPr>
              <a:t>JSONData</a:t>
            </a:r>
            <a:r>
              <a:rPr lang="en-US" sz="1200" b="0" i="0" u="none" strike="noStrike" kern="1200" baseline="0" dirty="0" smtClean="0">
                <a:solidFill>
                  <a:schemeClr val="tx1"/>
                </a:solidFill>
                <a:latin typeface="+mn-lt"/>
                <a:ea typeface="+mn-ea"/>
                <a:cs typeface="+mn-cs"/>
              </a:rPr>
              <a:t> variable to an empty object, in case we need to reference </a:t>
            </a:r>
            <a:r>
              <a:rPr lang="en-US" sz="1200" b="0" i="0" u="none" strike="noStrike" kern="1200" baseline="0" dirty="0" err="1" smtClean="0">
                <a:solidFill>
                  <a:schemeClr val="tx1"/>
                </a:solidFill>
                <a:latin typeface="+mn-lt"/>
                <a:ea typeface="+mn-ea"/>
                <a:cs typeface="+mn-cs"/>
              </a:rPr>
              <a:t>JSONData</a:t>
            </a:r>
            <a:r>
              <a:rPr lang="en-US" sz="1200" b="0" i="0" u="none" strike="noStrike" kern="1200" baseline="0" dirty="0" smtClean="0">
                <a:solidFill>
                  <a:schemeClr val="tx1"/>
                </a:solidFill>
                <a:latin typeface="+mn-lt"/>
                <a:ea typeface="+mn-ea"/>
                <a:cs typeface="+mn-cs"/>
              </a:rPr>
              <a:t> later.</a:t>
            </a:r>
          </a:p>
          <a:p>
            <a:r>
              <a:rPr lang="en-US" sz="1200" b="0" i="0" u="none" strike="noStrike" kern="1200" baseline="0" dirty="0" smtClean="0">
                <a:solidFill>
                  <a:schemeClr val="tx1"/>
                </a:solidFill>
                <a:latin typeface="+mn-lt"/>
                <a:ea typeface="+mn-ea"/>
                <a:cs typeface="+mn-cs"/>
              </a:rPr>
              <a:t>We can generate our own errors on purpose using the throw control statement. Usually we use this when something bad has happened in our code, and we want to end execution. When used in a try...catch block, it results in the catch block always being used:</a:t>
            </a:r>
          </a:p>
          <a:p>
            <a:r>
              <a:rPr lang="en-US" sz="1200" b="0" i="0" u="none" strike="noStrike" kern="1200" baseline="0" dirty="0" smtClean="0">
                <a:solidFill>
                  <a:schemeClr val="tx1"/>
                </a:solidFill>
                <a:latin typeface="+mn-lt"/>
                <a:ea typeface="+mn-ea"/>
                <a:cs typeface="+mn-cs"/>
              </a:rPr>
              <a:t>----------------- </a:t>
            </a:r>
          </a:p>
          <a:p>
            <a:endParaRPr lang="en-US" dirty="0" smtClean="0"/>
          </a:p>
          <a:p>
            <a:endParaRPr lang="en-US" dirty="0" smtClean="0"/>
          </a:p>
          <a:p>
            <a:r>
              <a:rPr lang="en-US" sz="1200" b="0" i="0" kern="1200" dirty="0" smtClean="0">
                <a:solidFill>
                  <a:schemeClr val="tx1"/>
                </a:solidFill>
                <a:effectLst/>
                <a:latin typeface="+mn-lt"/>
                <a:ea typeface="+mn-ea"/>
                <a:cs typeface="+mn-cs"/>
              </a:rPr>
              <a:t>Non-Standard Error Object Properties</a:t>
            </a:r>
          </a:p>
          <a:p>
            <a:r>
              <a:rPr lang="en-US" sz="1200" b="0" i="0" kern="1200" dirty="0" smtClean="0">
                <a:solidFill>
                  <a:schemeClr val="tx1"/>
                </a:solidFill>
                <a:effectLst/>
                <a:latin typeface="+mn-lt"/>
                <a:ea typeface="+mn-ea"/>
                <a:cs typeface="+mn-cs"/>
              </a:rPr>
              <a:t>Mozilla and Microsoft define some non-standard error object properties:</a:t>
            </a:r>
          </a:p>
          <a:p>
            <a:r>
              <a:rPr lang="en-US" sz="1200" b="0" i="0" kern="1200" dirty="0" err="1" smtClean="0">
                <a:solidFill>
                  <a:schemeClr val="tx1"/>
                </a:solidFill>
                <a:effectLst/>
                <a:latin typeface="+mn-lt"/>
                <a:ea typeface="+mn-ea"/>
                <a:cs typeface="+mn-cs"/>
              </a:rPr>
              <a:t>fileName</a:t>
            </a:r>
            <a:r>
              <a:rPr lang="en-US" sz="1200" b="0" i="0" kern="1200" dirty="0" smtClean="0">
                <a:solidFill>
                  <a:schemeClr val="tx1"/>
                </a:solidFill>
                <a:effectLst/>
                <a:latin typeface="+mn-lt"/>
                <a:ea typeface="+mn-ea"/>
                <a:cs typeface="+mn-cs"/>
              </a:rPr>
              <a:t> (Mozilla)</a:t>
            </a:r>
            <a:br>
              <a:rPr lang="en-US" sz="1200" b="0" i="0" kern="1200" dirty="0" smtClean="0">
                <a:solidFill>
                  <a:schemeClr val="tx1"/>
                </a:solidFill>
                <a:effectLst/>
                <a:latin typeface="+mn-lt"/>
                <a:ea typeface="+mn-ea"/>
                <a:cs typeface="+mn-cs"/>
              </a:rPr>
            </a:br>
            <a:r>
              <a:rPr lang="en-US" sz="1200" b="0" i="0" kern="1200" dirty="0" err="1" smtClean="0">
                <a:solidFill>
                  <a:schemeClr val="tx1"/>
                </a:solidFill>
                <a:effectLst/>
                <a:latin typeface="+mn-lt"/>
                <a:ea typeface="+mn-ea"/>
                <a:cs typeface="+mn-cs"/>
              </a:rPr>
              <a:t>lineNumber</a:t>
            </a:r>
            <a:r>
              <a:rPr lang="en-US" sz="1200" b="0" i="0" kern="1200" dirty="0" smtClean="0">
                <a:solidFill>
                  <a:schemeClr val="tx1"/>
                </a:solidFill>
                <a:effectLst/>
                <a:latin typeface="+mn-lt"/>
                <a:ea typeface="+mn-ea"/>
                <a:cs typeface="+mn-cs"/>
              </a:rPr>
              <a:t> (Mozilla)</a:t>
            </a:r>
            <a:br>
              <a:rPr lang="en-US" sz="1200" b="0" i="0" kern="1200" dirty="0" smtClean="0">
                <a:solidFill>
                  <a:schemeClr val="tx1"/>
                </a:solidFill>
                <a:effectLst/>
                <a:latin typeface="+mn-lt"/>
                <a:ea typeface="+mn-ea"/>
                <a:cs typeface="+mn-cs"/>
              </a:rPr>
            </a:br>
            <a:r>
              <a:rPr lang="en-US" sz="1200" b="0" i="0" kern="1200" dirty="0" err="1" smtClean="0">
                <a:solidFill>
                  <a:schemeClr val="tx1"/>
                </a:solidFill>
                <a:effectLst/>
                <a:latin typeface="+mn-lt"/>
                <a:ea typeface="+mn-ea"/>
                <a:cs typeface="+mn-cs"/>
              </a:rPr>
              <a:t>columnNumber</a:t>
            </a:r>
            <a:r>
              <a:rPr lang="en-US" sz="1200" b="0" i="0" kern="1200" dirty="0" smtClean="0">
                <a:solidFill>
                  <a:schemeClr val="tx1"/>
                </a:solidFill>
                <a:effectLst/>
                <a:latin typeface="+mn-lt"/>
                <a:ea typeface="+mn-ea"/>
                <a:cs typeface="+mn-cs"/>
              </a:rPr>
              <a:t> (Mozilla)</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stack (Mozilla)</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description (Microsoft)</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number (Microsoft)</a:t>
            </a:r>
          </a:p>
          <a:p>
            <a:r>
              <a:rPr lang="en-US" sz="1200" b="0" i="0" kern="1200" dirty="0" smtClean="0">
                <a:solidFill>
                  <a:schemeClr val="tx1"/>
                </a:solidFill>
                <a:effectLst/>
                <a:latin typeface="+mn-lt"/>
                <a:ea typeface="+mn-ea"/>
                <a:cs typeface="+mn-cs"/>
              </a:rPr>
              <a:t>Do not use these properties in public web sites. They will not work in all browsers.</a:t>
            </a:r>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4</a:t>
            </a:fld>
            <a:endParaRPr lang="en-US"/>
          </a:p>
        </p:txBody>
      </p:sp>
    </p:spTree>
    <p:extLst>
      <p:ext uri="{BB962C8B-B14F-4D97-AF65-F5344CB8AC3E}">
        <p14:creationId xmlns:p14="http://schemas.microsoft.com/office/powerpoint/2010/main" val="4212003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smtClean="0">
                <a:solidFill>
                  <a:schemeClr val="tx1"/>
                </a:solidFill>
                <a:effectLst/>
                <a:latin typeface="+mn-lt"/>
                <a:ea typeface="+mn-ea"/>
                <a:cs typeface="+mn-cs"/>
                <a:hlinkClick r:id="rId3"/>
              </a:rPr>
              <a:t>Custom error types</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You might want to define your own error types </a:t>
            </a:r>
            <a:r>
              <a:rPr lang="en-US" sz="1200" b="1" i="0" kern="1200" dirty="0" smtClean="0">
                <a:solidFill>
                  <a:schemeClr val="tx1"/>
                </a:solidFill>
                <a:effectLst/>
                <a:latin typeface="+mn-lt"/>
                <a:ea typeface="+mn-ea"/>
                <a:cs typeface="+mn-cs"/>
              </a:rPr>
              <a:t>deriving from Error to be able to throw new </a:t>
            </a:r>
            <a:r>
              <a:rPr lang="en-US" sz="1200" b="1" i="0" kern="1200" dirty="0" err="1" smtClean="0">
                <a:solidFill>
                  <a:schemeClr val="tx1"/>
                </a:solidFill>
                <a:effectLst/>
                <a:latin typeface="+mn-lt"/>
                <a:ea typeface="+mn-ea"/>
                <a:cs typeface="+mn-cs"/>
              </a:rPr>
              <a:t>MyError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and use </a:t>
            </a:r>
            <a:r>
              <a:rPr lang="en-US" sz="1200" b="0" i="0" kern="1200" dirty="0" err="1" smtClean="0">
                <a:solidFill>
                  <a:schemeClr val="tx1"/>
                </a:solidFill>
                <a:effectLst/>
                <a:latin typeface="+mn-lt"/>
                <a:ea typeface="+mn-ea"/>
                <a:cs typeface="+mn-cs"/>
              </a:rPr>
              <a:t>instanceof</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MyError</a:t>
            </a:r>
            <a:r>
              <a:rPr lang="en-US" sz="1200" b="0" i="0" kern="1200" dirty="0" smtClean="0">
                <a:solidFill>
                  <a:schemeClr val="tx1"/>
                </a:solidFill>
                <a:effectLst/>
                <a:latin typeface="+mn-lt"/>
                <a:ea typeface="+mn-ea"/>
                <a:cs typeface="+mn-cs"/>
              </a:rPr>
              <a:t> to check the kind of error in the exception handler.</a:t>
            </a:r>
          </a:p>
          <a:p>
            <a:r>
              <a:rPr lang="en-US" sz="1200" b="0" i="0" kern="1200" dirty="0" smtClean="0">
                <a:solidFill>
                  <a:schemeClr val="tx1"/>
                </a:solidFill>
                <a:effectLst/>
                <a:latin typeface="+mn-lt"/>
                <a:ea typeface="+mn-ea"/>
                <a:cs typeface="+mn-cs"/>
              </a:rPr>
              <a:t>This results in cleaner and more consistent error handling code.</a:t>
            </a:r>
          </a:p>
          <a:p>
            <a:endParaRPr lang="en-US" sz="1200" b="0" i="0" kern="1200" dirty="0" smtClean="0">
              <a:solidFill>
                <a:schemeClr val="tx1"/>
              </a:solidFill>
              <a:effectLst/>
              <a:latin typeface="+mn-lt"/>
              <a:ea typeface="+mn-ea"/>
              <a:cs typeface="+mn-cs"/>
            </a:endParaRPr>
          </a:p>
          <a:p>
            <a:endParaRPr lang="en-US" b="1" dirty="0" smtClean="0"/>
          </a:p>
          <a:p>
            <a:endParaRPr lang="en-US" b="1" dirty="0" smtClean="0"/>
          </a:p>
          <a:p>
            <a:endParaRPr lang="en-US" b="1" dirty="0" smtClean="0"/>
          </a:p>
          <a:p>
            <a:r>
              <a:rPr lang="en-US" b="1" dirty="0" err="1" smtClean="0"/>
              <a:t>LocalStorage</a:t>
            </a:r>
            <a:r>
              <a:rPr lang="en-US" b="1" dirty="0" smtClean="0"/>
              <a:t> Errors:</a:t>
            </a:r>
          </a:p>
          <a:p>
            <a:r>
              <a:rPr lang="en-US" dirty="0" smtClean="0"/>
              <a:t>• </a:t>
            </a:r>
            <a:r>
              <a:rPr lang="en-US" b="1" dirty="0" err="1" smtClean="0"/>
              <a:t>LocalStorage</a:t>
            </a:r>
            <a:r>
              <a:rPr lang="en-US" b="1" dirty="0" smtClean="0"/>
              <a:t> for the domain could already</a:t>
            </a:r>
          </a:p>
          <a:p>
            <a:r>
              <a:rPr lang="en-US" b="1" dirty="0" smtClean="0"/>
              <a:t>be full</a:t>
            </a:r>
          </a:p>
          <a:p>
            <a:r>
              <a:rPr lang="en-US" dirty="0" smtClean="0"/>
              <a:t>• </a:t>
            </a:r>
            <a:r>
              <a:rPr lang="en-US" b="1" dirty="0" smtClean="0"/>
              <a:t>User may have disabled data storage</a:t>
            </a:r>
          </a:p>
          <a:p>
            <a:r>
              <a:rPr lang="en-US" dirty="0" smtClean="0"/>
              <a:t>• </a:t>
            </a:r>
            <a:r>
              <a:rPr lang="en-US" b="1" dirty="0" smtClean="0"/>
              <a:t>These are realistic errors any app using</a:t>
            </a:r>
          </a:p>
          <a:p>
            <a:r>
              <a:rPr lang="en-US" b="1" dirty="0" err="1" smtClean="0"/>
              <a:t>LocalStorage</a:t>
            </a:r>
            <a:r>
              <a:rPr lang="en-US" b="1" dirty="0" smtClean="0"/>
              <a:t> should handle</a:t>
            </a:r>
          </a:p>
          <a:p>
            <a:endParaRPr lang="en-US" b="1" dirty="0" smtClean="0"/>
          </a:p>
          <a:p>
            <a:endParaRPr lang="en-US" dirty="0" smtClean="0"/>
          </a:p>
          <a:p>
            <a:r>
              <a:rPr lang="en-US" sz="1200" b="1" dirty="0" smtClean="0">
                <a:solidFill>
                  <a:srgbClr val="130F25"/>
                </a:solidFill>
                <a:latin typeface="PSTTCommons-Bold"/>
              </a:rPr>
              <a:t>Returning Errors</a:t>
            </a:r>
          </a:p>
          <a:p>
            <a:endParaRPr lang="en-US" sz="1200" dirty="0" smtClean="0">
              <a:solidFill>
                <a:srgbClr val="FF1675"/>
              </a:solidFill>
              <a:latin typeface="ArialMT"/>
            </a:endParaRPr>
          </a:p>
          <a:p>
            <a:r>
              <a:rPr lang="en-US" sz="1200" dirty="0" smtClean="0">
                <a:solidFill>
                  <a:srgbClr val="FF1675"/>
                </a:solidFill>
                <a:latin typeface="ArialMT"/>
              </a:rPr>
              <a:t>• </a:t>
            </a:r>
            <a:r>
              <a:rPr lang="en-US" sz="1200" b="1" dirty="0" smtClean="0">
                <a:solidFill>
                  <a:srgbClr val="FF1675"/>
                </a:solidFill>
                <a:latin typeface="PSTTCommons-DemiBold"/>
              </a:rPr>
              <a:t>Predictable control flow through the application</a:t>
            </a:r>
          </a:p>
          <a:p>
            <a:r>
              <a:rPr lang="en-US" sz="1200" dirty="0" smtClean="0">
                <a:solidFill>
                  <a:srgbClr val="FF1675"/>
                </a:solidFill>
                <a:latin typeface="ArialMT"/>
              </a:rPr>
              <a:t>• </a:t>
            </a:r>
            <a:r>
              <a:rPr lang="en-US" sz="1200" b="1" dirty="0" smtClean="0">
                <a:solidFill>
                  <a:srgbClr val="FF1675"/>
                </a:solidFill>
                <a:latin typeface="PSTTCommons-DemiBold"/>
              </a:rPr>
              <a:t>Simplifies code by avoiding many instances of try / catch</a:t>
            </a:r>
          </a:p>
          <a:p>
            <a:r>
              <a:rPr lang="en-US" sz="1200" dirty="0" smtClean="0">
                <a:solidFill>
                  <a:srgbClr val="FF1675"/>
                </a:solidFill>
                <a:latin typeface="ArialMT"/>
              </a:rPr>
              <a:t>• </a:t>
            </a:r>
            <a:r>
              <a:rPr lang="en-US" sz="1200" b="1" dirty="0" smtClean="0">
                <a:solidFill>
                  <a:srgbClr val="FF1675"/>
                </a:solidFill>
                <a:latin typeface="PSTTCommons-DemiBold"/>
              </a:rPr>
              <a:t>Avoids unhandled errors if you forget to catch them</a:t>
            </a:r>
            <a:endParaRPr lang="en-US" sz="1200" dirty="0" smtClean="0"/>
          </a:p>
          <a:p>
            <a:endParaRPr lang="en-US" dirty="0" smtClean="0"/>
          </a:p>
          <a:p>
            <a:endParaRPr lang="en-US" dirty="0" smtClean="0"/>
          </a:p>
          <a:p>
            <a:r>
              <a:rPr lang="en-US" sz="1200" b="1" dirty="0" smtClean="0">
                <a:solidFill>
                  <a:srgbClr val="130F25"/>
                </a:solidFill>
                <a:latin typeface="PSTTCommons-Bold"/>
              </a:rPr>
              <a:t>Throwing Errors</a:t>
            </a:r>
          </a:p>
          <a:p>
            <a:r>
              <a:rPr lang="en-US" sz="1200" dirty="0" smtClean="0">
                <a:solidFill>
                  <a:srgbClr val="FF1675"/>
                </a:solidFill>
                <a:latin typeface="ArialMT"/>
              </a:rPr>
              <a:t>• </a:t>
            </a:r>
            <a:r>
              <a:rPr lang="en-US" sz="1200" b="1" dirty="0" smtClean="0">
                <a:solidFill>
                  <a:srgbClr val="FF1675"/>
                </a:solidFill>
                <a:latin typeface="PSTTCommons-DemiBold"/>
              </a:rPr>
              <a:t>Clear separation between error code and "normal" code</a:t>
            </a:r>
          </a:p>
          <a:p>
            <a:r>
              <a:rPr lang="en-US" sz="1200" dirty="0" smtClean="0">
                <a:solidFill>
                  <a:srgbClr val="FF1675"/>
                </a:solidFill>
                <a:latin typeface="ArialMT"/>
              </a:rPr>
              <a:t>• </a:t>
            </a:r>
            <a:r>
              <a:rPr lang="en-US" sz="1200" b="1" dirty="0" smtClean="0">
                <a:solidFill>
                  <a:srgbClr val="FF1675"/>
                </a:solidFill>
                <a:latin typeface="PSTTCommons-DemiBold"/>
              </a:rPr>
              <a:t>Reduced checks for whether something returned by a function is an error or not</a:t>
            </a:r>
          </a:p>
          <a:p>
            <a:r>
              <a:rPr lang="en-US" sz="1200" dirty="0" smtClean="0">
                <a:solidFill>
                  <a:srgbClr val="FF1675"/>
                </a:solidFill>
                <a:latin typeface="ArialMT"/>
              </a:rPr>
              <a:t>• </a:t>
            </a:r>
            <a:r>
              <a:rPr lang="en-US" sz="1200" b="1" dirty="0" smtClean="0">
                <a:solidFill>
                  <a:srgbClr val="FF1675"/>
                </a:solidFill>
                <a:latin typeface="PSTTCommons-DemiBold"/>
              </a:rPr>
              <a:t>Errors can be caught at any level, without manually propagating through multiple functions</a:t>
            </a:r>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5</a:t>
            </a:fld>
            <a:endParaRPr lang="en-US"/>
          </a:p>
        </p:txBody>
      </p:sp>
    </p:spTree>
    <p:extLst>
      <p:ext uri="{BB962C8B-B14F-4D97-AF65-F5344CB8AC3E}">
        <p14:creationId xmlns:p14="http://schemas.microsoft.com/office/powerpoint/2010/main" val="22044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solidFill>
                  <a:srgbClr val="FF0000"/>
                </a:solidFill>
              </a:rPr>
              <a:t>https://howtodoinjava.com/java9/java9-new-features-enhancements/#stack-walking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defines an efficient standard API for </a:t>
            </a:r>
            <a:r>
              <a:rPr lang="en-US" sz="1200" b="0" i="0" u="none" strike="noStrike" kern="1200" dirty="0" smtClean="0">
                <a:solidFill>
                  <a:schemeClr val="tx1"/>
                </a:solidFill>
                <a:effectLst/>
                <a:latin typeface="+mn-lt"/>
                <a:ea typeface="+mn-ea"/>
                <a:cs typeface="+mn-cs"/>
                <a:hlinkClick r:id="rId3"/>
              </a:rPr>
              <a:t>stack walking</a:t>
            </a:r>
            <a:r>
              <a:rPr lang="en-US" sz="1200" b="0" i="0" kern="1200" dirty="0" smtClean="0">
                <a:solidFill>
                  <a:schemeClr val="tx1"/>
                </a:solidFill>
                <a:effectLst/>
                <a:latin typeface="+mn-lt"/>
                <a:ea typeface="+mn-ea"/>
                <a:cs typeface="+mn-cs"/>
              </a:rPr>
              <a:t> that allows the easy filtering of and lazy access to </a:t>
            </a:r>
            <a:r>
              <a:rPr lang="en-US" sz="1200" b="0" i="0" u="none" strike="noStrike" kern="1200" dirty="0" smtClean="0">
                <a:solidFill>
                  <a:schemeClr val="tx1"/>
                </a:solidFill>
                <a:effectLst/>
                <a:latin typeface="+mn-lt"/>
                <a:ea typeface="+mn-ea"/>
                <a:cs typeface="+mn-cs"/>
                <a:hlinkClick r:id="rId4"/>
              </a:rPr>
              <a:t>stack trace</a:t>
            </a:r>
            <a:r>
              <a:rPr lang="en-US" sz="1200" b="0" i="0" kern="1200" dirty="0" smtClean="0">
                <a:solidFill>
                  <a:schemeClr val="tx1"/>
                </a:solidFill>
                <a:effectLst/>
                <a:latin typeface="+mn-lt"/>
                <a:ea typeface="+mn-ea"/>
                <a:cs typeface="+mn-cs"/>
              </a:rPr>
              <a:t> information.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This API supports short walks that stop at a stack frame matching given criteria, and also supports long walks that traverse the entire stack.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solidFill>
                  <a:srgbClr val="FF0000"/>
                </a:solidFill>
              </a:rPr>
              <a:t>Finally block</a:t>
            </a:r>
            <a:r>
              <a:rPr lang="en-US" b="1" dirty="0" smtClean="0"/>
              <a:t> - </a:t>
            </a:r>
            <a:r>
              <a:rPr lang="en-US" altLang="en-US" sz="1600" dirty="0" smtClean="0">
                <a:solidFill>
                  <a:srgbClr val="000000"/>
                </a:solidFill>
                <a:latin typeface="Arial" panose="020B0604020202020204" pitchFamily="34" charset="0"/>
                <a:cs typeface="Arial" panose="020B0604020202020204" pitchFamily="34" charset="0"/>
              </a:rPr>
              <a:t> </a:t>
            </a:r>
            <a:r>
              <a:rPr lang="en-US" altLang="en-US" dirty="0" smtClean="0"/>
              <a:t>always executed and for </a:t>
            </a:r>
            <a:r>
              <a:rPr lang="en-US" dirty="0" smtClean="0"/>
              <a:t>preventing resource leaks (does cleanup </a:t>
            </a:r>
            <a:r>
              <a:rPr lang="en-US" altLang="en-US" dirty="0" smtClean="0"/>
              <a:t>accidentally bypassed by  return, continue, or break</a:t>
            </a:r>
            <a:r>
              <a:rPr lang="en-US" dirty="0" smtClean="0"/>
              <a:t>).   Good practice is Not use </a:t>
            </a:r>
            <a:r>
              <a:rPr lang="en-US" b="1" dirty="0" smtClean="0"/>
              <a:t>RETURN</a:t>
            </a:r>
            <a:r>
              <a:rPr lang="en-US" dirty="0" smtClean="0"/>
              <a:t> in finally.</a:t>
            </a:r>
            <a:endParaRPr lang="en-US" sz="1600" dirty="0" smtClean="0">
              <a:solidFill>
                <a:srgbClr val="00B050"/>
              </a:solidFill>
            </a:endParaRPr>
          </a:p>
          <a:p>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Now that we have seen the difference in code </a:t>
            </a:r>
            <a:r>
              <a:rPr lang="en-US" sz="1200" b="1" i="0" kern="1200" dirty="0" smtClean="0">
                <a:solidFill>
                  <a:schemeClr val="tx1"/>
                </a:solidFill>
                <a:effectLst/>
                <a:latin typeface="+mn-lt"/>
                <a:ea typeface="+mn-ea"/>
                <a:cs typeface="+mn-cs"/>
              </a:rPr>
              <a:t>between checked and unchecked exceptions</a:t>
            </a:r>
            <a:r>
              <a:rPr lang="en-US" sz="1200" b="0" i="0" kern="1200" dirty="0" smtClean="0">
                <a:solidFill>
                  <a:schemeClr val="tx1"/>
                </a:solidFill>
                <a:effectLst/>
                <a:latin typeface="+mn-lt"/>
                <a:ea typeface="+mn-ea"/>
                <a:cs typeface="+mn-cs"/>
              </a:rPr>
              <a:t>, let's dive into the arguments for and against both.</a:t>
            </a:r>
          </a:p>
          <a:p>
            <a:r>
              <a:rPr lang="en-US" sz="1200" b="0" i="0" kern="1200" dirty="0" smtClean="0">
                <a:solidFill>
                  <a:schemeClr val="tx1"/>
                </a:solidFill>
                <a:effectLst/>
                <a:latin typeface="+mn-lt"/>
                <a:ea typeface="+mn-ea"/>
                <a:cs typeface="+mn-cs"/>
              </a:rPr>
              <a:t>Some Java books(*) covering exceptions advice you to use checked exceptions for all errors the application </a:t>
            </a:r>
            <a:r>
              <a:rPr lang="en-US" sz="1200" b="1" i="0" kern="1200" dirty="0" smtClean="0">
                <a:solidFill>
                  <a:schemeClr val="tx1"/>
                </a:solidFill>
                <a:effectLst/>
                <a:latin typeface="+mn-lt"/>
                <a:ea typeface="+mn-ea"/>
                <a:cs typeface="+mn-cs"/>
              </a:rPr>
              <a:t>can recover from</a:t>
            </a:r>
            <a:r>
              <a:rPr lang="en-US" sz="1200" b="0" i="0" kern="1200" dirty="0" smtClean="0">
                <a:solidFill>
                  <a:schemeClr val="tx1"/>
                </a:solidFill>
                <a:effectLst/>
                <a:latin typeface="+mn-lt"/>
                <a:ea typeface="+mn-ea"/>
                <a:cs typeface="+mn-cs"/>
              </a:rPr>
              <a:t>, and unchecked exceptions for the </a:t>
            </a:r>
          </a:p>
          <a:p>
            <a:r>
              <a:rPr lang="en-US" sz="1200" b="0" i="0" kern="1200" dirty="0" smtClean="0">
                <a:solidFill>
                  <a:schemeClr val="tx1"/>
                </a:solidFill>
                <a:effectLst/>
                <a:latin typeface="+mn-lt"/>
                <a:ea typeface="+mn-ea"/>
                <a:cs typeface="+mn-cs"/>
              </a:rPr>
              <a:t>errors the application </a:t>
            </a:r>
            <a:r>
              <a:rPr lang="en-US" sz="1200" b="1" i="0" kern="1200" dirty="0" smtClean="0">
                <a:solidFill>
                  <a:schemeClr val="tx1"/>
                </a:solidFill>
                <a:effectLst/>
                <a:latin typeface="+mn-lt"/>
                <a:ea typeface="+mn-ea"/>
                <a:cs typeface="+mn-cs"/>
              </a:rPr>
              <a:t>cannot recover from</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 reality most </a:t>
            </a:r>
            <a:r>
              <a:rPr lang="en-US" sz="1200" b="1" i="0" kern="1200" dirty="0" smtClean="0">
                <a:solidFill>
                  <a:schemeClr val="tx1"/>
                </a:solidFill>
                <a:effectLst/>
                <a:latin typeface="+mn-lt"/>
                <a:ea typeface="+mn-ea"/>
                <a:cs typeface="+mn-cs"/>
              </a:rPr>
              <a:t>applications will have to recover from pretty much all exceptions including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NullPointerException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IllegalArgumentExceptions</a:t>
            </a:r>
            <a:r>
              <a:rPr lang="en-US" sz="1200" b="0" i="0" kern="1200" dirty="0" smtClean="0">
                <a:solidFill>
                  <a:schemeClr val="tx1"/>
                </a:solidFill>
                <a:effectLst/>
                <a:latin typeface="+mn-lt"/>
                <a:ea typeface="+mn-ea"/>
                <a:cs typeface="+mn-cs"/>
              </a:rPr>
              <a:t> and many other unchecked exceptions. The action / transaction that failed will be aborted but the application has to stay alive and be ready to serve the next action / transaction. The only time it is normally legal to shut down an application is during startup. For instance, if a configuration file is missing and the application cannot do anything sensible without it, then it is legal to shut down the application.</a:t>
            </a: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The Three Kinds of Exceptions</a:t>
            </a:r>
          </a:p>
          <a:p>
            <a:r>
              <a:rPr lang="en-US" sz="1200" b="0" i="0" kern="1200" dirty="0" smtClean="0">
                <a:solidFill>
                  <a:schemeClr val="tx1"/>
                </a:solidFill>
                <a:effectLst/>
                <a:latin typeface="+mn-lt"/>
                <a:ea typeface="+mn-ea"/>
                <a:cs typeface="+mn-cs"/>
              </a:rPr>
              <a:t>The first kind of exception is the </a:t>
            </a:r>
            <a:r>
              <a:rPr lang="en-US" sz="1200" b="0" i="1" kern="1200" dirty="0" smtClean="0">
                <a:solidFill>
                  <a:schemeClr val="tx1"/>
                </a:solidFill>
                <a:effectLst/>
                <a:latin typeface="+mn-lt"/>
                <a:ea typeface="+mn-ea"/>
                <a:cs typeface="+mn-cs"/>
              </a:rPr>
              <a:t>checked exception</a:t>
            </a:r>
            <a:r>
              <a:rPr lang="en-US" sz="1200" b="0" i="0" kern="1200" dirty="0" smtClean="0">
                <a:solidFill>
                  <a:schemeClr val="tx1"/>
                </a:solidFill>
                <a:effectLst/>
                <a:latin typeface="+mn-lt"/>
                <a:ea typeface="+mn-ea"/>
                <a:cs typeface="+mn-cs"/>
              </a:rPr>
              <a:t>. These are exceptional conditions that a well-written application should anticipate and recover from. For example, suppose an application prompts a user for an input file name, then opens the file by passing the name to the constructor for </a:t>
            </a:r>
            <a:r>
              <a:rPr lang="en-US" sz="1200" b="0" i="0" kern="1200" dirty="0" err="1" smtClean="0">
                <a:solidFill>
                  <a:schemeClr val="tx1"/>
                </a:solidFill>
                <a:effectLst/>
                <a:latin typeface="+mn-lt"/>
                <a:ea typeface="+mn-ea"/>
                <a:cs typeface="+mn-cs"/>
              </a:rPr>
              <a:t>java.io.FileReader</a:t>
            </a:r>
            <a:r>
              <a:rPr lang="en-US" sz="1200" b="0" i="0" kern="1200" dirty="0" smtClean="0">
                <a:solidFill>
                  <a:schemeClr val="tx1"/>
                </a:solidFill>
                <a:effectLst/>
                <a:latin typeface="+mn-lt"/>
                <a:ea typeface="+mn-ea"/>
                <a:cs typeface="+mn-cs"/>
              </a:rPr>
              <a:t>. Normally, the user provides the name of an existing, readable file, so the construction of the </a:t>
            </a:r>
            <a:r>
              <a:rPr lang="en-US" sz="1200" b="0" i="0" kern="1200" dirty="0" err="1" smtClean="0">
                <a:solidFill>
                  <a:schemeClr val="tx1"/>
                </a:solidFill>
                <a:effectLst/>
                <a:latin typeface="+mn-lt"/>
                <a:ea typeface="+mn-ea"/>
                <a:cs typeface="+mn-cs"/>
              </a:rPr>
              <a:t>FileReader</a:t>
            </a:r>
            <a:r>
              <a:rPr lang="en-US" sz="1200" b="0" i="0" kern="1200" dirty="0" smtClean="0">
                <a:solidFill>
                  <a:schemeClr val="tx1"/>
                </a:solidFill>
                <a:effectLst/>
                <a:latin typeface="+mn-lt"/>
                <a:ea typeface="+mn-ea"/>
                <a:cs typeface="+mn-cs"/>
              </a:rPr>
              <a:t> object succeeds, and the execution of the application proceeds normally. But sometimes the user supplies the name of a nonexistent file, and the constructor throws </a:t>
            </a:r>
            <a:r>
              <a:rPr lang="en-US" sz="1200" b="0" i="0" kern="1200" dirty="0" err="1" smtClean="0">
                <a:solidFill>
                  <a:schemeClr val="tx1"/>
                </a:solidFill>
                <a:effectLst/>
                <a:latin typeface="+mn-lt"/>
                <a:ea typeface="+mn-ea"/>
                <a:cs typeface="+mn-cs"/>
              </a:rPr>
              <a:t>java.io.FileNotFoundException</a:t>
            </a:r>
            <a:r>
              <a:rPr lang="en-US" sz="1200" b="0" i="0" kern="1200" dirty="0" smtClean="0">
                <a:solidFill>
                  <a:schemeClr val="tx1"/>
                </a:solidFill>
                <a:effectLst/>
                <a:latin typeface="+mn-lt"/>
                <a:ea typeface="+mn-ea"/>
                <a:cs typeface="+mn-cs"/>
              </a:rPr>
              <a:t>. A well-written program will catch this exception and notify the user of the mistake, possibly prompting for a corrected file name.</a:t>
            </a:r>
          </a:p>
          <a:p>
            <a:r>
              <a:rPr lang="en-US" sz="1200" b="0" i="0" kern="1200" dirty="0" smtClean="0">
                <a:solidFill>
                  <a:schemeClr val="tx1"/>
                </a:solidFill>
                <a:effectLst/>
                <a:latin typeface="+mn-lt"/>
                <a:ea typeface="+mn-ea"/>
                <a:cs typeface="+mn-cs"/>
              </a:rPr>
              <a:t>Checked exceptions </a:t>
            </a:r>
            <a:r>
              <a:rPr lang="en-US" sz="1200" b="0" i="1" kern="1200" dirty="0" smtClean="0">
                <a:solidFill>
                  <a:schemeClr val="tx1"/>
                </a:solidFill>
                <a:effectLst/>
                <a:latin typeface="+mn-lt"/>
                <a:ea typeface="+mn-ea"/>
                <a:cs typeface="+mn-cs"/>
              </a:rPr>
              <a:t>are subject</a:t>
            </a:r>
            <a:r>
              <a:rPr lang="en-US" sz="1200" b="0" i="0" kern="1200" dirty="0" smtClean="0">
                <a:solidFill>
                  <a:schemeClr val="tx1"/>
                </a:solidFill>
                <a:effectLst/>
                <a:latin typeface="+mn-lt"/>
                <a:ea typeface="+mn-ea"/>
                <a:cs typeface="+mn-cs"/>
              </a:rPr>
              <a:t> to the Catch or Specify Requirement. All exceptions are checked exceptions, except for those indicated by Error, </a:t>
            </a:r>
            <a:r>
              <a:rPr lang="en-US" sz="1200" b="0" i="0" kern="1200" dirty="0" err="1" smtClean="0">
                <a:solidFill>
                  <a:schemeClr val="tx1"/>
                </a:solidFill>
                <a:effectLst/>
                <a:latin typeface="+mn-lt"/>
                <a:ea typeface="+mn-ea"/>
                <a:cs typeface="+mn-cs"/>
              </a:rPr>
              <a:t>RuntimeException</a:t>
            </a:r>
            <a:r>
              <a:rPr lang="en-US" sz="1200" b="0" i="0" kern="1200" dirty="0" smtClean="0">
                <a:solidFill>
                  <a:schemeClr val="tx1"/>
                </a:solidFill>
                <a:effectLst/>
                <a:latin typeface="+mn-lt"/>
                <a:ea typeface="+mn-ea"/>
                <a:cs typeface="+mn-cs"/>
              </a:rPr>
              <a:t>, and their subclasses.</a:t>
            </a:r>
          </a:p>
          <a:p>
            <a:r>
              <a:rPr lang="en-US" sz="1200" b="0" i="0" kern="1200" dirty="0" smtClean="0">
                <a:solidFill>
                  <a:schemeClr val="tx1"/>
                </a:solidFill>
                <a:effectLst/>
                <a:latin typeface="+mn-lt"/>
                <a:ea typeface="+mn-ea"/>
                <a:cs typeface="+mn-cs"/>
              </a:rPr>
              <a:t>The second kind of exception is the </a:t>
            </a:r>
            <a:r>
              <a:rPr lang="en-US" sz="1200" b="0" i="1" kern="1200" dirty="0" smtClean="0">
                <a:solidFill>
                  <a:schemeClr val="tx1"/>
                </a:solidFill>
                <a:effectLst/>
                <a:latin typeface="+mn-lt"/>
                <a:ea typeface="+mn-ea"/>
                <a:cs typeface="+mn-cs"/>
              </a:rPr>
              <a:t>error</a:t>
            </a:r>
            <a:r>
              <a:rPr lang="en-US" sz="1200" b="0" i="0" kern="1200" dirty="0" smtClean="0">
                <a:solidFill>
                  <a:schemeClr val="tx1"/>
                </a:solidFill>
                <a:effectLst/>
                <a:latin typeface="+mn-lt"/>
                <a:ea typeface="+mn-ea"/>
                <a:cs typeface="+mn-cs"/>
              </a:rPr>
              <a:t>. These are exceptional conditions that are external to the application, and that the application usually cannot anticipate or recover from. For example, suppose that an application successfully opens a file for input, but is unable to read the file because of a hardware or system malfunction. The unsuccessful read will throw </a:t>
            </a:r>
            <a:r>
              <a:rPr lang="en-US" sz="1200" b="0" i="0" kern="1200" dirty="0" err="1" smtClean="0">
                <a:solidFill>
                  <a:schemeClr val="tx1"/>
                </a:solidFill>
                <a:effectLst/>
                <a:latin typeface="+mn-lt"/>
                <a:ea typeface="+mn-ea"/>
                <a:cs typeface="+mn-cs"/>
              </a:rPr>
              <a:t>java.io.IOError</a:t>
            </a:r>
            <a:r>
              <a:rPr lang="en-US" sz="1200" b="0" i="0" kern="1200" dirty="0" smtClean="0">
                <a:solidFill>
                  <a:schemeClr val="tx1"/>
                </a:solidFill>
                <a:effectLst/>
                <a:latin typeface="+mn-lt"/>
                <a:ea typeface="+mn-ea"/>
                <a:cs typeface="+mn-cs"/>
              </a:rPr>
              <a:t>. An application might choose to catch this exception, in order to notify the user of the problem — but it also might make sense for the program to print a stack trace and exit.</a:t>
            </a:r>
          </a:p>
          <a:p>
            <a:r>
              <a:rPr lang="en-US" sz="1200" b="0" i="0" kern="1200" dirty="0" smtClean="0">
                <a:solidFill>
                  <a:schemeClr val="tx1"/>
                </a:solidFill>
                <a:effectLst/>
                <a:latin typeface="+mn-lt"/>
                <a:ea typeface="+mn-ea"/>
                <a:cs typeface="+mn-cs"/>
              </a:rPr>
              <a:t>Errors </a:t>
            </a:r>
            <a:r>
              <a:rPr lang="en-US" sz="1200" b="0" i="1" kern="1200" dirty="0" smtClean="0">
                <a:solidFill>
                  <a:schemeClr val="tx1"/>
                </a:solidFill>
                <a:effectLst/>
                <a:latin typeface="+mn-lt"/>
                <a:ea typeface="+mn-ea"/>
                <a:cs typeface="+mn-cs"/>
              </a:rPr>
              <a:t>are not subject</a:t>
            </a:r>
            <a:r>
              <a:rPr lang="en-US" sz="1200" b="0" i="0" kern="1200" dirty="0" smtClean="0">
                <a:solidFill>
                  <a:schemeClr val="tx1"/>
                </a:solidFill>
                <a:effectLst/>
                <a:latin typeface="+mn-lt"/>
                <a:ea typeface="+mn-ea"/>
                <a:cs typeface="+mn-cs"/>
              </a:rPr>
              <a:t> to the Catch or Specify Requirement. Errors are those exceptions indicated by Error and its subclasses.</a:t>
            </a:r>
          </a:p>
          <a:p>
            <a:r>
              <a:rPr lang="en-US" sz="1200" b="0" i="0" kern="1200" dirty="0" smtClean="0">
                <a:solidFill>
                  <a:schemeClr val="tx1"/>
                </a:solidFill>
                <a:effectLst/>
                <a:latin typeface="+mn-lt"/>
                <a:ea typeface="+mn-ea"/>
                <a:cs typeface="+mn-cs"/>
              </a:rPr>
              <a:t>The third kind of exception is the </a:t>
            </a:r>
            <a:r>
              <a:rPr lang="en-US" sz="1200" b="0" i="1" kern="1200" dirty="0" smtClean="0">
                <a:solidFill>
                  <a:schemeClr val="tx1"/>
                </a:solidFill>
                <a:effectLst/>
                <a:latin typeface="+mn-lt"/>
                <a:ea typeface="+mn-ea"/>
                <a:cs typeface="+mn-cs"/>
              </a:rPr>
              <a:t>runtime exception</a:t>
            </a:r>
            <a:r>
              <a:rPr lang="en-US" sz="1200" b="0" i="0" kern="1200" dirty="0" smtClean="0">
                <a:solidFill>
                  <a:schemeClr val="tx1"/>
                </a:solidFill>
                <a:effectLst/>
                <a:latin typeface="+mn-lt"/>
                <a:ea typeface="+mn-ea"/>
                <a:cs typeface="+mn-cs"/>
              </a:rPr>
              <a:t>. These are exceptional conditions that are internal to the application, and that the application usually cannot anticipate or recover from. These usually indicate programming bugs, such as logic errors or improper use of an API. For example, consider the application described previously that passes a file name to the constructor for </a:t>
            </a:r>
            <a:r>
              <a:rPr lang="en-US" sz="1200" b="0" i="0" kern="1200" dirty="0" err="1" smtClean="0">
                <a:solidFill>
                  <a:schemeClr val="tx1"/>
                </a:solidFill>
                <a:effectLst/>
                <a:latin typeface="+mn-lt"/>
                <a:ea typeface="+mn-ea"/>
                <a:cs typeface="+mn-cs"/>
              </a:rPr>
              <a:t>FileReader</a:t>
            </a:r>
            <a:r>
              <a:rPr lang="en-US" sz="1200" b="0" i="0" kern="1200" dirty="0" smtClean="0">
                <a:solidFill>
                  <a:schemeClr val="tx1"/>
                </a:solidFill>
                <a:effectLst/>
                <a:latin typeface="+mn-lt"/>
                <a:ea typeface="+mn-ea"/>
                <a:cs typeface="+mn-cs"/>
              </a:rPr>
              <a:t>. If a logic error causes a null to be passed to the constructor, the constructor will throw </a:t>
            </a:r>
            <a:r>
              <a:rPr lang="en-US" sz="1200" b="0" i="0" kern="1200" dirty="0" err="1" smtClean="0">
                <a:solidFill>
                  <a:schemeClr val="tx1"/>
                </a:solidFill>
                <a:effectLst/>
                <a:latin typeface="+mn-lt"/>
                <a:ea typeface="+mn-ea"/>
                <a:cs typeface="+mn-cs"/>
              </a:rPr>
              <a:t>NullPointerException</a:t>
            </a:r>
            <a:r>
              <a:rPr lang="en-US" sz="1200" b="0" i="0" kern="1200" dirty="0" smtClean="0">
                <a:solidFill>
                  <a:schemeClr val="tx1"/>
                </a:solidFill>
                <a:effectLst/>
                <a:latin typeface="+mn-lt"/>
                <a:ea typeface="+mn-ea"/>
                <a:cs typeface="+mn-cs"/>
              </a:rPr>
              <a:t>. The application can catch this exception, but it probably makes more sense to eliminate the bug that caused the exception to occur.</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However, in this example, if the methods </a:t>
            </a:r>
            <a:r>
              <a:rPr lang="en-US" dirty="0" err="1" smtClean="0"/>
              <a:t>readLine</a:t>
            </a:r>
            <a:r>
              <a:rPr lang="en-US" sz="1200" b="0" i="0" kern="1200" dirty="0" smtClean="0">
                <a:solidFill>
                  <a:schemeClr val="tx1"/>
                </a:solidFill>
                <a:effectLst/>
                <a:latin typeface="+mn-lt"/>
                <a:ea typeface="+mn-ea"/>
                <a:cs typeface="+mn-cs"/>
              </a:rPr>
              <a:t> and </a:t>
            </a:r>
            <a:r>
              <a:rPr lang="en-US" dirty="0" smtClean="0"/>
              <a:t>close</a:t>
            </a:r>
            <a:r>
              <a:rPr lang="en-US" sz="1200" b="0" i="0" kern="1200" dirty="0" smtClean="0">
                <a:solidFill>
                  <a:schemeClr val="tx1"/>
                </a:solidFill>
                <a:effectLst/>
                <a:latin typeface="+mn-lt"/>
                <a:ea typeface="+mn-ea"/>
                <a:cs typeface="+mn-cs"/>
              </a:rPr>
              <a:t> both throw exceptions, then the method </a:t>
            </a:r>
            <a:r>
              <a:rPr lang="en-US" dirty="0" err="1" smtClean="0"/>
              <a:t>readFirstLineFromFileWithFinallyBlock</a:t>
            </a:r>
            <a:r>
              <a:rPr lang="en-US" sz="1200" b="0" i="0" kern="1200" dirty="0" smtClean="0">
                <a:solidFill>
                  <a:schemeClr val="tx1"/>
                </a:solidFill>
                <a:effectLst/>
                <a:latin typeface="+mn-lt"/>
                <a:ea typeface="+mn-ea"/>
                <a:cs typeface="+mn-cs"/>
              </a:rPr>
              <a:t> throws the exception thrown from the </a:t>
            </a:r>
            <a:r>
              <a:rPr lang="en-US" dirty="0" smtClean="0"/>
              <a:t>finally</a:t>
            </a:r>
            <a:r>
              <a:rPr lang="en-US" sz="1200" b="0" i="0" kern="1200" dirty="0" smtClean="0">
                <a:solidFill>
                  <a:schemeClr val="tx1"/>
                </a:solidFill>
                <a:effectLst/>
                <a:latin typeface="+mn-lt"/>
                <a:ea typeface="+mn-ea"/>
                <a:cs typeface="+mn-cs"/>
              </a:rPr>
              <a:t> block; the exception thrown from the </a:t>
            </a:r>
            <a:r>
              <a:rPr lang="en-US" dirty="0" smtClean="0"/>
              <a:t>try</a:t>
            </a:r>
            <a:r>
              <a:rPr lang="en-US" sz="1200" b="0" i="0" kern="1200" dirty="0" smtClean="0">
                <a:solidFill>
                  <a:schemeClr val="tx1"/>
                </a:solidFill>
                <a:effectLst/>
                <a:latin typeface="+mn-lt"/>
                <a:ea typeface="+mn-ea"/>
                <a:cs typeface="+mn-cs"/>
              </a:rPr>
              <a:t> block is </a:t>
            </a:r>
            <a:r>
              <a:rPr lang="en-US" sz="1200" b="1" i="0" kern="1200" dirty="0" smtClean="0">
                <a:solidFill>
                  <a:schemeClr val="tx1"/>
                </a:solidFill>
                <a:effectLst/>
                <a:latin typeface="+mn-lt"/>
                <a:ea typeface="+mn-ea"/>
                <a:cs typeface="+mn-cs"/>
              </a:rPr>
              <a:t>suppressed</a:t>
            </a:r>
            <a:r>
              <a:rPr lang="en-US" sz="1200" b="0" i="0" kern="1200" dirty="0" smtClean="0">
                <a:solidFill>
                  <a:schemeClr val="tx1"/>
                </a:solidFill>
                <a:effectLst/>
                <a:latin typeface="+mn-lt"/>
                <a:ea typeface="+mn-ea"/>
                <a:cs typeface="+mn-cs"/>
              </a:rPr>
              <a:t>. </a:t>
            </a:r>
            <a:r>
              <a:rPr lang="en-US" sz="1200" dirty="0" smtClean="0"/>
              <a:t>Since Java SE 7 suppressed exceptions </a:t>
            </a:r>
            <a:r>
              <a:rPr lang="en-US" dirty="0" err="1" smtClean="0"/>
              <a:t>Throwable.getSuppressed</a:t>
            </a:r>
            <a:r>
              <a:rPr lang="en-US" sz="1200" b="0" i="0" kern="1200" dirty="0" smtClean="0">
                <a:solidFill>
                  <a:schemeClr val="tx1"/>
                </a:solidFill>
                <a:effectLst/>
                <a:latin typeface="+mn-lt"/>
                <a:ea typeface="+mn-ea"/>
                <a:cs typeface="+mn-cs"/>
              </a:rPr>
              <a:t> method.</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You can retrieve these suppressed exceptions by calling the </a:t>
            </a:r>
            <a:r>
              <a:rPr lang="en-US" dirty="0" err="1" smtClean="0"/>
              <a:t>Throwable.getSuppressed</a:t>
            </a:r>
            <a:r>
              <a:rPr lang="en-US" sz="1200" b="0" i="0" kern="1200" dirty="0" smtClean="0">
                <a:solidFill>
                  <a:schemeClr val="tx1"/>
                </a:solidFill>
                <a:effectLst/>
                <a:latin typeface="+mn-lt"/>
                <a:ea typeface="+mn-ea"/>
                <a:cs typeface="+mn-cs"/>
              </a:rPr>
              <a:t> method from the exception thrown by the </a:t>
            </a:r>
            <a:r>
              <a:rPr lang="en-US" dirty="0" smtClean="0"/>
              <a:t>try</a:t>
            </a:r>
            <a:r>
              <a:rPr lang="en-US" sz="1200" b="0" i="0" kern="1200" dirty="0" smtClean="0">
                <a:solidFill>
                  <a:schemeClr val="tx1"/>
                </a:solidFill>
                <a:effectLst/>
                <a:latin typeface="+mn-lt"/>
                <a:ea typeface="+mn-ea"/>
                <a:cs typeface="+mn-cs"/>
              </a:rPr>
              <a:t> block.</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 this case, the </a:t>
            </a:r>
            <a:r>
              <a:rPr lang="en-US" sz="1200" b="0" i="1" kern="1200" dirty="0" smtClean="0">
                <a:solidFill>
                  <a:schemeClr val="tx1"/>
                </a:solidFill>
                <a:effectLst/>
                <a:latin typeface="+mn-lt"/>
                <a:ea typeface="+mn-ea"/>
                <a:cs typeface="+mn-cs"/>
              </a:rPr>
              <a:t>try</a:t>
            </a:r>
            <a:r>
              <a:rPr lang="en-US" sz="1200" b="0" i="0" kern="1200" dirty="0" smtClean="0">
                <a:solidFill>
                  <a:schemeClr val="tx1"/>
                </a:solidFill>
                <a:effectLst/>
                <a:latin typeface="+mn-lt"/>
                <a:ea typeface="+mn-ea"/>
                <a:cs typeface="+mn-cs"/>
              </a:rPr>
              <a:t> block will throw a </a:t>
            </a:r>
            <a:r>
              <a:rPr lang="en-US" sz="1200" b="0" i="1" kern="1200" dirty="0" err="1" smtClean="0">
                <a:solidFill>
                  <a:schemeClr val="tx1"/>
                </a:solidFill>
                <a:effectLst/>
                <a:latin typeface="+mn-lt"/>
                <a:ea typeface="+mn-ea"/>
                <a:cs typeface="+mn-cs"/>
              </a:rPr>
              <a:t>FileNotFoundException</a:t>
            </a:r>
            <a:r>
              <a:rPr lang="en-US" sz="1200" b="0" i="0" kern="1200" dirty="0" smtClean="0">
                <a:solidFill>
                  <a:schemeClr val="tx1"/>
                </a:solidFill>
                <a:effectLst/>
                <a:latin typeface="+mn-lt"/>
                <a:ea typeface="+mn-ea"/>
                <a:cs typeface="+mn-cs"/>
              </a:rPr>
              <a:t> when it tries to open the non-existent file. Because the </a:t>
            </a:r>
            <a:r>
              <a:rPr lang="en-US" sz="1200" b="0" i="1" kern="1200" dirty="0" err="1" smtClean="0">
                <a:solidFill>
                  <a:schemeClr val="tx1"/>
                </a:solidFill>
                <a:effectLst/>
                <a:latin typeface="+mn-lt"/>
                <a:ea typeface="+mn-ea"/>
                <a:cs typeface="+mn-cs"/>
              </a:rPr>
              <a:t>fileIn</a:t>
            </a:r>
            <a:r>
              <a:rPr lang="en-US" sz="1200" b="0" i="0" kern="1200" dirty="0" smtClean="0">
                <a:solidFill>
                  <a:schemeClr val="tx1"/>
                </a:solidFill>
                <a:effectLst/>
                <a:latin typeface="+mn-lt"/>
                <a:ea typeface="+mn-ea"/>
                <a:cs typeface="+mn-cs"/>
              </a:rPr>
              <a:t> object was never initialized, it'll throw a </a:t>
            </a:r>
            <a:r>
              <a:rPr lang="en-US" sz="1200" b="0" i="1" kern="1200" dirty="0" err="1" smtClean="0">
                <a:solidFill>
                  <a:schemeClr val="tx1"/>
                </a:solidFill>
                <a:effectLst/>
                <a:latin typeface="+mn-lt"/>
                <a:ea typeface="+mn-ea"/>
                <a:cs typeface="+mn-cs"/>
              </a:rPr>
              <a:t>NullPointerException</a:t>
            </a:r>
            <a:r>
              <a:rPr lang="en-US" sz="1200" b="0" i="0" kern="1200" dirty="0" smtClean="0">
                <a:solidFill>
                  <a:schemeClr val="tx1"/>
                </a:solidFill>
                <a:effectLst/>
                <a:latin typeface="+mn-lt"/>
                <a:ea typeface="+mn-ea"/>
                <a:cs typeface="+mn-cs"/>
              </a:rPr>
              <a:t> when we try to close it in our </a:t>
            </a:r>
            <a:r>
              <a:rPr lang="en-US" sz="1200" b="0" i="1" kern="1200" dirty="0" smtClean="0">
                <a:solidFill>
                  <a:schemeClr val="tx1"/>
                </a:solidFill>
                <a:effectLst/>
                <a:latin typeface="+mn-lt"/>
                <a:ea typeface="+mn-ea"/>
                <a:cs typeface="+mn-cs"/>
              </a:rPr>
              <a:t>finally</a:t>
            </a:r>
            <a:r>
              <a:rPr lang="en-US" sz="1200" b="0" i="0" kern="1200" dirty="0" smtClean="0">
                <a:solidFill>
                  <a:schemeClr val="tx1"/>
                </a:solidFill>
                <a:effectLst/>
                <a:latin typeface="+mn-lt"/>
                <a:ea typeface="+mn-ea"/>
                <a:cs typeface="+mn-cs"/>
              </a:rPr>
              <a:t> block. Our calling method will only get the </a:t>
            </a:r>
            <a:r>
              <a:rPr lang="en-US" sz="1200" b="0" i="1" kern="1200" dirty="0" err="1" smtClean="0">
                <a:solidFill>
                  <a:schemeClr val="tx1"/>
                </a:solidFill>
                <a:effectLst/>
                <a:latin typeface="+mn-lt"/>
                <a:ea typeface="+mn-ea"/>
                <a:cs typeface="+mn-cs"/>
              </a:rPr>
              <a:t>NullPointerException</a:t>
            </a:r>
            <a:r>
              <a:rPr lang="en-US" sz="1200" b="0" i="0" kern="1200" dirty="0" smtClean="0">
                <a:solidFill>
                  <a:schemeClr val="tx1"/>
                </a:solidFill>
                <a:effectLst/>
                <a:latin typeface="+mn-lt"/>
                <a:ea typeface="+mn-ea"/>
                <a:cs typeface="+mn-cs"/>
              </a:rPr>
              <a:t>, and it won't be readily obvious what the original problem was: that the file doesn't exist.</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8979B4A-50AD-4921-98D2-3767FE82802A}" type="slidenum">
              <a:rPr lang="en-US" smtClean="0"/>
              <a:t>6</a:t>
            </a:fld>
            <a:endParaRPr lang="en-US"/>
          </a:p>
        </p:txBody>
      </p:sp>
    </p:spTree>
    <p:extLst>
      <p:ext uri="{BB962C8B-B14F-4D97-AF65-F5344CB8AC3E}">
        <p14:creationId xmlns:p14="http://schemas.microsoft.com/office/powerpoint/2010/main" val="2425774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programmers may be tempted to write code that throws only unchecked exceptions or to make all their exception subclasses inherit from </a:t>
            </a:r>
            <a:r>
              <a:rPr lang="en-US" b="1" dirty="0" err="1" smtClean="0"/>
              <a:t>RuntimeException</a:t>
            </a:r>
            <a:r>
              <a:rPr lang="en-US" sz="1200" b="0" i="0" kern="1200" dirty="0" smtClean="0">
                <a:solidFill>
                  <a:schemeClr val="tx1"/>
                </a:solidFill>
                <a:effectLst/>
                <a:latin typeface="+mn-lt"/>
                <a:ea typeface="+mn-ea"/>
                <a:cs typeface="+mn-cs"/>
              </a:rPr>
              <a:t>. Both of these shortcuts allow programmers to write code without bothering with compiler errors and without bothering to specify or to catch any exceptions.</a:t>
            </a:r>
          </a:p>
          <a:p>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222222"/>
                </a:solidFill>
                <a:latin typeface="guardian-text-oreilly"/>
              </a:rPr>
              <a:t>Add a </a:t>
            </a:r>
            <a:r>
              <a:rPr lang="en-US" i="1" dirty="0" smtClean="0">
                <a:solidFill>
                  <a:srgbClr val="222222"/>
                </a:solidFill>
                <a:latin typeface="guardian-text-oreilly"/>
              </a:rPr>
              <a:t>try/catch</a:t>
            </a:r>
            <a:r>
              <a:rPr lang="en-US" dirty="0" smtClean="0">
                <a:solidFill>
                  <a:srgbClr val="222222"/>
                </a:solidFill>
                <a:latin typeface="guardian-text-oreilly"/>
              </a:rPr>
              <a:t> block to the lambda expression   2. Create an </a:t>
            </a:r>
            <a:r>
              <a:rPr lang="en-US" i="1" dirty="0" smtClean="0">
                <a:solidFill>
                  <a:srgbClr val="222222"/>
                </a:solidFill>
                <a:latin typeface="guardian-text-oreilly"/>
              </a:rPr>
              <a:t>extracted method</a:t>
            </a:r>
            <a:r>
              <a:rPr lang="en-US" dirty="0" smtClean="0">
                <a:solidFill>
                  <a:srgbClr val="222222"/>
                </a:solidFill>
                <a:latin typeface="guardian-text-oreilly"/>
              </a:rPr>
              <a:t>, as in the unchecked example 3. Write a </a:t>
            </a:r>
            <a:r>
              <a:rPr lang="en-US" i="1" dirty="0" smtClean="0">
                <a:solidFill>
                  <a:srgbClr val="222222"/>
                </a:solidFill>
                <a:latin typeface="guardian-text-oreilly"/>
              </a:rPr>
              <a:t>wrapper</a:t>
            </a:r>
            <a:r>
              <a:rPr lang="en-US" dirty="0" smtClean="0">
                <a:solidFill>
                  <a:srgbClr val="222222"/>
                </a:solidFill>
                <a:latin typeface="guardian-text-oreilly"/>
              </a:rPr>
              <a:t> method that catches checked exceptions and </a:t>
            </a:r>
            <a:r>
              <a:rPr lang="en-US" dirty="0" err="1" smtClean="0">
                <a:solidFill>
                  <a:srgbClr val="222222"/>
                </a:solidFill>
                <a:latin typeface="guardian-text-oreilly"/>
              </a:rPr>
              <a:t>rethrows</a:t>
            </a:r>
            <a:r>
              <a:rPr lang="en-US" dirty="0" smtClean="0">
                <a:solidFill>
                  <a:srgbClr val="222222"/>
                </a:solidFill>
                <a:latin typeface="guardian-text-oreilly"/>
              </a:rPr>
              <a:t> them as unchecked</a:t>
            </a:r>
            <a:endParaRPr lang="en-US" b="0" i="0" dirty="0" smtClean="0">
              <a:solidFill>
                <a:srgbClr val="222222"/>
              </a:solidFill>
              <a:effectLst/>
              <a:latin typeface="guardian-text-oreilly"/>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http://tutorials.jenkov.com/java-exception-handling/exception-wrapping.html</a:t>
            </a:r>
          </a:p>
          <a:p>
            <a:endParaRPr lang="en-US" sz="1200" b="0" i="0" kern="1200" dirty="0" smtClean="0">
              <a:solidFill>
                <a:schemeClr val="tx1"/>
              </a:solidFill>
              <a:effectLst/>
              <a:latin typeface="+mn-lt"/>
              <a:ea typeface="+mn-ea"/>
              <a:cs typeface="+mn-cs"/>
            </a:endParaRPr>
          </a:p>
          <a:p>
            <a:pPr fontAlgn="base"/>
            <a:r>
              <a:rPr lang="en-US" sz="1200" b="1" i="0" kern="1200" dirty="0" smtClean="0">
                <a:solidFill>
                  <a:schemeClr val="tx1"/>
                </a:solidFill>
                <a:effectLst/>
                <a:latin typeface="+mn-lt"/>
                <a:ea typeface="+mn-ea"/>
                <a:cs typeface="+mn-cs"/>
              </a:rPr>
              <a:t>Dealing with checked exceptions</a:t>
            </a:r>
          </a:p>
          <a:p>
            <a:pPr fontAlgn="base"/>
            <a:r>
              <a:rPr lang="en-US" sz="1200" b="0" i="0" kern="1200" dirty="0" smtClean="0">
                <a:solidFill>
                  <a:schemeClr val="tx1"/>
                </a:solidFill>
                <a:effectLst/>
                <a:latin typeface="+mn-lt"/>
                <a:ea typeface="+mn-ea"/>
                <a:cs typeface="+mn-cs"/>
              </a:rPr>
              <a:t>The compiler requires you to prepare for checked exceptions, so simply ignoring the problem is no longer an option. Instead, you have three primary approaches:</a:t>
            </a:r>
          </a:p>
          <a:p>
            <a:pPr fontAlgn="base"/>
            <a:r>
              <a:rPr lang="en-US" sz="1200" b="0" i="0" kern="1200" dirty="0" smtClean="0">
                <a:solidFill>
                  <a:schemeClr val="tx1"/>
                </a:solidFill>
                <a:effectLst/>
                <a:latin typeface="+mn-lt"/>
                <a:ea typeface="+mn-ea"/>
                <a:cs typeface="+mn-cs"/>
              </a:rPr>
              <a:t>1. Add a </a:t>
            </a:r>
            <a:r>
              <a:rPr lang="en-US" sz="1200" b="0" i="1" kern="1200" dirty="0" smtClean="0">
                <a:solidFill>
                  <a:schemeClr val="tx1"/>
                </a:solidFill>
                <a:effectLst/>
                <a:latin typeface="+mn-lt"/>
                <a:ea typeface="+mn-ea"/>
                <a:cs typeface="+mn-cs"/>
              </a:rPr>
              <a:t>try/catch</a:t>
            </a:r>
            <a:r>
              <a:rPr lang="en-US" sz="1200" b="0" i="0" kern="1200" dirty="0" smtClean="0">
                <a:solidFill>
                  <a:schemeClr val="tx1"/>
                </a:solidFill>
                <a:effectLst/>
                <a:latin typeface="+mn-lt"/>
                <a:ea typeface="+mn-ea"/>
                <a:cs typeface="+mn-cs"/>
              </a:rPr>
              <a:t> block to the lambda expression</a:t>
            </a:r>
          </a:p>
          <a:p>
            <a:pPr fontAlgn="base"/>
            <a:r>
              <a:rPr lang="en-US" sz="1200" b="0" i="0" kern="1200" dirty="0" smtClean="0">
                <a:solidFill>
                  <a:schemeClr val="tx1"/>
                </a:solidFill>
                <a:effectLst/>
                <a:latin typeface="+mn-lt"/>
                <a:ea typeface="+mn-ea"/>
                <a:cs typeface="+mn-cs"/>
              </a:rPr>
              <a:t>2. Create an </a:t>
            </a:r>
            <a:r>
              <a:rPr lang="en-US" sz="1200" b="0" i="1" kern="1200" dirty="0" smtClean="0">
                <a:solidFill>
                  <a:schemeClr val="tx1"/>
                </a:solidFill>
                <a:effectLst/>
                <a:latin typeface="+mn-lt"/>
                <a:ea typeface="+mn-ea"/>
                <a:cs typeface="+mn-cs"/>
              </a:rPr>
              <a:t>extracted method</a:t>
            </a:r>
            <a:r>
              <a:rPr lang="en-US" sz="1200" b="0" i="0" kern="1200" dirty="0" smtClean="0">
                <a:solidFill>
                  <a:schemeClr val="tx1"/>
                </a:solidFill>
                <a:effectLst/>
                <a:latin typeface="+mn-lt"/>
                <a:ea typeface="+mn-ea"/>
                <a:cs typeface="+mn-cs"/>
              </a:rPr>
              <a:t>, as in the unchecked example</a:t>
            </a:r>
          </a:p>
          <a:p>
            <a:pPr fontAlgn="base"/>
            <a:r>
              <a:rPr lang="en-US" sz="1200" b="0" i="0" kern="1200" dirty="0" smtClean="0">
                <a:solidFill>
                  <a:schemeClr val="tx1"/>
                </a:solidFill>
                <a:effectLst/>
                <a:latin typeface="+mn-lt"/>
                <a:ea typeface="+mn-ea"/>
                <a:cs typeface="+mn-cs"/>
              </a:rPr>
              <a:t>3. Write a </a:t>
            </a:r>
            <a:r>
              <a:rPr lang="en-US" sz="1200" b="0" i="1" kern="1200" dirty="0" smtClean="0">
                <a:solidFill>
                  <a:schemeClr val="tx1"/>
                </a:solidFill>
                <a:effectLst/>
                <a:latin typeface="+mn-lt"/>
                <a:ea typeface="+mn-ea"/>
                <a:cs typeface="+mn-cs"/>
              </a:rPr>
              <a:t>wrapper</a:t>
            </a:r>
            <a:r>
              <a:rPr lang="en-US" sz="1200" b="0" i="0" kern="1200" dirty="0" smtClean="0">
                <a:solidFill>
                  <a:schemeClr val="tx1"/>
                </a:solidFill>
                <a:effectLst/>
                <a:latin typeface="+mn-lt"/>
                <a:ea typeface="+mn-ea"/>
                <a:cs typeface="+mn-cs"/>
              </a:rPr>
              <a:t> method that catches checked exceptions and </a:t>
            </a:r>
            <a:r>
              <a:rPr lang="en-US" sz="1200" b="0" i="0" kern="1200" dirty="0" err="1" smtClean="0">
                <a:solidFill>
                  <a:schemeClr val="tx1"/>
                </a:solidFill>
                <a:effectLst/>
                <a:latin typeface="+mn-lt"/>
                <a:ea typeface="+mn-ea"/>
                <a:cs typeface="+mn-cs"/>
              </a:rPr>
              <a:t>rethrows</a:t>
            </a:r>
            <a:r>
              <a:rPr lang="en-US" sz="1200" b="0" i="0" kern="1200" dirty="0" smtClean="0">
                <a:solidFill>
                  <a:schemeClr val="tx1"/>
                </a:solidFill>
                <a:effectLst/>
                <a:latin typeface="+mn-lt"/>
                <a:ea typeface="+mn-ea"/>
                <a:cs typeface="+mn-cs"/>
              </a:rPr>
              <a:t> them as unchecked</a:t>
            </a:r>
          </a:p>
          <a:p>
            <a:pPr fontAlgn="base"/>
            <a:endParaRPr lang="en-US" sz="1200" b="0" i="0" kern="1200" dirty="0" smtClean="0">
              <a:solidFill>
                <a:schemeClr val="tx1"/>
              </a:solidFill>
              <a:effectLst/>
              <a:latin typeface="+mn-lt"/>
              <a:ea typeface="+mn-ea"/>
              <a:cs typeface="+mn-cs"/>
            </a:endParaRPr>
          </a:p>
          <a:p>
            <a:r>
              <a:rPr lang="en-US" sz="1200" b="0" i="0" u="none" strike="noStrike" kern="1200" baseline="0" dirty="0" smtClean="0">
                <a:solidFill>
                  <a:schemeClr val="tx1"/>
                </a:solidFill>
                <a:latin typeface="+mn-lt"/>
                <a:ea typeface="+mn-ea"/>
                <a:cs typeface="+mn-cs"/>
              </a:rPr>
              <a:t>Instead of throwing a checked exception, the</a:t>
            </a:r>
          </a:p>
          <a:p>
            <a:r>
              <a:rPr lang="en-US" sz="1200" b="0" i="0" u="none" strike="noStrike" kern="1200" baseline="0" dirty="0" smtClean="0">
                <a:solidFill>
                  <a:schemeClr val="tx1"/>
                </a:solidFill>
                <a:latin typeface="+mn-lt"/>
                <a:ea typeface="+mn-ea"/>
                <a:cs typeface="+mn-cs"/>
              </a:rPr>
              <a:t>method simply returns an empty optional. The disadvantage of this technique is</a:t>
            </a:r>
          </a:p>
          <a:p>
            <a:r>
              <a:rPr lang="en-US" sz="1200" b="0" i="0" u="none" strike="noStrike" kern="1200" baseline="0" dirty="0" smtClean="0">
                <a:solidFill>
                  <a:schemeClr val="tx1"/>
                </a:solidFill>
                <a:latin typeface="+mn-lt"/>
                <a:ea typeface="+mn-ea"/>
                <a:cs typeface="+mn-cs"/>
              </a:rPr>
              <a:t>that the method can’t return any additional information detailing its inability to</a:t>
            </a:r>
          </a:p>
          <a:p>
            <a:r>
              <a:rPr lang="en-US" sz="1200" b="0" i="0" u="none" strike="noStrike" kern="1200" baseline="0" dirty="0" smtClean="0">
                <a:solidFill>
                  <a:schemeClr val="tx1"/>
                </a:solidFill>
                <a:latin typeface="+mn-lt"/>
                <a:ea typeface="+mn-ea"/>
                <a:cs typeface="+mn-cs"/>
              </a:rPr>
              <a:t>perform the desired computation. Exceptions, by contrast, have descriptive types,</a:t>
            </a:r>
          </a:p>
          <a:p>
            <a:r>
              <a:rPr lang="en-US" sz="1200" b="0" i="0" u="none" strike="noStrike" kern="1200" baseline="0" dirty="0" smtClean="0">
                <a:solidFill>
                  <a:schemeClr val="tx1"/>
                </a:solidFill>
                <a:latin typeface="+mn-lt"/>
                <a:ea typeface="+mn-ea"/>
                <a:cs typeface="+mn-cs"/>
              </a:rPr>
              <a:t>and can export methods to provide additional information (Item 70).</a:t>
            </a:r>
          </a:p>
          <a:p>
            <a:endParaRPr lang="en-US" sz="1200" b="0" i="0" u="none" strike="noStrike" kern="1200" baseline="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pPr fontAlgn="base"/>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8979B4A-50AD-4921-98D2-3767FE82802A}" type="slidenum">
              <a:rPr lang="en-US" smtClean="0"/>
              <a:t>7</a:t>
            </a:fld>
            <a:endParaRPr lang="en-US"/>
          </a:p>
        </p:txBody>
      </p:sp>
    </p:spTree>
    <p:extLst>
      <p:ext uri="{BB962C8B-B14F-4D97-AF65-F5344CB8AC3E}">
        <p14:creationId xmlns:p14="http://schemas.microsoft.com/office/powerpoint/2010/main" val="3637473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sz="1200" b="0" i="0" kern="1200" dirty="0" smtClean="0">
                <a:solidFill>
                  <a:schemeClr val="tx1"/>
                </a:solidFill>
                <a:effectLst/>
                <a:latin typeface="+mn-lt"/>
                <a:ea typeface="+mn-ea"/>
                <a:cs typeface="+mn-cs"/>
              </a:rPr>
              <a:t>The HTTP TRACE method is designed for diagnostic purposes. If enabled, the web server will respond to requests that use the TRACE method by echoing in its response the exact request that was received.</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8</a:t>
            </a:fld>
            <a:endParaRPr lang="en-US"/>
          </a:p>
        </p:txBody>
      </p:sp>
    </p:spTree>
    <p:extLst>
      <p:ext uri="{BB962C8B-B14F-4D97-AF65-F5344CB8AC3E}">
        <p14:creationId xmlns:p14="http://schemas.microsoft.com/office/powerpoint/2010/main" val="2126419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https://www.restapitutorial.com/httpstatuscodes.html</a:t>
            </a:r>
          </a:p>
          <a:p>
            <a:r>
              <a:rPr lang="en-US" dirty="0" smtClean="0"/>
              <a:t>https://developer.mozilla.org/en-US/docs/Web/HTTP/Status</a:t>
            </a:r>
          </a:p>
          <a:p>
            <a:r>
              <a:rPr lang="en-US" dirty="0" smtClean="0"/>
              <a:t>https://www.tutorialspoint.com/http/http_status_codes.htm</a:t>
            </a:r>
          </a:p>
          <a:p>
            <a:endParaRPr lang="en-US" dirty="0" smtClean="0"/>
          </a:p>
          <a:p>
            <a:r>
              <a:rPr lang="en-US" dirty="0" smtClean="0"/>
              <a:t>https://en.wikipedia.org/wiki/WebDAV</a:t>
            </a:r>
          </a:p>
          <a:p>
            <a:r>
              <a:rPr lang="en-US" sz="1200" b="1" i="1" kern="1200" dirty="0" smtClean="0">
                <a:solidFill>
                  <a:schemeClr val="tx1"/>
                </a:solidFill>
                <a:effectLst/>
                <a:latin typeface="+mn-lt"/>
                <a:ea typeface="+mn-ea"/>
                <a:cs typeface="+mn-cs"/>
              </a:rPr>
              <a:t>WebDAV</a:t>
            </a:r>
            <a:r>
              <a:rPr lang="en-US" sz="1200" b="0" i="1" kern="1200" dirty="0" smtClean="0">
                <a:solidFill>
                  <a:schemeClr val="tx1"/>
                </a:solidFill>
                <a:effectLst/>
                <a:latin typeface="+mn-lt"/>
                <a:ea typeface="+mn-ea"/>
                <a:cs typeface="+mn-cs"/>
              </a:rPr>
              <a:t> is a long-standing protocol that enables a webserver to act as a fileserver and support collaborative authoring of content on the web. Though being supplanted by more modern mechanisms, it’s still a reliable workhorse encountered in many different servers, clients, and apps.</a:t>
            </a:r>
          </a:p>
          <a:p>
            <a:endParaRPr lang="en-US" dirty="0" smtClean="0"/>
          </a:p>
          <a:p>
            <a:r>
              <a:rPr lang="en-US" sz="1200" b="0" i="0" kern="1200" dirty="0" smtClean="0">
                <a:solidFill>
                  <a:schemeClr val="tx1"/>
                </a:solidFill>
                <a:effectLst/>
                <a:latin typeface="+mn-lt"/>
                <a:ea typeface="+mn-ea"/>
                <a:cs typeface="+mn-cs"/>
              </a:rPr>
              <a:t>You might encounter WebDAV in the Apache HTTP Server, Microsoft IIS, Box.com, WordPress, Drupal, Microsoft </a:t>
            </a:r>
            <a:r>
              <a:rPr lang="en-US" sz="1200" b="0" i="0" kern="1200" dirty="0" err="1" smtClean="0">
                <a:solidFill>
                  <a:schemeClr val="tx1"/>
                </a:solidFill>
                <a:effectLst/>
                <a:latin typeface="+mn-lt"/>
                <a:ea typeface="+mn-ea"/>
                <a:cs typeface="+mn-cs"/>
              </a:rPr>
              <a:t>Sharepoint</a:t>
            </a:r>
            <a:r>
              <a:rPr lang="en-US" sz="1200" b="0" i="0" kern="1200" dirty="0" smtClean="0">
                <a:solidFill>
                  <a:schemeClr val="tx1"/>
                </a:solidFill>
                <a:effectLst/>
                <a:latin typeface="+mn-lt"/>
                <a:ea typeface="+mn-ea"/>
                <a:cs typeface="+mn-cs"/>
              </a:rPr>
              <a:t>, Subversion,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Windows Explorer, </a:t>
            </a:r>
            <a:r>
              <a:rPr lang="en-US" sz="1200" b="0" i="0" kern="1200" dirty="0" err="1" smtClean="0">
                <a:solidFill>
                  <a:schemeClr val="tx1"/>
                </a:solidFill>
                <a:effectLst/>
                <a:latin typeface="+mn-lt"/>
                <a:ea typeface="+mn-ea"/>
                <a:cs typeface="+mn-cs"/>
              </a:rPr>
              <a:t>macOS</a:t>
            </a:r>
            <a:r>
              <a:rPr lang="en-US" sz="1200" b="0" i="0" kern="1200" dirty="0" smtClean="0">
                <a:solidFill>
                  <a:schemeClr val="tx1"/>
                </a:solidFill>
                <a:effectLst/>
                <a:latin typeface="+mn-lt"/>
                <a:ea typeface="+mn-ea"/>
                <a:cs typeface="+mn-cs"/>
              </a:rPr>
              <a:t> Finder, Microsoft Office, Apple iWork, Adobe Photoshop, and many other places</a:t>
            </a:r>
          </a:p>
          <a:p>
            <a:endParaRPr lang="en-US" dirty="0" smtClean="0"/>
          </a:p>
          <a:p>
            <a:endParaRPr lang="en-US" dirty="0" smtClean="0"/>
          </a:p>
          <a:p>
            <a:r>
              <a:rPr lang="en-US" sz="1200" b="1" i="0" u="none" strike="noStrike" kern="1200" dirty="0" smtClean="0">
                <a:solidFill>
                  <a:schemeClr val="tx1"/>
                </a:solidFill>
                <a:effectLst/>
                <a:latin typeface="+mn-lt"/>
                <a:ea typeface="+mn-ea"/>
                <a:cs typeface="+mn-cs"/>
                <a:hlinkClick r:id="rId3" tooltip="Permalink to Information responses"/>
              </a:rPr>
              <a:t>Information responses</a:t>
            </a:r>
            <a:endParaRPr lang="en-US" sz="1200" b="1"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4"/>
              </a:rPr>
              <a:t>100 </a:t>
            </a:r>
            <a:r>
              <a:rPr lang="en-US" sz="1200" b="0" i="0" u="none" strike="noStrike" kern="1200" dirty="0" err="1" smtClean="0">
                <a:solidFill>
                  <a:schemeClr val="tx1"/>
                </a:solidFill>
                <a:effectLst/>
                <a:latin typeface="+mn-lt"/>
                <a:ea typeface="+mn-ea"/>
                <a:cs typeface="+mn-cs"/>
                <a:hlinkClick r:id="rId4"/>
              </a:rPr>
              <a:t>Continue</a:t>
            </a:r>
            <a:r>
              <a:rPr lang="en-US" sz="1200" b="0" i="0" kern="1200" dirty="0" err="1" smtClean="0">
                <a:solidFill>
                  <a:schemeClr val="tx1"/>
                </a:solidFill>
                <a:effectLst/>
                <a:latin typeface="+mn-lt"/>
                <a:ea typeface="+mn-ea"/>
                <a:cs typeface="+mn-cs"/>
              </a:rPr>
              <a:t>This</a:t>
            </a:r>
            <a:r>
              <a:rPr lang="en-US" sz="1200" b="0" i="0" kern="1200" dirty="0" smtClean="0">
                <a:solidFill>
                  <a:schemeClr val="tx1"/>
                </a:solidFill>
                <a:effectLst/>
                <a:latin typeface="+mn-lt"/>
                <a:ea typeface="+mn-ea"/>
                <a:cs typeface="+mn-cs"/>
              </a:rPr>
              <a:t> interim response indicates that everything so far is OK and that the client should continue the request, or ignore the response if the request is already finished.</a:t>
            </a:r>
            <a:r>
              <a:rPr lang="en-US" sz="1200" b="0" i="0" u="none" strike="noStrike" kern="1200" dirty="0" smtClean="0">
                <a:solidFill>
                  <a:schemeClr val="tx1"/>
                </a:solidFill>
                <a:effectLst/>
                <a:latin typeface="+mn-lt"/>
                <a:ea typeface="+mn-ea"/>
                <a:cs typeface="+mn-cs"/>
                <a:hlinkClick r:id="rId5"/>
              </a:rPr>
              <a:t>101 Switching </a:t>
            </a:r>
            <a:r>
              <a:rPr lang="en-US" sz="1200" b="0" i="0" u="none" strike="noStrike" kern="1200" dirty="0" err="1" smtClean="0">
                <a:solidFill>
                  <a:schemeClr val="tx1"/>
                </a:solidFill>
                <a:effectLst/>
                <a:latin typeface="+mn-lt"/>
                <a:ea typeface="+mn-ea"/>
                <a:cs typeface="+mn-cs"/>
                <a:hlinkClick r:id="rId5"/>
              </a:rPr>
              <a:t>Protocol</a:t>
            </a:r>
            <a:r>
              <a:rPr lang="en-US" sz="1200" b="0" i="0" kern="1200" dirty="0" err="1" smtClean="0">
                <a:solidFill>
                  <a:schemeClr val="tx1"/>
                </a:solidFill>
                <a:effectLst/>
                <a:latin typeface="+mn-lt"/>
                <a:ea typeface="+mn-ea"/>
                <a:cs typeface="+mn-cs"/>
              </a:rPr>
              <a:t>This</a:t>
            </a:r>
            <a:r>
              <a:rPr lang="en-US" sz="1200" b="0" i="0" kern="1200" dirty="0" smtClean="0">
                <a:solidFill>
                  <a:schemeClr val="tx1"/>
                </a:solidFill>
                <a:effectLst/>
                <a:latin typeface="+mn-lt"/>
                <a:ea typeface="+mn-ea"/>
                <a:cs typeface="+mn-cs"/>
              </a:rPr>
              <a:t> code is sent in response to an </a:t>
            </a:r>
            <a:r>
              <a:rPr lang="en-US" sz="1200" b="0" i="0" u="none" strike="noStrike" kern="1200" dirty="0" smtClean="0">
                <a:solidFill>
                  <a:schemeClr val="tx1"/>
                </a:solidFill>
                <a:effectLst/>
                <a:latin typeface="+mn-lt"/>
                <a:ea typeface="+mn-ea"/>
                <a:cs typeface="+mn-cs"/>
                <a:hlinkClick r:id="rId6"/>
              </a:rPr>
              <a:t>Upgrade</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request header </a:t>
            </a:r>
            <a:r>
              <a:rPr lang="en-US" sz="1200" b="0" i="0" kern="1200" dirty="0" smtClean="0">
                <a:solidFill>
                  <a:schemeClr val="tx1"/>
                </a:solidFill>
                <a:effectLst/>
                <a:latin typeface="+mn-lt"/>
                <a:ea typeface="+mn-ea"/>
                <a:cs typeface="+mn-cs"/>
              </a:rPr>
              <a:t>from the client, and indicates the protocol the server is switching to. </a:t>
            </a:r>
            <a:r>
              <a:rPr lang="en-US" sz="1200" b="0" i="0" u="none" strike="noStrike" kern="1200" dirty="0" smtClean="0">
                <a:solidFill>
                  <a:schemeClr val="tx1"/>
                </a:solidFill>
                <a:effectLst/>
                <a:latin typeface="+mn-lt"/>
                <a:ea typeface="+mn-ea"/>
                <a:cs typeface="+mn-cs"/>
                <a:hlinkClick r:id="rId7"/>
              </a:rPr>
              <a:t>102 Processing</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8"/>
              </a:rPr>
              <a:t>WebDAV</a:t>
            </a:r>
            <a:r>
              <a:rPr lang="en-US" sz="1200" b="0" i="0" kern="1200" dirty="0" smtClean="0">
                <a:solidFill>
                  <a:schemeClr val="tx1"/>
                </a:solidFill>
                <a:effectLst/>
                <a:latin typeface="+mn-lt"/>
                <a:ea typeface="+mn-ea"/>
                <a:cs typeface="+mn-cs"/>
              </a:rPr>
              <a:t>)This code indicates that the server has received and is processing the request, but o response is available yet.</a:t>
            </a:r>
            <a:r>
              <a:rPr lang="en-US" sz="1200" b="0" i="0" u="none" strike="noStrike" kern="1200" dirty="0" smtClean="0">
                <a:solidFill>
                  <a:schemeClr val="tx1"/>
                </a:solidFill>
                <a:effectLst/>
                <a:latin typeface="+mn-lt"/>
                <a:ea typeface="+mn-ea"/>
                <a:cs typeface="+mn-cs"/>
                <a:hlinkClick r:id="rId9"/>
              </a:rPr>
              <a:t>103 Early Hints</a:t>
            </a:r>
            <a:r>
              <a:rPr lang="en-US" sz="1200" b="0" i="0" u="none" strike="noStrike"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This status code is primarily intended to be used with the </a:t>
            </a:r>
            <a:r>
              <a:rPr lang="en-US" sz="1200" b="0" i="0" u="none" strike="noStrike" kern="1200" dirty="0" smtClean="0">
                <a:solidFill>
                  <a:schemeClr val="tx1"/>
                </a:solidFill>
                <a:effectLst/>
                <a:latin typeface="+mn-lt"/>
                <a:ea typeface="+mn-ea"/>
                <a:cs typeface="+mn-cs"/>
                <a:hlinkClick r:id="rId10"/>
              </a:rPr>
              <a:t>Link</a:t>
            </a:r>
            <a:r>
              <a:rPr lang="en-US" sz="1200" b="0" i="0" kern="1200" dirty="0" smtClean="0">
                <a:solidFill>
                  <a:schemeClr val="tx1"/>
                </a:solidFill>
                <a:effectLst/>
                <a:latin typeface="+mn-lt"/>
                <a:ea typeface="+mn-ea"/>
                <a:cs typeface="+mn-cs"/>
              </a:rPr>
              <a:t> header, letting the user agent start </a:t>
            </a:r>
            <a:r>
              <a:rPr lang="en-US" sz="1200" b="0" i="0" u="none" strike="noStrike" kern="1200" dirty="0" smtClean="0">
                <a:solidFill>
                  <a:schemeClr val="tx1"/>
                </a:solidFill>
                <a:effectLst/>
                <a:latin typeface="+mn-lt"/>
                <a:ea typeface="+mn-ea"/>
                <a:cs typeface="+mn-cs"/>
                <a:hlinkClick r:id="rId11"/>
              </a:rPr>
              <a:t>preloading</a:t>
            </a:r>
            <a:r>
              <a:rPr lang="en-US" sz="1200" b="0" i="0" kern="1200" dirty="0" smtClean="0">
                <a:solidFill>
                  <a:schemeClr val="tx1"/>
                </a:solidFill>
                <a:effectLst/>
                <a:latin typeface="+mn-lt"/>
                <a:ea typeface="+mn-ea"/>
                <a:cs typeface="+mn-cs"/>
              </a:rPr>
              <a:t> resources while the server prepares a response.</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9</a:t>
            </a:fld>
            <a:endParaRPr lang="en-US"/>
          </a:p>
        </p:txBody>
      </p:sp>
    </p:spTree>
    <p:extLst>
      <p:ext uri="{BB962C8B-B14F-4D97-AF65-F5344CB8AC3E}">
        <p14:creationId xmlns:p14="http://schemas.microsoft.com/office/powerpoint/2010/main" val="1517477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u="none" strike="noStrike" kern="1200" baseline="0" dirty="0" smtClean="0">
                <a:solidFill>
                  <a:schemeClr val="tx1"/>
                </a:solidFill>
                <a:latin typeface="+mn-lt"/>
                <a:ea typeface="+mn-ea"/>
                <a:cs typeface="+mn-cs"/>
              </a:rPr>
              <a:t>Handling exceptions</a:t>
            </a:r>
          </a:p>
          <a:p>
            <a:r>
              <a:rPr lang="en-US" sz="1200" b="0" i="0" u="none" strike="noStrike" kern="1200" baseline="0" dirty="0" smtClean="0">
                <a:solidFill>
                  <a:schemeClr val="tx1"/>
                </a:solidFill>
                <a:latin typeface="+mn-lt"/>
                <a:ea typeface="+mn-ea"/>
                <a:cs typeface="+mn-cs"/>
              </a:rPr>
              <a:t>Up to this point, we’ve been assuming that everything will always work in the </a:t>
            </a:r>
            <a:r>
              <a:rPr lang="en-US" sz="1200" b="0" i="0" u="none" strike="noStrike" kern="1200" baseline="0" dirty="0" err="1" smtClean="0">
                <a:solidFill>
                  <a:schemeClr val="tx1"/>
                </a:solidFill>
                <a:latin typeface="+mn-lt"/>
                <a:ea typeface="+mn-ea"/>
                <a:cs typeface="+mn-cs"/>
              </a:rPr>
              <a:t>Spittr</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application. But what if something goes wrong? What if, while handling a request, an</a:t>
            </a:r>
          </a:p>
          <a:p>
            <a:r>
              <a:rPr lang="en-US" sz="1200" b="0" i="0" u="none" strike="noStrike" kern="1200" baseline="0" dirty="0" smtClean="0">
                <a:solidFill>
                  <a:schemeClr val="tx1"/>
                </a:solidFill>
                <a:latin typeface="+mn-lt"/>
                <a:ea typeface="+mn-ea"/>
                <a:cs typeface="+mn-cs"/>
              </a:rPr>
              <a:t>exception is thrown? What response will be sent to the client when thing go awry?</a:t>
            </a:r>
          </a:p>
          <a:p>
            <a:r>
              <a:rPr lang="en-US" sz="1200" b="0" i="0" u="none" strike="noStrike" kern="1200" baseline="0" dirty="0" smtClean="0">
                <a:solidFill>
                  <a:schemeClr val="tx1"/>
                </a:solidFill>
                <a:latin typeface="+mn-lt"/>
                <a:ea typeface="+mn-ea"/>
                <a:cs typeface="+mn-cs"/>
              </a:rPr>
              <a:t>No matter what happens, good or bad, the outcome of a servlet request is a servlet</a:t>
            </a:r>
          </a:p>
          <a:p>
            <a:r>
              <a:rPr lang="en-US" sz="1200" b="0" i="0" u="none" strike="noStrike" kern="1200" baseline="0" dirty="0" smtClean="0">
                <a:solidFill>
                  <a:schemeClr val="tx1"/>
                </a:solidFill>
                <a:latin typeface="+mn-lt"/>
                <a:ea typeface="+mn-ea"/>
                <a:cs typeface="+mn-cs"/>
              </a:rPr>
              <a:t>response. If an exception occurs during request processing, the outcome is still a servlet</a:t>
            </a:r>
          </a:p>
          <a:p>
            <a:r>
              <a:rPr lang="en-US" sz="1200" b="0" i="0" u="none" strike="noStrike" kern="1200" baseline="0" dirty="0" smtClean="0">
                <a:solidFill>
                  <a:schemeClr val="tx1"/>
                </a:solidFill>
                <a:latin typeface="+mn-lt"/>
                <a:ea typeface="+mn-ea"/>
                <a:cs typeface="+mn-cs"/>
              </a:rPr>
              <a:t>response. Somehow, the exception must be translated into a response.</a:t>
            </a:r>
          </a:p>
          <a:p>
            <a:endParaRPr lang="en-US" sz="1200" b="0" i="0" u="none" strike="noStrike" kern="1200" baseline="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10</a:t>
            </a:fld>
            <a:endParaRPr lang="en-US"/>
          </a:p>
        </p:txBody>
      </p:sp>
    </p:spTree>
    <p:extLst>
      <p:ext uri="{BB962C8B-B14F-4D97-AF65-F5344CB8AC3E}">
        <p14:creationId xmlns:p14="http://schemas.microsoft.com/office/powerpoint/2010/main" val="410606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exceptions in table 7.1 are usually thrown by Spring itself as the result of something</a:t>
            </a:r>
          </a:p>
          <a:p>
            <a:r>
              <a:rPr lang="en-US" sz="1200" b="0" i="0" u="none" strike="noStrike" kern="1200" baseline="0" dirty="0" smtClean="0">
                <a:solidFill>
                  <a:schemeClr val="tx1"/>
                </a:solidFill>
                <a:latin typeface="+mn-lt"/>
                <a:ea typeface="+mn-ea"/>
                <a:cs typeface="+mn-cs"/>
              </a:rPr>
              <a:t>going wrong in </a:t>
            </a:r>
            <a:r>
              <a:rPr lang="en-US" sz="1200" b="0" i="0" u="none" strike="noStrike" kern="1200" baseline="0" dirty="0" err="1" smtClean="0">
                <a:solidFill>
                  <a:schemeClr val="tx1"/>
                </a:solidFill>
                <a:latin typeface="+mn-lt"/>
                <a:ea typeface="+mn-ea"/>
                <a:cs typeface="+mn-cs"/>
              </a:rPr>
              <a:t>DispatcherServlet</a:t>
            </a:r>
            <a:r>
              <a:rPr lang="en-US" sz="1200" b="0" i="0" u="none" strike="noStrike" kern="1200" baseline="0" dirty="0" smtClean="0">
                <a:solidFill>
                  <a:schemeClr val="tx1"/>
                </a:solidFill>
                <a:latin typeface="+mn-lt"/>
                <a:ea typeface="+mn-ea"/>
                <a:cs typeface="+mn-cs"/>
              </a:rPr>
              <a:t> or while performing validation. For example,</a:t>
            </a:r>
          </a:p>
          <a:p>
            <a:r>
              <a:rPr lang="en-US" sz="1200" b="0" i="0" u="none" strike="noStrike" kern="1200" baseline="0" dirty="0" smtClean="0">
                <a:solidFill>
                  <a:schemeClr val="tx1"/>
                </a:solidFill>
                <a:latin typeface="+mn-lt"/>
                <a:ea typeface="+mn-ea"/>
                <a:cs typeface="+mn-cs"/>
              </a:rPr>
              <a:t>if </a:t>
            </a:r>
            <a:r>
              <a:rPr lang="en-US" sz="1200" b="0" i="0" u="none" strike="noStrike" kern="1200" baseline="0" dirty="0" err="1" smtClean="0">
                <a:solidFill>
                  <a:schemeClr val="tx1"/>
                </a:solidFill>
                <a:latin typeface="+mn-lt"/>
                <a:ea typeface="+mn-ea"/>
                <a:cs typeface="+mn-cs"/>
              </a:rPr>
              <a:t>DispatcherServlet</a:t>
            </a:r>
            <a:r>
              <a:rPr lang="en-US" sz="1200" b="0" i="0" u="none" strike="noStrike" kern="1200" baseline="0" dirty="0" smtClean="0">
                <a:solidFill>
                  <a:schemeClr val="tx1"/>
                </a:solidFill>
                <a:latin typeface="+mn-lt"/>
                <a:ea typeface="+mn-ea"/>
                <a:cs typeface="+mn-cs"/>
              </a:rPr>
              <a:t> can’t find a controller method suitable to handle a request,</a:t>
            </a:r>
          </a:p>
          <a:p>
            <a:r>
              <a:rPr lang="en-US" sz="1200" b="0" i="0" u="none" strike="noStrike" kern="1200" baseline="0" dirty="0" smtClean="0">
                <a:solidFill>
                  <a:schemeClr val="tx1"/>
                </a:solidFill>
                <a:latin typeface="+mn-lt"/>
                <a:ea typeface="+mn-ea"/>
                <a:cs typeface="+mn-cs"/>
              </a:rPr>
              <a:t>a </a:t>
            </a:r>
            <a:r>
              <a:rPr lang="en-US" sz="1200" b="0" i="0" u="none" strike="noStrike" kern="1200" baseline="0" dirty="0" err="1" smtClean="0">
                <a:solidFill>
                  <a:schemeClr val="tx1"/>
                </a:solidFill>
                <a:latin typeface="+mn-lt"/>
                <a:ea typeface="+mn-ea"/>
                <a:cs typeface="+mn-cs"/>
              </a:rPr>
              <a:t>NoSuchRequestHandlingMethodException</a:t>
            </a:r>
            <a:r>
              <a:rPr lang="en-US" sz="1200" b="0" i="0" u="none" strike="noStrike" kern="1200" baseline="0" dirty="0" smtClean="0">
                <a:solidFill>
                  <a:schemeClr val="tx1"/>
                </a:solidFill>
                <a:latin typeface="+mn-lt"/>
                <a:ea typeface="+mn-ea"/>
                <a:cs typeface="+mn-cs"/>
              </a:rPr>
              <a:t> will be thrown, resulting in a response</a:t>
            </a:r>
          </a:p>
          <a:p>
            <a:r>
              <a:rPr lang="en-US" sz="1200" b="0" i="0" u="none" strike="noStrike" kern="1200" baseline="0" dirty="0" smtClean="0">
                <a:solidFill>
                  <a:schemeClr val="tx1"/>
                </a:solidFill>
                <a:latin typeface="+mn-lt"/>
                <a:ea typeface="+mn-ea"/>
                <a:cs typeface="+mn-cs"/>
              </a:rPr>
              <a:t>with a status code of 404 (Not Found).</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Although these built-in mappings are helpful, they do no good for any application</a:t>
            </a:r>
          </a:p>
          <a:p>
            <a:r>
              <a:rPr lang="en-US" sz="1200" b="0" i="0" u="none" strike="noStrike" kern="1200" baseline="0" dirty="0" smtClean="0">
                <a:solidFill>
                  <a:schemeClr val="tx1"/>
                </a:solidFill>
                <a:latin typeface="+mn-lt"/>
                <a:ea typeface="+mn-ea"/>
                <a:cs typeface="+mn-cs"/>
              </a:rPr>
              <a:t>exceptions that may be thrown. Fortunately, Spring offers a way to map exceptions to</a:t>
            </a:r>
          </a:p>
          <a:p>
            <a:r>
              <a:rPr lang="en-US" sz="1200" b="0" i="0" u="none" strike="noStrike" kern="1200" baseline="0" dirty="0" smtClean="0">
                <a:solidFill>
                  <a:schemeClr val="tx1"/>
                </a:solidFill>
                <a:latin typeface="+mn-lt"/>
                <a:ea typeface="+mn-ea"/>
                <a:cs typeface="+mn-cs"/>
              </a:rPr>
              <a:t>HTTP status codes via the @</a:t>
            </a:r>
            <a:r>
              <a:rPr lang="en-US" sz="1200" b="0" i="0" u="none" strike="noStrike" kern="1200" baseline="0" dirty="0" err="1" smtClean="0">
                <a:solidFill>
                  <a:schemeClr val="tx1"/>
                </a:solidFill>
                <a:latin typeface="+mn-lt"/>
                <a:ea typeface="+mn-ea"/>
                <a:cs typeface="+mn-cs"/>
              </a:rPr>
              <a:t>ResponseStatus</a:t>
            </a:r>
            <a:r>
              <a:rPr lang="en-US" sz="1200" b="0" i="0" u="none" strike="noStrike" kern="1200" baseline="0" dirty="0" smtClean="0">
                <a:solidFill>
                  <a:schemeClr val="tx1"/>
                </a:solidFill>
                <a:latin typeface="+mn-lt"/>
                <a:ea typeface="+mn-ea"/>
                <a:cs typeface="+mn-cs"/>
              </a:rPr>
              <a:t> annotation.</a:t>
            </a:r>
          </a:p>
          <a:p>
            <a:endParaRPr lang="en-US" sz="1200" b="0" i="0" u="none" strike="noStrike" kern="1200" baseline="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11</a:t>
            </a:fld>
            <a:endParaRPr lang="en-US"/>
          </a:p>
        </p:txBody>
      </p:sp>
    </p:spTree>
    <p:extLst>
      <p:ext uri="{BB962C8B-B14F-4D97-AF65-F5344CB8AC3E}">
        <p14:creationId xmlns:p14="http://schemas.microsoft.com/office/powerpoint/2010/main" val="682710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exceptions in table 7.1 are usually thrown by Spring itself as the result of something</a:t>
            </a:r>
          </a:p>
          <a:p>
            <a:r>
              <a:rPr lang="en-US" sz="1200" b="0" i="0" u="none" strike="noStrike" kern="1200" baseline="0" dirty="0" smtClean="0">
                <a:solidFill>
                  <a:schemeClr val="tx1"/>
                </a:solidFill>
                <a:latin typeface="+mn-lt"/>
                <a:ea typeface="+mn-ea"/>
                <a:cs typeface="+mn-cs"/>
              </a:rPr>
              <a:t>going wrong in </a:t>
            </a:r>
            <a:r>
              <a:rPr lang="en-US" sz="1200" b="0" i="0" u="none" strike="noStrike" kern="1200" baseline="0" dirty="0" err="1" smtClean="0">
                <a:solidFill>
                  <a:schemeClr val="tx1"/>
                </a:solidFill>
                <a:latin typeface="+mn-lt"/>
                <a:ea typeface="+mn-ea"/>
                <a:cs typeface="+mn-cs"/>
              </a:rPr>
              <a:t>DispatcherServlet</a:t>
            </a:r>
            <a:r>
              <a:rPr lang="en-US" sz="1200" b="0" i="0" u="none" strike="noStrike" kern="1200" baseline="0" dirty="0" smtClean="0">
                <a:solidFill>
                  <a:schemeClr val="tx1"/>
                </a:solidFill>
                <a:latin typeface="+mn-lt"/>
                <a:ea typeface="+mn-ea"/>
                <a:cs typeface="+mn-cs"/>
              </a:rPr>
              <a:t> or while performing validation. For example,</a:t>
            </a:r>
          </a:p>
          <a:p>
            <a:r>
              <a:rPr lang="en-US" sz="1200" b="0" i="0" u="none" strike="noStrike" kern="1200" baseline="0" dirty="0" smtClean="0">
                <a:solidFill>
                  <a:schemeClr val="tx1"/>
                </a:solidFill>
                <a:latin typeface="+mn-lt"/>
                <a:ea typeface="+mn-ea"/>
                <a:cs typeface="+mn-cs"/>
              </a:rPr>
              <a:t>if </a:t>
            </a:r>
            <a:r>
              <a:rPr lang="en-US" sz="1200" b="0" i="0" u="none" strike="noStrike" kern="1200" baseline="0" dirty="0" err="1" smtClean="0">
                <a:solidFill>
                  <a:schemeClr val="tx1"/>
                </a:solidFill>
                <a:latin typeface="+mn-lt"/>
                <a:ea typeface="+mn-ea"/>
                <a:cs typeface="+mn-cs"/>
              </a:rPr>
              <a:t>DispatcherServlet</a:t>
            </a:r>
            <a:r>
              <a:rPr lang="en-US" sz="1200" b="0" i="0" u="none" strike="noStrike" kern="1200" baseline="0" dirty="0" smtClean="0">
                <a:solidFill>
                  <a:schemeClr val="tx1"/>
                </a:solidFill>
                <a:latin typeface="+mn-lt"/>
                <a:ea typeface="+mn-ea"/>
                <a:cs typeface="+mn-cs"/>
              </a:rPr>
              <a:t> can’t find a controller method suitable to handle a request,</a:t>
            </a:r>
          </a:p>
          <a:p>
            <a:r>
              <a:rPr lang="en-US" sz="1200" b="0" i="0" u="none" strike="noStrike" kern="1200" baseline="0" dirty="0" smtClean="0">
                <a:solidFill>
                  <a:schemeClr val="tx1"/>
                </a:solidFill>
                <a:latin typeface="+mn-lt"/>
                <a:ea typeface="+mn-ea"/>
                <a:cs typeface="+mn-cs"/>
              </a:rPr>
              <a:t>a </a:t>
            </a:r>
            <a:r>
              <a:rPr lang="en-US" sz="1200" b="0" i="0" u="none" strike="noStrike" kern="1200" baseline="0" dirty="0" err="1" smtClean="0">
                <a:solidFill>
                  <a:schemeClr val="tx1"/>
                </a:solidFill>
                <a:latin typeface="+mn-lt"/>
                <a:ea typeface="+mn-ea"/>
                <a:cs typeface="+mn-cs"/>
              </a:rPr>
              <a:t>NoSuchRequestHandlingMethodException</a:t>
            </a:r>
            <a:r>
              <a:rPr lang="en-US" sz="1200" b="0" i="0" u="none" strike="noStrike" kern="1200" baseline="0" dirty="0" smtClean="0">
                <a:solidFill>
                  <a:schemeClr val="tx1"/>
                </a:solidFill>
                <a:latin typeface="+mn-lt"/>
                <a:ea typeface="+mn-ea"/>
                <a:cs typeface="+mn-cs"/>
              </a:rPr>
              <a:t> will be thrown, resulting in a response</a:t>
            </a:r>
          </a:p>
          <a:p>
            <a:r>
              <a:rPr lang="en-US" sz="1200" b="0" i="0" u="none" strike="noStrike" kern="1200" baseline="0" dirty="0" smtClean="0">
                <a:solidFill>
                  <a:schemeClr val="tx1"/>
                </a:solidFill>
                <a:latin typeface="+mn-lt"/>
                <a:ea typeface="+mn-ea"/>
                <a:cs typeface="+mn-cs"/>
              </a:rPr>
              <a:t>with a status code of 404 (Not Found).</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Although these built-in mappings are helpful, they do no good for any application</a:t>
            </a:r>
          </a:p>
          <a:p>
            <a:r>
              <a:rPr lang="en-US" sz="1200" b="0" i="0" u="none" strike="noStrike" kern="1200" baseline="0" dirty="0" smtClean="0">
                <a:solidFill>
                  <a:schemeClr val="tx1"/>
                </a:solidFill>
                <a:latin typeface="+mn-lt"/>
                <a:ea typeface="+mn-ea"/>
                <a:cs typeface="+mn-cs"/>
              </a:rPr>
              <a:t>exceptions that may be thrown. Fortunately, Spring offers a way to map exceptions to</a:t>
            </a:r>
          </a:p>
          <a:p>
            <a:r>
              <a:rPr lang="en-US" sz="1200" b="0" i="0" u="none" strike="noStrike" kern="1200" baseline="0" dirty="0" smtClean="0">
                <a:solidFill>
                  <a:schemeClr val="tx1"/>
                </a:solidFill>
                <a:latin typeface="+mn-lt"/>
                <a:ea typeface="+mn-ea"/>
                <a:cs typeface="+mn-cs"/>
              </a:rPr>
              <a:t>HTTP status codes via the @</a:t>
            </a:r>
            <a:r>
              <a:rPr lang="en-US" sz="1200" b="0" i="0" u="none" strike="noStrike" kern="1200" baseline="0" dirty="0" err="1" smtClean="0">
                <a:solidFill>
                  <a:schemeClr val="tx1"/>
                </a:solidFill>
                <a:latin typeface="+mn-lt"/>
                <a:ea typeface="+mn-ea"/>
                <a:cs typeface="+mn-cs"/>
              </a:rPr>
              <a:t>ResponseStatus</a:t>
            </a:r>
            <a:r>
              <a:rPr lang="en-US" sz="1200" b="0" i="0" u="none" strike="noStrike" kern="1200" baseline="0" dirty="0" smtClean="0">
                <a:solidFill>
                  <a:schemeClr val="tx1"/>
                </a:solidFill>
                <a:latin typeface="+mn-lt"/>
                <a:ea typeface="+mn-ea"/>
                <a:cs typeface="+mn-cs"/>
              </a:rPr>
              <a:t> annotation.</a:t>
            </a:r>
          </a:p>
          <a:p>
            <a:endParaRPr lang="en-US" sz="1200" b="0" i="0" u="none" strike="noStrike" kern="1200" baseline="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12</a:t>
            </a:fld>
            <a:endParaRPr lang="en-US"/>
          </a:p>
        </p:txBody>
      </p:sp>
    </p:spTree>
    <p:extLst>
      <p:ext uri="{BB962C8B-B14F-4D97-AF65-F5344CB8AC3E}">
        <p14:creationId xmlns:p14="http://schemas.microsoft.com/office/powerpoint/2010/main" val="1010708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If the spittle() method is called on to handle a request, and the given ID comes up</a:t>
            </a:r>
          </a:p>
          <a:p>
            <a:r>
              <a:rPr lang="en-US" sz="1200" b="0" i="0" u="none" strike="noStrike" kern="1200" baseline="0" dirty="0" smtClean="0">
                <a:solidFill>
                  <a:schemeClr val="tx1"/>
                </a:solidFill>
                <a:latin typeface="+mn-lt"/>
                <a:ea typeface="+mn-ea"/>
                <a:cs typeface="+mn-cs"/>
              </a:rPr>
              <a:t>empty, the </a:t>
            </a:r>
            <a:r>
              <a:rPr lang="en-US" sz="1200" b="0" i="0" u="none" strike="noStrike" kern="1200" baseline="0" dirty="0" err="1" smtClean="0">
                <a:solidFill>
                  <a:schemeClr val="tx1"/>
                </a:solidFill>
                <a:latin typeface="+mn-lt"/>
                <a:ea typeface="+mn-ea"/>
                <a:cs typeface="+mn-cs"/>
              </a:rPr>
              <a:t>SpittleNotFoundException</a:t>
            </a:r>
            <a:r>
              <a:rPr lang="en-US" sz="1200" b="0" i="0" u="none" strike="noStrike" kern="1200" baseline="0" dirty="0" smtClean="0">
                <a:solidFill>
                  <a:schemeClr val="tx1"/>
                </a:solidFill>
                <a:latin typeface="+mn-lt"/>
                <a:ea typeface="+mn-ea"/>
                <a:cs typeface="+mn-cs"/>
              </a:rPr>
              <a:t> will (by default) result in a response with a</a:t>
            </a:r>
          </a:p>
          <a:p>
            <a:r>
              <a:rPr lang="en-US" sz="1200" b="0" i="0" u="none" strike="noStrike" kern="1200" baseline="0" dirty="0" smtClean="0">
                <a:solidFill>
                  <a:schemeClr val="tx1"/>
                </a:solidFill>
                <a:latin typeface="+mn-lt"/>
                <a:ea typeface="+mn-ea"/>
                <a:cs typeface="+mn-cs"/>
              </a:rPr>
              <a:t>500 (Internal Server Error) status code. In fact, in the event of any exception that isn’t</a:t>
            </a:r>
          </a:p>
          <a:p>
            <a:r>
              <a:rPr lang="en-US" sz="1200" b="0" i="0" u="none" strike="noStrike" kern="1200" baseline="0" dirty="0" smtClean="0">
                <a:solidFill>
                  <a:schemeClr val="tx1"/>
                </a:solidFill>
                <a:latin typeface="+mn-lt"/>
                <a:ea typeface="+mn-ea"/>
                <a:cs typeface="+mn-cs"/>
              </a:rPr>
              <a:t>otherwise mapped, the response will always have a 500 status code. But you can</a:t>
            </a:r>
          </a:p>
          <a:p>
            <a:r>
              <a:rPr lang="en-US" sz="1200" b="0" i="0" u="none" strike="noStrike" kern="1200" baseline="0" dirty="0" smtClean="0">
                <a:solidFill>
                  <a:schemeClr val="tx1"/>
                </a:solidFill>
                <a:latin typeface="+mn-lt"/>
                <a:ea typeface="+mn-ea"/>
                <a:cs typeface="+mn-cs"/>
              </a:rPr>
              <a:t>change that by mapping </a:t>
            </a:r>
            <a:r>
              <a:rPr lang="en-US" sz="1200" b="0" i="0" u="none" strike="noStrike" kern="1200" baseline="0" dirty="0" err="1" smtClean="0">
                <a:solidFill>
                  <a:schemeClr val="tx1"/>
                </a:solidFill>
                <a:latin typeface="+mn-lt"/>
                <a:ea typeface="+mn-ea"/>
                <a:cs typeface="+mn-cs"/>
              </a:rPr>
              <a:t>SpittleNotFoundException</a:t>
            </a:r>
            <a:r>
              <a:rPr lang="en-US" sz="1200" b="0" i="0" u="none" strike="noStrike" kern="1200" baseline="0" dirty="0" smtClean="0">
                <a:solidFill>
                  <a:schemeClr val="tx1"/>
                </a:solidFill>
                <a:latin typeface="+mn-lt"/>
                <a:ea typeface="+mn-ea"/>
                <a:cs typeface="+mn-cs"/>
              </a:rPr>
              <a:t> otherwise.</a:t>
            </a:r>
          </a:p>
          <a:p>
            <a:r>
              <a:rPr lang="en-US" sz="1200" b="0" i="0" u="none" strike="noStrike" kern="1200" baseline="0" dirty="0" smtClean="0">
                <a:solidFill>
                  <a:schemeClr val="tx1"/>
                </a:solidFill>
                <a:latin typeface="+mn-lt"/>
                <a:ea typeface="+mn-ea"/>
                <a:cs typeface="+mn-cs"/>
              </a:rPr>
              <a:t>When </a:t>
            </a:r>
            <a:r>
              <a:rPr lang="en-US" sz="1200" b="0" i="0" u="none" strike="noStrike" kern="1200" baseline="0" dirty="0" err="1" smtClean="0">
                <a:solidFill>
                  <a:schemeClr val="tx1"/>
                </a:solidFill>
                <a:latin typeface="+mn-lt"/>
                <a:ea typeface="+mn-ea"/>
                <a:cs typeface="+mn-cs"/>
              </a:rPr>
              <a:t>SpittleNotFoundException</a:t>
            </a:r>
            <a:r>
              <a:rPr lang="en-US" sz="1200" b="0" i="0" u="none" strike="noStrike" kern="1200" baseline="0" dirty="0" smtClean="0">
                <a:solidFill>
                  <a:schemeClr val="tx1"/>
                </a:solidFill>
                <a:latin typeface="+mn-lt"/>
                <a:ea typeface="+mn-ea"/>
                <a:cs typeface="+mn-cs"/>
              </a:rPr>
              <a:t> is thrown, it’s a situation where a requested</a:t>
            </a:r>
          </a:p>
          <a:p>
            <a:r>
              <a:rPr lang="en-US" sz="1200" b="0" i="0" u="none" strike="noStrike" kern="1200" baseline="0" dirty="0" smtClean="0">
                <a:solidFill>
                  <a:schemeClr val="tx1"/>
                </a:solidFill>
                <a:latin typeface="+mn-lt"/>
                <a:ea typeface="+mn-ea"/>
                <a:cs typeface="+mn-cs"/>
              </a:rPr>
              <a:t>resource isn’t found. The HTTP status code of 404 is precisely the appropriate</a:t>
            </a:r>
          </a:p>
          <a:p>
            <a:r>
              <a:rPr lang="en-US" sz="1200" b="0" i="0" u="none" strike="noStrike" kern="1200" baseline="0" dirty="0" smtClean="0">
                <a:solidFill>
                  <a:schemeClr val="tx1"/>
                </a:solidFill>
                <a:latin typeface="+mn-lt"/>
                <a:ea typeface="+mn-ea"/>
                <a:cs typeface="+mn-cs"/>
              </a:rPr>
              <a:t>response status code when a resource isn’t found. So, let’s use @</a:t>
            </a:r>
            <a:r>
              <a:rPr lang="en-US" sz="1200" b="0" i="0" u="none" strike="noStrike" kern="1200" baseline="0" dirty="0" err="1" smtClean="0">
                <a:solidFill>
                  <a:schemeClr val="tx1"/>
                </a:solidFill>
                <a:latin typeface="+mn-lt"/>
                <a:ea typeface="+mn-ea"/>
                <a:cs typeface="+mn-cs"/>
              </a:rPr>
              <a:t>ResponseStatus</a:t>
            </a:r>
            <a:r>
              <a:rPr lang="en-US" sz="1200" b="0" i="0" u="none" strike="noStrike" kern="1200" baseline="0" dirty="0" smtClean="0">
                <a:solidFill>
                  <a:schemeClr val="tx1"/>
                </a:solidFill>
                <a:latin typeface="+mn-lt"/>
                <a:ea typeface="+mn-ea"/>
                <a:cs typeface="+mn-cs"/>
              </a:rPr>
              <a:t> to</a:t>
            </a:r>
          </a:p>
          <a:p>
            <a:r>
              <a:rPr lang="en-US" sz="1200" b="0" i="0" u="none" strike="noStrike" kern="1200" baseline="0" dirty="0" smtClean="0">
                <a:solidFill>
                  <a:schemeClr val="tx1"/>
                </a:solidFill>
                <a:latin typeface="+mn-lt"/>
                <a:ea typeface="+mn-ea"/>
                <a:cs typeface="+mn-cs"/>
              </a:rPr>
              <a:t>map </a:t>
            </a:r>
            <a:r>
              <a:rPr lang="en-US" sz="1200" b="0" i="0" u="none" strike="noStrike" kern="1200" baseline="0" dirty="0" err="1" smtClean="0">
                <a:solidFill>
                  <a:schemeClr val="tx1"/>
                </a:solidFill>
                <a:latin typeface="+mn-lt"/>
                <a:ea typeface="+mn-ea"/>
                <a:cs typeface="+mn-cs"/>
              </a:rPr>
              <a:t>SpittleNotFoundException</a:t>
            </a:r>
            <a:r>
              <a:rPr lang="en-US" sz="1200" b="0" i="0" u="none" strike="noStrike" kern="1200" baseline="0" dirty="0" smtClean="0">
                <a:solidFill>
                  <a:schemeClr val="tx1"/>
                </a:solidFill>
                <a:latin typeface="+mn-lt"/>
                <a:ea typeface="+mn-ea"/>
                <a:cs typeface="+mn-cs"/>
              </a:rPr>
              <a:t> to HTTP status code 404.</a:t>
            </a:r>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13</a:t>
            </a:fld>
            <a:endParaRPr lang="en-US"/>
          </a:p>
        </p:txBody>
      </p:sp>
    </p:spTree>
    <p:extLst>
      <p:ext uri="{BB962C8B-B14F-4D97-AF65-F5344CB8AC3E}">
        <p14:creationId xmlns:p14="http://schemas.microsoft.com/office/powerpoint/2010/main" val="3400610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u="none" strike="noStrike" kern="1200" baseline="0" dirty="0" smtClean="0">
                <a:solidFill>
                  <a:schemeClr val="tx1"/>
                </a:solidFill>
                <a:latin typeface="+mn-lt"/>
                <a:ea typeface="+mn-ea"/>
                <a:cs typeface="+mn-cs"/>
              </a:rPr>
              <a:t>Writing exception-handling methods</a:t>
            </a:r>
          </a:p>
          <a:p>
            <a:r>
              <a:rPr lang="en-US" sz="1200" b="0" i="0" u="none" strike="noStrike" kern="1200" baseline="0" dirty="0" smtClean="0">
                <a:solidFill>
                  <a:schemeClr val="tx1"/>
                </a:solidFill>
                <a:latin typeface="+mn-lt"/>
                <a:ea typeface="+mn-ea"/>
                <a:cs typeface="+mn-cs"/>
              </a:rPr>
              <a:t>Mapping exceptions to status codes is simple and sufficient for many cases. But what if</a:t>
            </a:r>
          </a:p>
          <a:p>
            <a:r>
              <a:rPr lang="en-US" sz="1200" b="0" i="0" u="none" strike="noStrike" kern="1200" baseline="0" dirty="0" smtClean="0">
                <a:solidFill>
                  <a:schemeClr val="tx1"/>
                </a:solidFill>
                <a:latin typeface="+mn-lt"/>
                <a:ea typeface="+mn-ea"/>
                <a:cs typeface="+mn-cs"/>
              </a:rPr>
              <a:t>you want the response to carry more than just a status code that represents the error</a:t>
            </a:r>
          </a:p>
          <a:p>
            <a:r>
              <a:rPr lang="en-US" sz="1200" b="0" i="0" u="none" strike="noStrike" kern="1200" baseline="0" dirty="0" smtClean="0">
                <a:solidFill>
                  <a:schemeClr val="tx1"/>
                </a:solidFill>
                <a:latin typeface="+mn-lt"/>
                <a:ea typeface="+mn-ea"/>
                <a:cs typeface="+mn-cs"/>
              </a:rPr>
              <a:t>that occurred?</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But what if  you want the response to carry more than just a status code that represents the error</a:t>
            </a:r>
          </a:p>
          <a:p>
            <a:r>
              <a:rPr lang="en-US" sz="1200" b="0" i="0" u="none" strike="noStrike" kern="1200" baseline="0" dirty="0" smtClean="0">
                <a:solidFill>
                  <a:schemeClr val="tx1"/>
                </a:solidFill>
                <a:latin typeface="+mn-lt"/>
                <a:ea typeface="+mn-ea"/>
                <a:cs typeface="+mn-cs"/>
              </a:rPr>
              <a:t>that occurred? Rather than treat the exception generically as some HTTP error, maybe</a:t>
            </a:r>
          </a:p>
          <a:p>
            <a:r>
              <a:rPr lang="en-US" sz="1200" b="0" i="0" u="none" strike="noStrike" kern="1200" baseline="0" dirty="0" smtClean="0">
                <a:solidFill>
                  <a:schemeClr val="tx1"/>
                </a:solidFill>
                <a:latin typeface="+mn-lt"/>
                <a:ea typeface="+mn-ea"/>
                <a:cs typeface="+mn-cs"/>
              </a:rPr>
              <a:t>you’d like to handle the exception the same way you might handle the request itself.</a:t>
            </a:r>
          </a:p>
          <a:p>
            <a:endParaRPr lang="en-US" sz="1200" b="0" i="0" u="none" strike="noStrike" kern="1200" baseline="0" dirty="0" smtClean="0">
              <a:solidFill>
                <a:schemeClr val="tx1"/>
              </a:solidFill>
              <a:latin typeface="+mn-lt"/>
              <a:ea typeface="+mn-ea"/>
              <a:cs typeface="+mn-cs"/>
            </a:endParaRPr>
          </a:p>
          <a:p>
            <a:r>
              <a:rPr lang="en-US" sz="1200" b="1" i="0" kern="1200" dirty="0" smtClean="0">
                <a:solidFill>
                  <a:schemeClr val="tx1"/>
                </a:solidFill>
                <a:effectLst/>
                <a:latin typeface="+mn-lt"/>
                <a:ea typeface="+mn-ea"/>
                <a:cs typeface="+mn-cs"/>
              </a:rPr>
              <a:t>We usually write code in an idealized environment: the </a:t>
            </a:r>
            <a:r>
              <a:rPr lang="en-US" sz="1200" b="1" i="0" kern="1200" dirty="0" err="1" smtClean="0">
                <a:solidFill>
                  <a:schemeClr val="tx1"/>
                </a:solidFill>
                <a:effectLst/>
                <a:latin typeface="+mn-lt"/>
                <a:ea typeface="+mn-ea"/>
                <a:cs typeface="+mn-cs"/>
              </a:rPr>
              <a:t>filesystem</a:t>
            </a:r>
            <a:r>
              <a:rPr lang="en-US" sz="1200" b="1" i="0" kern="1200" dirty="0" smtClean="0">
                <a:solidFill>
                  <a:schemeClr val="tx1"/>
                </a:solidFill>
                <a:effectLst/>
                <a:latin typeface="+mn-lt"/>
                <a:ea typeface="+mn-ea"/>
                <a:cs typeface="+mn-cs"/>
              </a:rPr>
              <a:t> always contains our files, the network is healthy, and the JVM always has enough memory. Sometimes we call this the “happy path”.</a:t>
            </a:r>
            <a:endParaRPr lang="en-US" sz="1200" b="1" i="0" u="none" strike="noStrike" kern="1200" baseline="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14</a:t>
            </a:fld>
            <a:endParaRPr lang="en-US"/>
          </a:p>
        </p:txBody>
      </p:sp>
    </p:spTree>
    <p:extLst>
      <p:ext uri="{BB962C8B-B14F-4D97-AF65-F5344CB8AC3E}">
        <p14:creationId xmlns:p14="http://schemas.microsoft.com/office/powerpoint/2010/main" val="2708109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Rather than duplicate exception-handling code in  every method that has the potential for throwing a </a:t>
            </a:r>
            <a:r>
              <a:rPr lang="en-US" sz="1200" b="0" i="0" u="none" strike="noStrike" kern="1200" baseline="0" dirty="0" err="1" smtClean="0">
                <a:solidFill>
                  <a:schemeClr val="tx1"/>
                </a:solidFill>
                <a:latin typeface="+mn-lt"/>
                <a:ea typeface="+mn-ea"/>
                <a:cs typeface="+mn-cs"/>
              </a:rPr>
              <a:t>DuplicateSpittleException</a:t>
            </a:r>
            <a:r>
              <a:rPr lang="en-US" sz="1200" b="0" i="0" u="none" strike="noStrike" kern="1200" baseline="0" dirty="0" smtClean="0">
                <a:solidFill>
                  <a:schemeClr val="tx1"/>
                </a:solidFill>
                <a:latin typeface="+mn-lt"/>
                <a:ea typeface="+mn-ea"/>
                <a:cs typeface="+mn-cs"/>
              </a:rPr>
              <a:t>, this</a:t>
            </a:r>
          </a:p>
          <a:p>
            <a:r>
              <a:rPr lang="en-US" sz="1200" b="0" i="0" u="none" strike="noStrike" kern="1200" baseline="0" dirty="0" smtClean="0">
                <a:solidFill>
                  <a:schemeClr val="tx1"/>
                </a:solidFill>
                <a:latin typeface="+mn-lt"/>
                <a:ea typeface="+mn-ea"/>
                <a:cs typeface="+mn-cs"/>
              </a:rPr>
              <a:t>one method covers them all. exception-handling code out of </a:t>
            </a:r>
            <a:r>
              <a:rPr lang="en-US" sz="1200" b="0" i="0" u="none" strike="noStrike" kern="1200" baseline="0" dirty="0" err="1" smtClean="0">
                <a:solidFill>
                  <a:schemeClr val="tx1"/>
                </a:solidFill>
                <a:latin typeface="+mn-lt"/>
                <a:ea typeface="+mn-ea"/>
                <a:cs typeface="+mn-cs"/>
              </a:rPr>
              <a:t>saveSpittle</a:t>
            </a:r>
            <a:r>
              <a:rPr lang="en-US" sz="1200" b="0" i="0" u="none" strike="noStrike" kern="1200" baseline="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15</a:t>
            </a:fld>
            <a:endParaRPr lang="en-US"/>
          </a:p>
        </p:txBody>
      </p:sp>
    </p:spTree>
    <p:extLst>
      <p:ext uri="{BB962C8B-B14F-4D97-AF65-F5344CB8AC3E}">
        <p14:creationId xmlns:p14="http://schemas.microsoft.com/office/powerpoint/2010/main" val="1656560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a:p>
            <a:r>
              <a:rPr lang="en-US" sz="1200" b="1" i="1" u="none" strike="noStrike" kern="1200" baseline="0" dirty="0" smtClean="0">
                <a:solidFill>
                  <a:schemeClr val="tx1"/>
                </a:solidFill>
                <a:latin typeface="+mn-lt"/>
                <a:ea typeface="+mn-ea"/>
                <a:cs typeface="+mn-cs"/>
              </a:rPr>
              <a:t>https://www.baeldung.com/spring-mvc-and-the-modelattribute-annotation</a:t>
            </a:r>
          </a:p>
          <a:p>
            <a:endParaRPr lang="en-US" sz="1200" b="1" i="1" u="none" strike="noStrike" kern="1200" baseline="0" dirty="0" smtClean="0">
              <a:solidFill>
                <a:schemeClr val="tx1"/>
              </a:solidFill>
              <a:latin typeface="+mn-lt"/>
              <a:ea typeface="+mn-ea"/>
              <a:cs typeface="+mn-cs"/>
            </a:endParaRPr>
          </a:p>
          <a:p>
            <a:endParaRPr lang="en-US" sz="1200" b="1" i="1" u="none" strike="noStrike" kern="1200" baseline="0" dirty="0" smtClean="0">
              <a:solidFill>
                <a:schemeClr val="tx1"/>
              </a:solidFill>
              <a:latin typeface="+mn-lt"/>
              <a:ea typeface="+mn-ea"/>
              <a:cs typeface="+mn-cs"/>
            </a:endParaRPr>
          </a:p>
          <a:p>
            <a:r>
              <a:rPr lang="en-US" sz="1200" b="1" i="1" u="none" strike="noStrike" kern="1200" baseline="0" dirty="0" smtClean="0">
                <a:solidFill>
                  <a:schemeClr val="tx1"/>
                </a:solidFill>
                <a:latin typeface="+mn-lt"/>
                <a:ea typeface="+mn-ea"/>
                <a:cs typeface="+mn-cs"/>
              </a:rPr>
              <a:t>Advising controllers</a:t>
            </a:r>
          </a:p>
          <a:p>
            <a:r>
              <a:rPr lang="en-US" sz="1200" b="0" i="0" u="none" strike="noStrike" kern="1200" baseline="0" dirty="0" smtClean="0">
                <a:solidFill>
                  <a:schemeClr val="tx1"/>
                </a:solidFill>
                <a:latin typeface="+mn-lt"/>
                <a:ea typeface="+mn-ea"/>
                <a:cs typeface="+mn-cs"/>
              </a:rPr>
              <a:t>Certain aspects of controller classes might be handier if they could be applied broadly</a:t>
            </a:r>
          </a:p>
          <a:p>
            <a:r>
              <a:rPr lang="en-US" sz="1200" b="0" i="0" u="none" strike="noStrike" kern="1200" baseline="0" dirty="0" smtClean="0">
                <a:solidFill>
                  <a:schemeClr val="tx1"/>
                </a:solidFill>
                <a:latin typeface="+mn-lt"/>
                <a:ea typeface="+mn-ea"/>
                <a:cs typeface="+mn-cs"/>
              </a:rPr>
              <a:t>across all controllers in a given application. @</a:t>
            </a:r>
            <a:r>
              <a:rPr lang="en-US" sz="1200" b="0" i="0" u="none" strike="noStrike" kern="1200" baseline="0" dirty="0" err="1" smtClean="0">
                <a:solidFill>
                  <a:schemeClr val="tx1"/>
                </a:solidFill>
                <a:latin typeface="+mn-lt"/>
                <a:ea typeface="+mn-ea"/>
                <a:cs typeface="+mn-cs"/>
              </a:rPr>
              <a:t>ExceptionHandler</a:t>
            </a:r>
            <a:r>
              <a:rPr lang="en-US" sz="1200" b="0" i="0" u="none" strike="noStrike" kern="1200" baseline="0" dirty="0" smtClean="0">
                <a:solidFill>
                  <a:schemeClr val="tx1"/>
                </a:solidFill>
                <a:latin typeface="+mn-lt"/>
                <a:ea typeface="+mn-ea"/>
                <a:cs typeface="+mn-cs"/>
              </a:rPr>
              <a:t> methods, for</a:t>
            </a:r>
          </a:p>
          <a:p>
            <a:r>
              <a:rPr lang="en-US" sz="1200" b="0" i="0" u="none" strike="noStrike" kern="1200" baseline="0" dirty="0" smtClean="0">
                <a:solidFill>
                  <a:schemeClr val="tx1"/>
                </a:solidFill>
                <a:latin typeface="+mn-lt"/>
                <a:ea typeface="+mn-ea"/>
                <a:cs typeface="+mn-cs"/>
              </a:rPr>
              <a:t>instance, could prove useful in handling exceptions across multiple controllers. If a</a:t>
            </a:r>
          </a:p>
          <a:p>
            <a:r>
              <a:rPr lang="en-US" sz="1200" b="0" i="0" u="none" strike="noStrike" kern="1200" baseline="0" dirty="0" smtClean="0">
                <a:solidFill>
                  <a:schemeClr val="tx1"/>
                </a:solidFill>
                <a:latin typeface="+mn-lt"/>
                <a:ea typeface="+mn-ea"/>
                <a:cs typeface="+mn-cs"/>
              </a:rPr>
              <a:t>particular exception is thrown from multiple controller classes, you might find yourself</a:t>
            </a:r>
          </a:p>
          <a:p>
            <a:r>
              <a:rPr lang="en-US" sz="1200" b="1" i="0" u="none" strike="noStrike" kern="1200" baseline="0" dirty="0" smtClean="0">
                <a:solidFill>
                  <a:schemeClr val="tx1"/>
                </a:solidFill>
                <a:latin typeface="+mn-lt"/>
                <a:ea typeface="+mn-ea"/>
                <a:cs typeface="+mn-cs"/>
              </a:rPr>
              <a:t>duplicating the same @</a:t>
            </a:r>
            <a:r>
              <a:rPr lang="en-US" sz="1200" b="1" i="0" u="none" strike="noStrike" kern="1200" baseline="0" dirty="0" err="1" smtClean="0">
                <a:solidFill>
                  <a:schemeClr val="tx1"/>
                </a:solidFill>
                <a:latin typeface="+mn-lt"/>
                <a:ea typeface="+mn-ea"/>
                <a:cs typeface="+mn-cs"/>
              </a:rPr>
              <a:t>ExceptionHandler</a:t>
            </a:r>
            <a:r>
              <a:rPr lang="en-US" sz="1200" b="1" i="0" u="none" strike="noStrike" kern="1200" baseline="0" dirty="0" smtClean="0">
                <a:solidFill>
                  <a:schemeClr val="tx1"/>
                </a:solidFill>
                <a:latin typeface="+mn-lt"/>
                <a:ea typeface="+mn-ea"/>
                <a:cs typeface="+mn-cs"/>
              </a:rPr>
              <a:t> method in all of those controllers</a:t>
            </a:r>
            <a:r>
              <a:rPr lang="en-US" sz="1200" b="0" i="0" u="none" strike="noStrike" kern="1200" baseline="0" dirty="0" smtClean="0">
                <a:solidFill>
                  <a:schemeClr val="tx1"/>
                </a:solidFill>
                <a:latin typeface="+mn-lt"/>
                <a:ea typeface="+mn-ea"/>
                <a:cs typeface="+mn-cs"/>
              </a:rPr>
              <a:t>. Or,</a:t>
            </a:r>
          </a:p>
          <a:p>
            <a:r>
              <a:rPr lang="en-US" sz="1200" b="0" i="0" u="none" strike="noStrike" kern="1200" baseline="0" dirty="0" smtClean="0">
                <a:solidFill>
                  <a:schemeClr val="tx1"/>
                </a:solidFill>
                <a:latin typeface="+mn-lt"/>
                <a:ea typeface="+mn-ea"/>
                <a:cs typeface="+mn-cs"/>
              </a:rPr>
              <a:t>to avoid the duplication, you might create a base controller class that all of your controllers</a:t>
            </a:r>
          </a:p>
          <a:p>
            <a:r>
              <a:rPr lang="en-US" sz="1200" b="0" i="0" u="none" strike="noStrike" kern="1200" baseline="0" dirty="0" smtClean="0">
                <a:solidFill>
                  <a:schemeClr val="tx1"/>
                </a:solidFill>
                <a:latin typeface="+mn-lt"/>
                <a:ea typeface="+mn-ea"/>
                <a:cs typeface="+mn-cs"/>
              </a:rPr>
              <a:t>could extend to inherit the common @</a:t>
            </a:r>
            <a:r>
              <a:rPr lang="en-US" sz="1200" b="0" i="0" u="none" strike="noStrike" kern="1200" baseline="0" dirty="0" err="1" smtClean="0">
                <a:solidFill>
                  <a:schemeClr val="tx1"/>
                </a:solidFill>
                <a:latin typeface="+mn-lt"/>
                <a:ea typeface="+mn-ea"/>
                <a:cs typeface="+mn-cs"/>
              </a:rPr>
              <a:t>ExceptionHandler</a:t>
            </a:r>
            <a:r>
              <a:rPr lang="en-US" sz="1200" b="0" i="0" u="none" strike="noStrike" kern="1200" baseline="0" dirty="0" smtClean="0">
                <a:solidFill>
                  <a:schemeClr val="tx1"/>
                </a:solidFill>
                <a:latin typeface="+mn-lt"/>
                <a:ea typeface="+mn-ea"/>
                <a:cs typeface="+mn-cs"/>
              </a:rPr>
              <a:t> method.</a:t>
            </a:r>
          </a:p>
          <a:p>
            <a:r>
              <a:rPr lang="en-US" sz="1200" b="0" i="0" u="none" strike="noStrike" kern="1200" baseline="0" dirty="0" smtClean="0">
                <a:solidFill>
                  <a:schemeClr val="tx1"/>
                </a:solidFill>
                <a:latin typeface="+mn-lt"/>
                <a:ea typeface="+mn-ea"/>
                <a:cs typeface="+mn-cs"/>
              </a:rPr>
              <a:t>Spring 3.2 brings another option to the table: controller advice. A </a:t>
            </a:r>
            <a:r>
              <a:rPr lang="en-US" sz="1200" b="0" i="1" u="none" strike="noStrike" kern="1200" baseline="0" dirty="0" smtClean="0">
                <a:solidFill>
                  <a:schemeClr val="tx1"/>
                </a:solidFill>
                <a:latin typeface="+mn-lt"/>
                <a:ea typeface="+mn-ea"/>
                <a:cs typeface="+mn-cs"/>
              </a:rPr>
              <a:t>controller advice </a:t>
            </a:r>
            <a:r>
              <a:rPr lang="en-US" sz="1200" b="0" i="0" u="none" strike="noStrike" kern="1200" baseline="0" dirty="0" smtClean="0">
                <a:solidFill>
                  <a:schemeClr val="tx1"/>
                </a:solidFill>
                <a:latin typeface="+mn-lt"/>
                <a:ea typeface="+mn-ea"/>
                <a:cs typeface="+mn-cs"/>
              </a:rPr>
              <a:t>is</a:t>
            </a:r>
          </a:p>
          <a:p>
            <a:r>
              <a:rPr lang="en-US" sz="1200" b="0" i="0" u="none" strike="noStrike" kern="1200" baseline="0" dirty="0" smtClean="0">
                <a:solidFill>
                  <a:schemeClr val="tx1"/>
                </a:solidFill>
                <a:latin typeface="+mn-lt"/>
                <a:ea typeface="+mn-ea"/>
                <a:cs typeface="+mn-cs"/>
              </a:rPr>
              <a:t>any class that’s annotated with @</a:t>
            </a:r>
            <a:r>
              <a:rPr lang="en-US" sz="1200" b="0" i="0" u="none" strike="noStrike" kern="1200" baseline="0" dirty="0" err="1" smtClean="0">
                <a:solidFill>
                  <a:schemeClr val="tx1"/>
                </a:solidFill>
                <a:latin typeface="+mn-lt"/>
                <a:ea typeface="+mn-ea"/>
                <a:cs typeface="+mn-cs"/>
              </a:rPr>
              <a:t>ControllerAdvice</a:t>
            </a:r>
            <a:r>
              <a:rPr lang="en-US" sz="1200" b="0" i="0" u="none" strike="noStrike" kern="1200" baseline="0" dirty="0" smtClean="0">
                <a:solidFill>
                  <a:schemeClr val="tx1"/>
                </a:solidFill>
                <a:latin typeface="+mn-lt"/>
                <a:ea typeface="+mn-ea"/>
                <a:cs typeface="+mn-cs"/>
              </a:rPr>
              <a:t> and has one or more of the following</a:t>
            </a:r>
          </a:p>
          <a:p>
            <a:r>
              <a:rPr lang="en-US" sz="1200" b="0" i="0" u="none" strike="noStrike" kern="1200" baseline="0" dirty="0" smtClean="0">
                <a:solidFill>
                  <a:schemeClr val="tx1"/>
                </a:solidFill>
                <a:latin typeface="+mn-lt"/>
                <a:ea typeface="+mn-ea"/>
                <a:cs typeface="+mn-cs"/>
              </a:rPr>
              <a:t>kinds of methods:</a:t>
            </a:r>
          </a:p>
          <a:p>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ExceptionHandler</a:t>
            </a:r>
            <a:r>
              <a:rPr lang="en-US" sz="1200" b="0" i="0" u="none" strike="noStrike" kern="1200" baseline="0" dirty="0" smtClean="0">
                <a:solidFill>
                  <a:schemeClr val="tx1"/>
                </a:solidFill>
                <a:latin typeface="+mn-lt"/>
                <a:ea typeface="+mn-ea"/>
                <a:cs typeface="+mn-cs"/>
              </a:rPr>
              <a:t>-annotated</a:t>
            </a:r>
          </a:p>
          <a:p>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InitBinder</a:t>
            </a:r>
            <a:r>
              <a:rPr lang="en-US" sz="1200" b="0" i="0" u="none" strike="noStrike" kern="1200" baseline="0" dirty="0" smtClean="0">
                <a:solidFill>
                  <a:schemeClr val="tx1"/>
                </a:solidFill>
                <a:latin typeface="+mn-lt"/>
                <a:ea typeface="+mn-ea"/>
                <a:cs typeface="+mn-cs"/>
              </a:rPr>
              <a:t>-annotated</a:t>
            </a:r>
          </a:p>
          <a:p>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ModelAttribute</a:t>
            </a:r>
            <a:r>
              <a:rPr lang="en-US" sz="1200" b="0" i="0" u="none" strike="noStrike" kern="1200" baseline="0" dirty="0" smtClean="0">
                <a:solidFill>
                  <a:schemeClr val="tx1"/>
                </a:solidFill>
                <a:latin typeface="+mn-lt"/>
                <a:ea typeface="+mn-ea"/>
                <a:cs typeface="+mn-cs"/>
              </a:rPr>
              <a:t>-annotated</a:t>
            </a:r>
          </a:p>
          <a:p>
            <a:endParaRPr lang="en-US" sz="1200" b="0" i="0" u="none" strike="noStrike" kern="1200" baseline="0" dirty="0" smtClean="0">
              <a:solidFill>
                <a:schemeClr val="tx1"/>
              </a:solidFill>
              <a:latin typeface="+mn-lt"/>
              <a:ea typeface="+mn-ea"/>
              <a:cs typeface="+mn-cs"/>
            </a:endParaRPr>
          </a:p>
          <a:p>
            <a:endParaRPr lang="en-US" dirty="0" smtClean="0"/>
          </a:p>
          <a:p>
            <a:r>
              <a:rPr lang="en-US" sz="1200" b="0" i="0" u="none" strike="noStrike" kern="1200" baseline="0" dirty="0" smtClean="0">
                <a:solidFill>
                  <a:schemeClr val="tx1"/>
                </a:solidFill>
                <a:latin typeface="+mn-lt"/>
                <a:ea typeface="+mn-ea"/>
                <a:cs typeface="+mn-cs"/>
              </a:rPr>
              <a:t>Those methods in an @</a:t>
            </a:r>
            <a:r>
              <a:rPr lang="en-US" sz="1200" b="0" i="0" u="none" strike="noStrike" kern="1200" baseline="0" dirty="0" err="1" smtClean="0">
                <a:solidFill>
                  <a:schemeClr val="tx1"/>
                </a:solidFill>
                <a:latin typeface="+mn-lt"/>
                <a:ea typeface="+mn-ea"/>
                <a:cs typeface="+mn-cs"/>
              </a:rPr>
              <a:t>ControllerAdvice</a:t>
            </a:r>
            <a:r>
              <a:rPr lang="en-US" sz="1200" b="0" i="0" u="none" strike="noStrike" kern="1200" baseline="0" dirty="0" smtClean="0">
                <a:solidFill>
                  <a:schemeClr val="tx1"/>
                </a:solidFill>
                <a:latin typeface="+mn-lt"/>
                <a:ea typeface="+mn-ea"/>
                <a:cs typeface="+mn-cs"/>
              </a:rPr>
              <a:t>-annotated class are </a:t>
            </a:r>
            <a:r>
              <a:rPr lang="en-US" sz="1200" b="1" i="0" u="none" strike="noStrike" kern="1200" baseline="0" dirty="0" smtClean="0">
                <a:solidFill>
                  <a:schemeClr val="tx1"/>
                </a:solidFill>
                <a:latin typeface="+mn-lt"/>
                <a:ea typeface="+mn-ea"/>
                <a:cs typeface="+mn-cs"/>
              </a:rPr>
              <a:t>applied globally across </a:t>
            </a:r>
            <a:r>
              <a:rPr lang="en-US" sz="1200" b="0" i="0" u="none" strike="noStrike" kern="1200" baseline="0" dirty="0" smtClean="0">
                <a:solidFill>
                  <a:schemeClr val="tx1"/>
                </a:solidFill>
                <a:latin typeface="+mn-lt"/>
                <a:ea typeface="+mn-ea"/>
                <a:cs typeface="+mn-cs"/>
              </a:rPr>
              <a:t>all @</a:t>
            </a:r>
            <a:r>
              <a:rPr lang="en-US" sz="1200" b="0" i="0" u="none" strike="noStrike" kern="1200" baseline="0" dirty="0" err="1" smtClean="0">
                <a:solidFill>
                  <a:schemeClr val="tx1"/>
                </a:solidFill>
                <a:latin typeface="+mn-lt"/>
                <a:ea typeface="+mn-ea"/>
                <a:cs typeface="+mn-cs"/>
              </a:rPr>
              <a:t>RequestMapping</a:t>
            </a:r>
            <a:r>
              <a:rPr lang="en-US" sz="1200" b="0" i="0" u="none" strike="noStrike" kern="1200" baseline="0" dirty="0" smtClean="0">
                <a:solidFill>
                  <a:schemeClr val="tx1"/>
                </a:solidFill>
                <a:latin typeface="+mn-lt"/>
                <a:ea typeface="+mn-ea"/>
                <a:cs typeface="+mn-cs"/>
              </a:rPr>
              <a:t>-annotated methods on all controllers in an application.</a:t>
            </a:r>
          </a:p>
          <a:p>
            <a:r>
              <a:rPr lang="en-US" sz="1200" b="0" i="0" u="none" strike="noStrike" kern="1200" baseline="0" dirty="0" smtClean="0">
                <a:solidFill>
                  <a:schemeClr val="tx1"/>
                </a:solidFill>
                <a:latin typeface="+mn-lt"/>
                <a:ea typeface="+mn-ea"/>
                <a:cs typeface="+mn-cs"/>
              </a:rPr>
              <a:t>The </a:t>
            </a:r>
            <a:r>
              <a:rPr lang="en-US" sz="1200" b="1" i="0" u="none" strike="noStrike" kern="1200" baseline="0" dirty="0" smtClean="0">
                <a:solidFill>
                  <a:schemeClr val="tx1"/>
                </a:solidFill>
                <a:latin typeface="+mn-lt"/>
                <a:ea typeface="+mn-ea"/>
                <a:cs typeface="+mn-cs"/>
              </a:rPr>
              <a:t>@</a:t>
            </a:r>
            <a:r>
              <a:rPr lang="en-US" sz="1200" b="1" i="0" u="none" strike="noStrike" kern="1200" baseline="0" dirty="0" err="1" smtClean="0">
                <a:solidFill>
                  <a:schemeClr val="tx1"/>
                </a:solidFill>
                <a:latin typeface="+mn-lt"/>
                <a:ea typeface="+mn-ea"/>
                <a:cs typeface="+mn-cs"/>
              </a:rPr>
              <a:t>ControllerAdvice</a:t>
            </a:r>
            <a:r>
              <a:rPr lang="en-US" sz="1200" b="1" i="0" u="none" strike="noStrike" kern="1200" baseline="0" dirty="0" smtClean="0">
                <a:solidFill>
                  <a:schemeClr val="tx1"/>
                </a:solidFill>
                <a:latin typeface="+mn-lt"/>
                <a:ea typeface="+mn-ea"/>
                <a:cs typeface="+mn-cs"/>
              </a:rPr>
              <a:t> annotation is itself annotated with @Component</a:t>
            </a:r>
            <a:r>
              <a:rPr lang="en-US" sz="1200" b="0" i="0" u="none" strike="noStrike" kern="1200" baseline="0" dirty="0" smtClean="0">
                <a:solidFill>
                  <a:schemeClr val="tx1"/>
                </a:solidFill>
                <a:latin typeface="+mn-lt"/>
                <a:ea typeface="+mn-ea"/>
                <a:cs typeface="+mn-cs"/>
              </a:rPr>
              <a:t>. Therefore,</a:t>
            </a:r>
          </a:p>
          <a:p>
            <a:r>
              <a:rPr lang="en-US" sz="1200" b="0" i="0" u="none" strike="noStrike" kern="1200" baseline="0" dirty="0" smtClean="0">
                <a:solidFill>
                  <a:schemeClr val="tx1"/>
                </a:solidFill>
                <a:latin typeface="+mn-lt"/>
                <a:ea typeface="+mn-ea"/>
                <a:cs typeface="+mn-cs"/>
              </a:rPr>
              <a:t>an @</a:t>
            </a:r>
            <a:r>
              <a:rPr lang="en-US" sz="1200" b="0" i="0" u="none" strike="noStrike" kern="1200" baseline="0" dirty="0" err="1" smtClean="0">
                <a:solidFill>
                  <a:schemeClr val="tx1"/>
                </a:solidFill>
                <a:latin typeface="+mn-lt"/>
                <a:ea typeface="+mn-ea"/>
                <a:cs typeface="+mn-cs"/>
              </a:rPr>
              <a:t>ControllerAdvice</a:t>
            </a:r>
            <a:r>
              <a:rPr lang="en-US" sz="1200" b="0" i="0" u="none" strike="noStrike" kern="1200" baseline="0" dirty="0" smtClean="0">
                <a:solidFill>
                  <a:schemeClr val="tx1"/>
                </a:solidFill>
                <a:latin typeface="+mn-lt"/>
                <a:ea typeface="+mn-ea"/>
                <a:cs typeface="+mn-cs"/>
              </a:rPr>
              <a:t>-annotated class will be picked up by component-scanning, just like an @Controller-annotated class.</a:t>
            </a:r>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16</a:t>
            </a:fld>
            <a:endParaRPr lang="en-US"/>
          </a:p>
        </p:txBody>
      </p:sp>
    </p:spTree>
    <p:extLst>
      <p:ext uri="{BB962C8B-B14F-4D97-AF65-F5344CB8AC3E}">
        <p14:creationId xmlns:p14="http://schemas.microsoft.com/office/powerpoint/2010/main" val="2112316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17</a:t>
            </a:fld>
            <a:endParaRPr lang="en-US"/>
          </a:p>
        </p:txBody>
      </p:sp>
    </p:spTree>
    <p:extLst>
      <p:ext uri="{BB962C8B-B14F-4D97-AF65-F5344CB8AC3E}">
        <p14:creationId xmlns:p14="http://schemas.microsoft.com/office/powerpoint/2010/main" val="270270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https://www.baeldung.com/exception-handling-for-rest-with-spring</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18</a:t>
            </a:fld>
            <a:endParaRPr lang="en-US"/>
          </a:p>
        </p:txBody>
      </p:sp>
    </p:spTree>
    <p:extLst>
      <p:ext uri="{BB962C8B-B14F-4D97-AF65-F5344CB8AC3E}">
        <p14:creationId xmlns:p14="http://schemas.microsoft.com/office/powerpoint/2010/main" val="23981520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https://www.baeldung.com/exception-handling-for-rest-with-spring</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19</a:t>
            </a:fld>
            <a:endParaRPr lang="en-US"/>
          </a:p>
        </p:txBody>
      </p:sp>
    </p:spTree>
    <p:extLst>
      <p:ext uri="{BB962C8B-B14F-4D97-AF65-F5344CB8AC3E}">
        <p14:creationId xmlns:p14="http://schemas.microsoft.com/office/powerpoint/2010/main" val="2598559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smtClean="0"/>
              <a:t>https://developer.mozilla.org/en-US/docs/Web/HTTP/Caching</a:t>
            </a:r>
          </a:p>
          <a:p>
            <a:pPr marL="0" indent="0">
              <a:buFont typeface="Arial" panose="020B0604020202020204" pitchFamily="34" charset="0"/>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B8979B4A-50AD-4921-98D2-3767FE82802A}" type="slidenum">
              <a:rPr lang="en-US" smtClean="0"/>
              <a:t>20</a:t>
            </a:fld>
            <a:endParaRPr lang="en-US"/>
          </a:p>
        </p:txBody>
      </p:sp>
    </p:spTree>
    <p:extLst>
      <p:ext uri="{BB962C8B-B14F-4D97-AF65-F5344CB8AC3E}">
        <p14:creationId xmlns:p14="http://schemas.microsoft.com/office/powerpoint/2010/main" val="2794046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F325F33-1F9F-4F40-8427-7E6F6192A6B1}"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1561353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325F33-1F9F-4F40-8427-7E6F6192A6B1}"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1278847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F325F33-1F9F-4F40-8427-7E6F6192A6B1}"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1333813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F325F33-1F9F-4F40-8427-7E6F6192A6B1}"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2062502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F325F33-1F9F-4F40-8427-7E6F6192A6B1}" type="datetimeFigureOut">
              <a:rPr lang="en-US" smtClean="0"/>
              <a:t>11/20/2024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3140635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325F33-1F9F-4F40-8427-7E6F6192A6B1}" type="datetimeFigureOut">
              <a:rPr lang="en-US" smtClean="0"/>
              <a:t>11/20/2024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1152630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325F33-1F9F-4F40-8427-7E6F6192A6B1}" type="datetimeFigureOut">
              <a:rPr lang="en-US" smtClean="0"/>
              <a:t>11/20/2024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2782604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F325F33-1F9F-4F40-8427-7E6F6192A6B1}"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2989880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F325F33-1F9F-4F40-8427-7E6F6192A6B1}"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3514698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325F33-1F9F-4F40-8427-7E6F6192A6B1}"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1993404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325F33-1F9F-4F40-8427-7E6F6192A6B1}"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67C1-98B4-449F-9CA8-AB05E471A003}" type="slidenum">
              <a:rPr lang="en-US" smtClean="0"/>
              <a:t>‹#›</a:t>
            </a:fld>
            <a:endParaRPr lang="en-US"/>
          </a:p>
        </p:txBody>
      </p:sp>
    </p:spTree>
    <p:extLst>
      <p:ext uri="{BB962C8B-B14F-4D97-AF65-F5344CB8AC3E}">
        <p14:creationId xmlns:p14="http://schemas.microsoft.com/office/powerpoint/2010/main" val="939392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325F33-1F9F-4F40-8427-7E6F6192A6B1}" type="datetimeFigureOut">
              <a:rPr lang="en-US" smtClean="0"/>
              <a:t>11/20/2024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1267C1-98B4-449F-9CA8-AB05E471A003}" type="slidenum">
              <a:rPr lang="en-US" smtClean="0"/>
              <a:t>‹#›</a:t>
            </a:fld>
            <a:endParaRPr lang="en-US"/>
          </a:p>
        </p:txBody>
      </p:sp>
    </p:spTree>
    <p:extLst>
      <p:ext uri="{BB962C8B-B14F-4D97-AF65-F5344CB8AC3E}">
        <p14:creationId xmlns:p14="http://schemas.microsoft.com/office/powerpoint/2010/main" val="110932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zatsatklichov/vatinfo"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azatsatklichov/nodejs-app"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developer.mozilla.org/en-US/docs/Web/JavaScript/Guide/Control_flow_and_error_handling#exception_handling_statement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nodejs.org/api/errors.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betterstack.com/community/guides/scaling-nodejs/nodejs-errors/" TargetMode="External"/><Relationship Id="rId5" Type="http://schemas.openxmlformats.org/officeDocument/2006/relationships/hyperlink" Target="https://developer.mozilla.org/en-US/docs/Web/API/DOMException/code" TargetMode="External"/><Relationship Id="rId4" Type="http://schemas.openxmlformats.org/officeDocument/2006/relationships/hyperlink" Target="https://developer.mozilla.org/en-US/docs/Web/JavaScript/Reference/Global_Objects/Error#handling_a_specific_error_typ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hyperlink" Target="https://docs.oracle.com/javase/specs/jls/se7/html/jls-14.html#jls-14.20.2" TargetMode="Externa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w3schools.com/tags/ref_httpmessages.asp"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hyperlink" Target="https://www.baeldung.com/exception-handling-for-rest-with-spring" TargetMode="External"/><Relationship Id="rId3" Type="http://schemas.openxmlformats.org/officeDocument/2006/relationships/image" Target="../media/image29.png"/><Relationship Id="rId7" Type="http://schemas.openxmlformats.org/officeDocument/2006/relationships/hyperlink" Target="https://spring.io/blog/2013/11/01/exception-handling-in-spring-mvc"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developer.mozilla.org/en-US/docs/Web/HTTP/Methods" TargetMode="External"/><Relationship Id="rId5" Type="http://schemas.openxmlformats.org/officeDocument/2006/relationships/hyperlink" Target="https://www.manning.com/books/spring-in-action-fourth-edition" TargetMode="External"/><Relationship Id="rId4" Type="http://schemas.openxmlformats.org/officeDocument/2006/relationships/hyperlink" Target="https://github.com/azatsatklichov/vatinf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3" name="Google Shape;126;p1"/>
          <p:cNvSpPr txBox="1">
            <a:spLocks/>
          </p:cNvSpPr>
          <p:nvPr/>
        </p:nvSpPr>
        <p:spPr>
          <a:xfrm>
            <a:off x="1190412" y="2518457"/>
            <a:ext cx="9561371" cy="1828193"/>
          </a:xfrm>
          <a:prstGeom prst="rect">
            <a:avLst/>
          </a:prstGeom>
          <a:noFill/>
          <a:ln>
            <a:noFill/>
          </a:ln>
        </p:spPr>
        <p:txBody>
          <a:bodyPr spcFirstLastPara="1" vert="horz" wrap="square" lIns="0" tIns="0" rIns="0" bIns="0" rtlCol="0" anchor="b"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5400" b="1" dirty="0">
                <a:solidFill>
                  <a:srgbClr val="00B050"/>
                </a:solidFill>
              </a:rPr>
              <a:t>Handling </a:t>
            </a:r>
            <a:r>
              <a:rPr lang="en-US" sz="5400" b="1" dirty="0" smtClean="0">
                <a:solidFill>
                  <a:srgbClr val="00B050"/>
                </a:solidFill>
              </a:rPr>
              <a:t>Exceptions – </a:t>
            </a:r>
          </a:p>
          <a:p>
            <a:pPr>
              <a:spcBef>
                <a:spcPts val="0"/>
              </a:spcBef>
            </a:pPr>
            <a:r>
              <a:rPr lang="en-US" sz="5400" b="1" dirty="0" err="1" smtClean="0">
                <a:solidFill>
                  <a:srgbClr val="00B050"/>
                </a:solidFill>
              </a:rPr>
              <a:t>JavasScript</a:t>
            </a:r>
            <a:r>
              <a:rPr lang="en-US" sz="5400" b="1" dirty="0" smtClean="0">
                <a:solidFill>
                  <a:srgbClr val="00B050"/>
                </a:solidFill>
              </a:rPr>
              <a:t> and Java Spring </a:t>
            </a:r>
            <a:r>
              <a:rPr lang="en-US" sz="5400" b="1" dirty="0">
                <a:solidFill>
                  <a:srgbClr val="00B050"/>
                </a:solidFill>
              </a:rPr>
              <a:t>Way</a:t>
            </a:r>
          </a:p>
          <a:p>
            <a:pPr>
              <a:spcBef>
                <a:spcPts val="0"/>
              </a:spcBef>
            </a:pPr>
            <a:endParaRPr lang="en-US" b="1" dirty="0">
              <a:solidFill>
                <a:srgbClr val="00B050"/>
              </a:solidFill>
            </a:endParaRPr>
          </a:p>
        </p:txBody>
      </p:sp>
      <p:sp>
        <p:nvSpPr>
          <p:cNvPr id="26" name="Google Shape;128;p1"/>
          <p:cNvSpPr txBox="1">
            <a:spLocks noGrp="1"/>
          </p:cNvSpPr>
          <p:nvPr>
            <p:ph type="subTitle" idx="4294967295"/>
          </p:nvPr>
        </p:nvSpPr>
        <p:spPr>
          <a:xfrm>
            <a:off x="385875" y="5332120"/>
            <a:ext cx="11609813" cy="135729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SzPts val="2400"/>
              <a:buNone/>
            </a:pPr>
            <a:r>
              <a:rPr lang="en-US" dirty="0" smtClean="0"/>
              <a:t>Azat Satklycov</a:t>
            </a:r>
          </a:p>
          <a:p>
            <a:pPr marL="0" marR="0" lvl="0" indent="0" algn="l" rtl="0">
              <a:lnSpc>
                <a:spcPct val="90000"/>
              </a:lnSpc>
              <a:spcBef>
                <a:spcPts val="0"/>
              </a:spcBef>
              <a:spcAft>
                <a:spcPts val="0"/>
              </a:spcAft>
              <a:buSzPts val="2400"/>
              <a:buNone/>
            </a:pPr>
            <a:r>
              <a:rPr lang="en-US" sz="1600" dirty="0" smtClean="0">
                <a:solidFill>
                  <a:srgbClr val="00B050"/>
                </a:solidFill>
              </a:rPr>
              <a:t>GitHub Repo:  </a:t>
            </a:r>
            <a:endParaRPr lang="en-US" sz="1600" dirty="0" smtClean="0">
              <a:solidFill>
                <a:srgbClr val="00B050"/>
              </a:solidFill>
            </a:endParaRPr>
          </a:p>
          <a:p>
            <a:pPr marL="0" lvl="0" indent="0">
              <a:spcBef>
                <a:spcPts val="0"/>
              </a:spcBef>
              <a:buSzPts val="2400"/>
              <a:buNone/>
            </a:pPr>
            <a:r>
              <a:rPr lang="en-US" sz="1800" dirty="0">
                <a:hlinkClick r:id="rId3"/>
              </a:rPr>
              <a:t>https://</a:t>
            </a:r>
            <a:r>
              <a:rPr lang="en-US" sz="1800" dirty="0">
                <a:hlinkClick r:id="rId3"/>
              </a:rPr>
              <a:t>github.com/azatsatklichov/vatinfo</a:t>
            </a:r>
            <a:r>
              <a:rPr lang="en-US" sz="1800" dirty="0"/>
              <a:t> </a:t>
            </a:r>
            <a:r>
              <a:rPr lang="en-US" sz="1800" dirty="0" smtClean="0"/>
              <a:t> (spring application)</a:t>
            </a:r>
            <a:endParaRPr lang="en-US" sz="1800" dirty="0">
              <a:hlinkClick r:id="rId4"/>
            </a:endParaRPr>
          </a:p>
          <a:p>
            <a:pPr marL="0" marR="0" lvl="0" indent="0" algn="l" rtl="0">
              <a:lnSpc>
                <a:spcPct val="90000"/>
              </a:lnSpc>
              <a:spcBef>
                <a:spcPts val="0"/>
              </a:spcBef>
              <a:spcAft>
                <a:spcPts val="0"/>
              </a:spcAft>
              <a:buSzPts val="2400"/>
              <a:buNone/>
            </a:pPr>
            <a:r>
              <a:rPr lang="en-US" sz="1800" dirty="0" smtClean="0">
                <a:hlinkClick r:id="rId4"/>
              </a:rPr>
              <a:t>https</a:t>
            </a:r>
            <a:r>
              <a:rPr lang="en-US" sz="1800" dirty="0">
                <a:hlinkClick r:id="rId4"/>
              </a:rPr>
              <a:t>://</a:t>
            </a:r>
            <a:r>
              <a:rPr lang="en-US" sz="1800" dirty="0" smtClean="0">
                <a:hlinkClick r:id="rId4"/>
              </a:rPr>
              <a:t>github.com/azatsatklichov/nodejs-app</a:t>
            </a:r>
            <a:r>
              <a:rPr lang="en-US" sz="1800" dirty="0" smtClean="0"/>
              <a:t>   (See all in-deep examples – JS, TS and Node.JS related)  </a:t>
            </a:r>
          </a:p>
          <a:p>
            <a:pPr marL="0" lvl="0" indent="0">
              <a:spcBef>
                <a:spcPts val="0"/>
              </a:spcBef>
              <a:buSzPts val="2400"/>
              <a:buNone/>
            </a:pPr>
            <a:endParaRPr sz="1800" dirty="0"/>
          </a:p>
        </p:txBody>
      </p:sp>
    </p:spTree>
    <p:extLst>
      <p:ext uri="{BB962C8B-B14F-4D97-AF65-F5344CB8AC3E}">
        <p14:creationId xmlns:p14="http://schemas.microsoft.com/office/powerpoint/2010/main" val="19542952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6" name="Rectangle 25"/>
          <p:cNvSpPr/>
          <p:nvPr/>
        </p:nvSpPr>
        <p:spPr>
          <a:xfrm>
            <a:off x="609650" y="284583"/>
            <a:ext cx="1770036" cy="646331"/>
          </a:xfrm>
          <a:prstGeom prst="rect">
            <a:avLst/>
          </a:prstGeom>
        </p:spPr>
        <p:txBody>
          <a:bodyPr wrap="none">
            <a:spAutoFit/>
          </a:bodyPr>
          <a:lstStyle/>
          <a:p>
            <a:r>
              <a:rPr lang="en-US" sz="3600" b="1" i="1" dirty="0" smtClean="0">
                <a:solidFill>
                  <a:srgbClr val="00B050"/>
                </a:solidFill>
              </a:rPr>
              <a:t>Agenda </a:t>
            </a:r>
            <a:endParaRPr lang="en-US" sz="3600" b="1" i="1" dirty="0">
              <a:solidFill>
                <a:srgbClr val="00B050"/>
              </a:solidFill>
            </a:endParaRPr>
          </a:p>
        </p:txBody>
      </p:sp>
      <p:sp>
        <p:nvSpPr>
          <p:cNvPr id="31" name="TextBox 30"/>
          <p:cNvSpPr txBox="1"/>
          <p:nvPr/>
        </p:nvSpPr>
        <p:spPr>
          <a:xfrm>
            <a:off x="520037" y="1536681"/>
            <a:ext cx="7698274" cy="2954655"/>
          </a:xfrm>
          <a:prstGeom prst="rect">
            <a:avLst/>
          </a:prstGeom>
          <a:noFill/>
        </p:spPr>
        <p:txBody>
          <a:bodyPr wrap="square" rtlCol="0">
            <a:spAutoFit/>
          </a:bodyPr>
          <a:lstStyle/>
          <a:p>
            <a:pPr marL="285750" indent="-285750">
              <a:buFont typeface="Wingdings" panose="05000000000000000000" pitchFamily="2" charset="2"/>
              <a:buChar char="q"/>
            </a:pPr>
            <a:r>
              <a:rPr lang="en-US" sz="2400" dirty="0" smtClean="0">
                <a:solidFill>
                  <a:schemeClr val="accent6">
                    <a:lumMod val="50000"/>
                  </a:schemeClr>
                </a:solidFill>
              </a:rPr>
              <a:t>Java Exceptions </a:t>
            </a:r>
          </a:p>
          <a:p>
            <a:pPr marL="285750" indent="-285750">
              <a:buFont typeface="Wingdings" panose="05000000000000000000" pitchFamily="2" charset="2"/>
              <a:buChar char="q"/>
            </a:pPr>
            <a:r>
              <a:rPr lang="en-US" sz="2400" dirty="0" smtClean="0">
                <a:solidFill>
                  <a:schemeClr val="accent6">
                    <a:lumMod val="50000"/>
                  </a:schemeClr>
                </a:solidFill>
              </a:rPr>
              <a:t>HTTP</a:t>
            </a:r>
            <a:r>
              <a:rPr lang="en-US" sz="2400" dirty="0">
                <a:solidFill>
                  <a:schemeClr val="accent6">
                    <a:lumMod val="50000"/>
                  </a:schemeClr>
                </a:solidFill>
              </a:rPr>
              <a:t> Request </a:t>
            </a:r>
            <a:r>
              <a:rPr lang="en-US" sz="2400" dirty="0" smtClean="0">
                <a:solidFill>
                  <a:schemeClr val="accent6">
                    <a:lumMod val="50000"/>
                  </a:schemeClr>
                </a:solidFill>
              </a:rPr>
              <a:t>Methods, Response Status Codes</a:t>
            </a:r>
          </a:p>
          <a:p>
            <a:pPr marL="285750" indent="-285750">
              <a:buFont typeface="Wingdings" panose="05000000000000000000" pitchFamily="2" charset="2"/>
              <a:buChar char="q"/>
            </a:pPr>
            <a:r>
              <a:rPr lang="en-US" sz="2400" dirty="0" smtClean="0">
                <a:solidFill>
                  <a:schemeClr val="accent6">
                    <a:lumMod val="50000"/>
                  </a:schemeClr>
                </a:solidFill>
              </a:rPr>
              <a:t>Handling </a:t>
            </a:r>
            <a:r>
              <a:rPr lang="en-US" sz="2400" dirty="0">
                <a:solidFill>
                  <a:schemeClr val="accent6">
                    <a:lumMod val="50000"/>
                  </a:schemeClr>
                </a:solidFill>
              </a:rPr>
              <a:t>exceptions in Spring Framework</a:t>
            </a:r>
          </a:p>
          <a:p>
            <a:pPr marL="285750" indent="-285750">
              <a:buFont typeface="Wingdings" panose="05000000000000000000" pitchFamily="2" charset="2"/>
              <a:buChar char="q"/>
            </a:pPr>
            <a:r>
              <a:rPr lang="en-US" sz="2400" dirty="0">
                <a:solidFill>
                  <a:schemeClr val="accent6">
                    <a:lumMod val="50000"/>
                  </a:schemeClr>
                </a:solidFill>
              </a:rPr>
              <a:t>Mapping exceptions to HTTP status code</a:t>
            </a:r>
          </a:p>
          <a:p>
            <a:pPr marL="285750" indent="-285750">
              <a:buFont typeface="Wingdings" panose="05000000000000000000" pitchFamily="2" charset="2"/>
              <a:buChar char="q"/>
            </a:pPr>
            <a:r>
              <a:rPr lang="en-US" sz="2400" dirty="0">
                <a:solidFill>
                  <a:schemeClr val="accent6">
                    <a:lumMod val="50000"/>
                  </a:schemeClr>
                </a:solidFill>
              </a:rPr>
              <a:t>Writing exception-handling methods</a:t>
            </a:r>
          </a:p>
          <a:p>
            <a:pPr marL="285750" indent="-285750">
              <a:buFont typeface="Wingdings" panose="05000000000000000000" pitchFamily="2" charset="2"/>
              <a:buChar char="q"/>
            </a:pPr>
            <a:r>
              <a:rPr lang="en-US" sz="2400" dirty="0" err="1">
                <a:solidFill>
                  <a:schemeClr val="accent6">
                    <a:lumMod val="50000"/>
                  </a:schemeClr>
                </a:solidFill>
              </a:rPr>
              <a:t>Adwising</a:t>
            </a:r>
            <a:r>
              <a:rPr lang="en-US" sz="2400" dirty="0">
                <a:solidFill>
                  <a:schemeClr val="accent6">
                    <a:lumMod val="50000"/>
                  </a:schemeClr>
                </a:solidFill>
              </a:rPr>
              <a:t> Controllers  - @</a:t>
            </a:r>
            <a:r>
              <a:rPr lang="en-US" sz="2400" dirty="0" err="1">
                <a:solidFill>
                  <a:schemeClr val="accent6">
                    <a:lumMod val="50000"/>
                  </a:schemeClr>
                </a:solidFill>
              </a:rPr>
              <a:t>ControllerAdvice</a:t>
            </a:r>
            <a:endParaRPr lang="en-US" sz="2400" dirty="0">
              <a:solidFill>
                <a:schemeClr val="accent6">
                  <a:lumMod val="50000"/>
                </a:schemeClr>
              </a:solidFill>
            </a:endParaRPr>
          </a:p>
          <a:p>
            <a:pPr marL="285750" indent="-285750">
              <a:buFont typeface="Wingdings" panose="05000000000000000000" pitchFamily="2" charset="2"/>
              <a:buChar char="q"/>
            </a:pPr>
            <a:r>
              <a:rPr lang="en-US" sz="2400" dirty="0" smtClean="0">
                <a:solidFill>
                  <a:schemeClr val="accent6">
                    <a:lumMod val="50000"/>
                  </a:schemeClr>
                </a:solidFill>
              </a:rPr>
              <a:t>References</a:t>
            </a:r>
            <a:r>
              <a:rPr lang="en-US" sz="2400" b="1" i="1" dirty="0" smtClean="0">
                <a:solidFill>
                  <a:schemeClr val="accent6">
                    <a:lumMod val="50000"/>
                  </a:schemeClr>
                </a:solidFill>
              </a:rPr>
              <a:t> </a:t>
            </a:r>
            <a:endParaRPr lang="en-US" sz="2400" b="1" i="1" dirty="0">
              <a:solidFill>
                <a:schemeClr val="accent6">
                  <a:lumMod val="50000"/>
                </a:schemeClr>
              </a:solidFill>
            </a:endParaRPr>
          </a:p>
          <a:p>
            <a:endParaRPr lang="en-US" dirty="0"/>
          </a:p>
        </p:txBody>
      </p:sp>
    </p:spTree>
    <p:extLst>
      <p:ext uri="{BB962C8B-B14F-4D97-AF65-F5344CB8AC3E}">
        <p14:creationId xmlns:p14="http://schemas.microsoft.com/office/powerpoint/2010/main" val="37929410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7597" y="285724"/>
            <a:ext cx="5023555" cy="369332"/>
          </a:xfrm>
          <a:prstGeom prst="rect">
            <a:avLst/>
          </a:prstGeom>
        </p:spPr>
        <p:txBody>
          <a:bodyPr wrap="none">
            <a:spAutoFit/>
          </a:bodyPr>
          <a:lstStyle/>
          <a:p>
            <a:r>
              <a:rPr lang="en-US" b="1" dirty="0">
                <a:solidFill>
                  <a:srgbClr val="00B050"/>
                </a:solidFill>
                <a:latin typeface="Helvetica Neue LT Std"/>
              </a:rPr>
              <a:t>Console Errors, Debugs, Warnings, and Info</a:t>
            </a:r>
          </a:p>
        </p:txBody>
      </p:sp>
      <p:sp>
        <p:nvSpPr>
          <p:cNvPr id="6" name="Rectangle 5"/>
          <p:cNvSpPr/>
          <p:nvPr/>
        </p:nvSpPr>
        <p:spPr>
          <a:xfrm>
            <a:off x="7992668" y="217379"/>
            <a:ext cx="4090966" cy="461665"/>
          </a:xfrm>
          <a:prstGeom prst="rect">
            <a:avLst/>
          </a:prstGeom>
          <a:ln>
            <a:solidFill>
              <a:srgbClr val="C00000"/>
            </a:solidFill>
          </a:ln>
        </p:spPr>
        <p:txBody>
          <a:bodyPr wrap="square">
            <a:spAutoFit/>
          </a:bodyPr>
          <a:lstStyle/>
          <a:p>
            <a:r>
              <a:rPr lang="en-US" sz="1200" b="1" dirty="0" err="1">
                <a:solidFill>
                  <a:srgbClr val="C00000"/>
                </a:solidFill>
                <a:latin typeface="Bahnschrift Light" panose="020B0502040204020203" pitchFamily="34" charset="0"/>
              </a:rPr>
              <a:t>console,log</a:t>
            </a:r>
            <a:r>
              <a:rPr lang="en-US" sz="1200" b="1" dirty="0">
                <a:solidFill>
                  <a:srgbClr val="C00000"/>
                </a:solidFill>
                <a:latin typeface="Bahnschrift Light" panose="020B0502040204020203" pitchFamily="34" charset="0"/>
              </a:rPr>
              <a:t>(arguments</a:t>
            </a:r>
            <a:r>
              <a:rPr lang="en-US" sz="1200" b="1" dirty="0" smtClean="0">
                <a:solidFill>
                  <a:srgbClr val="C00000"/>
                </a:solidFill>
                <a:latin typeface="Bahnschrift Light" panose="020B0502040204020203" pitchFamily="34" charset="0"/>
              </a:rPr>
              <a:t>) (browser vs Node.JS (FE vs BE))</a:t>
            </a:r>
            <a:endParaRPr lang="en-US" sz="1200" b="1" dirty="0">
              <a:solidFill>
                <a:srgbClr val="C00000"/>
              </a:solidFill>
              <a:latin typeface="Bahnschrift Light" panose="020B0502040204020203" pitchFamily="34" charset="0"/>
            </a:endParaRPr>
          </a:p>
          <a:p>
            <a:r>
              <a:rPr lang="en-US" sz="1200" b="1" dirty="0">
                <a:solidFill>
                  <a:srgbClr val="C00000"/>
                </a:solidFill>
                <a:latin typeface="Bahnschrift Light" panose="020B0502040204020203" pitchFamily="34" charset="0"/>
              </a:rPr>
              <a:t>In browser null, in Node.js (module, requires,..)</a:t>
            </a:r>
            <a:endParaRPr lang="en-US" sz="1200" dirty="0">
              <a:solidFill>
                <a:srgbClr val="C00000"/>
              </a:solidFill>
              <a:latin typeface="Bahnschrift Light" panose="020B0502040204020203" pitchFamily="34" charset="0"/>
            </a:endParaRPr>
          </a:p>
        </p:txBody>
      </p:sp>
      <p:pic>
        <p:nvPicPr>
          <p:cNvPr id="8" name="Picture 7"/>
          <p:cNvPicPr>
            <a:picLocks noChangeAspect="1"/>
          </p:cNvPicPr>
          <p:nvPr/>
        </p:nvPicPr>
        <p:blipFill>
          <a:blip r:embed="rId3"/>
          <a:stretch>
            <a:fillRect/>
          </a:stretch>
        </p:blipFill>
        <p:spPr>
          <a:xfrm>
            <a:off x="9248148" y="1575409"/>
            <a:ext cx="2559182" cy="2406774"/>
          </a:xfrm>
          <a:prstGeom prst="rect">
            <a:avLst/>
          </a:prstGeom>
          <a:ln>
            <a:solidFill>
              <a:schemeClr val="bg1">
                <a:lumMod val="85000"/>
              </a:schemeClr>
            </a:solidFill>
          </a:ln>
        </p:spPr>
      </p:pic>
      <p:sp>
        <p:nvSpPr>
          <p:cNvPr id="9" name="Rectangle 8"/>
          <p:cNvSpPr/>
          <p:nvPr/>
        </p:nvSpPr>
        <p:spPr>
          <a:xfrm>
            <a:off x="267597" y="822509"/>
            <a:ext cx="7427969" cy="1077218"/>
          </a:xfrm>
          <a:prstGeom prst="rect">
            <a:avLst/>
          </a:prstGeom>
        </p:spPr>
        <p:txBody>
          <a:bodyPr wrap="square">
            <a:spAutoFit/>
          </a:bodyPr>
          <a:lstStyle/>
          <a:p>
            <a:r>
              <a:rPr lang="en-US" sz="1600" i="1" dirty="0"/>
              <a:t>Console </a:t>
            </a:r>
            <a:r>
              <a:rPr lang="en-US" sz="1600" i="1" dirty="0" smtClean="0"/>
              <a:t>warnings, errors, … </a:t>
            </a:r>
            <a:r>
              <a:rPr lang="en-US" sz="1600" i="1" dirty="0"/>
              <a:t>are accessed via </a:t>
            </a:r>
            <a:r>
              <a:rPr lang="en-US" sz="1600" i="1" dirty="0" smtClean="0"/>
              <a:t>console(.warn, .error, .info, .trace, ..clear()) </a:t>
            </a:r>
            <a:endParaRPr lang="en-US" sz="1600" i="1" dirty="0"/>
          </a:p>
          <a:p>
            <a:r>
              <a:rPr lang="en-US" sz="1600" i="1" dirty="0"/>
              <a:t>Console </a:t>
            </a:r>
            <a:r>
              <a:rPr lang="en-US" sz="1600" b="1" i="1" dirty="0"/>
              <a:t>assertions</a:t>
            </a:r>
            <a:r>
              <a:rPr lang="en-US" sz="1600" i="1" dirty="0"/>
              <a:t> let you show errors if certain criteria are found to be false </a:t>
            </a:r>
          </a:p>
          <a:p>
            <a:r>
              <a:rPr lang="en-US" sz="1600" i="1" dirty="0"/>
              <a:t>You can </a:t>
            </a:r>
            <a:r>
              <a:rPr lang="en-US" sz="1600" b="1" i="1" dirty="0"/>
              <a:t>group console logs </a:t>
            </a:r>
            <a:r>
              <a:rPr lang="en-US" sz="1600" i="1" dirty="0"/>
              <a:t>with </a:t>
            </a:r>
            <a:r>
              <a:rPr lang="en-US" sz="1600" i="1" dirty="0" err="1"/>
              <a:t>console.group</a:t>
            </a:r>
            <a:r>
              <a:rPr lang="en-US" sz="1600" i="1" dirty="0"/>
              <a:t> and </a:t>
            </a:r>
            <a:r>
              <a:rPr lang="en-US" sz="1600" i="1" dirty="0" err="1"/>
              <a:t>console.groupCollapsed</a:t>
            </a:r>
            <a:r>
              <a:rPr lang="en-US" sz="1600" i="1" dirty="0"/>
              <a:t>.</a:t>
            </a:r>
          </a:p>
          <a:p>
            <a:r>
              <a:rPr lang="en-US" sz="1600" b="1" i="1" dirty="0" err="1"/>
              <a:t>Console.table</a:t>
            </a:r>
            <a:r>
              <a:rPr lang="en-US" sz="1600" i="1" dirty="0"/>
              <a:t> gives us the ability to create table views inside the console</a:t>
            </a:r>
          </a:p>
        </p:txBody>
      </p:sp>
      <p:pic>
        <p:nvPicPr>
          <p:cNvPr id="11" name="Picture 10"/>
          <p:cNvPicPr>
            <a:picLocks noChangeAspect="1"/>
          </p:cNvPicPr>
          <p:nvPr/>
        </p:nvPicPr>
        <p:blipFill>
          <a:blip r:embed="rId4"/>
          <a:stretch>
            <a:fillRect/>
          </a:stretch>
        </p:blipFill>
        <p:spPr>
          <a:xfrm>
            <a:off x="8800515" y="929722"/>
            <a:ext cx="3283119" cy="349268"/>
          </a:xfrm>
          <a:prstGeom prst="rect">
            <a:avLst/>
          </a:prstGeom>
        </p:spPr>
      </p:pic>
      <p:sp>
        <p:nvSpPr>
          <p:cNvPr id="12" name="Rectangle 11"/>
          <p:cNvSpPr/>
          <p:nvPr/>
        </p:nvSpPr>
        <p:spPr>
          <a:xfrm>
            <a:off x="224788" y="4063560"/>
            <a:ext cx="10325981" cy="738664"/>
          </a:xfrm>
          <a:prstGeom prst="rect">
            <a:avLst/>
          </a:prstGeom>
        </p:spPr>
        <p:txBody>
          <a:bodyPr wrap="square">
            <a:spAutoFit/>
          </a:bodyPr>
          <a:lstStyle/>
          <a:p>
            <a:r>
              <a:rPr lang="en-US" sz="1400" b="1" dirty="0">
                <a:solidFill>
                  <a:srgbClr val="000000"/>
                </a:solidFill>
                <a:latin typeface="Helvetica Neue LT Std"/>
              </a:rPr>
              <a:t>Console </a:t>
            </a:r>
            <a:r>
              <a:rPr lang="en-US" sz="1400" b="1" dirty="0" smtClean="0">
                <a:solidFill>
                  <a:srgbClr val="000000"/>
                </a:solidFill>
                <a:latin typeface="Helvetica Neue LT Std"/>
              </a:rPr>
              <a:t>Timing/Counting</a:t>
            </a:r>
            <a:endParaRPr lang="en-US" sz="1400" dirty="0">
              <a:solidFill>
                <a:srgbClr val="000000"/>
              </a:solidFill>
              <a:latin typeface="Helvetica Neue LT Std"/>
            </a:endParaRPr>
          </a:p>
          <a:p>
            <a:r>
              <a:rPr lang="en-US" sz="1400" dirty="0" smtClean="0"/>
              <a:t>E.g. code </a:t>
            </a:r>
            <a:r>
              <a:rPr lang="en-US" sz="1400" dirty="0"/>
              <a:t>that pauses execution via promises, waits for APIs to load, or has inefficient calculations that result in long wait times. </a:t>
            </a:r>
            <a:endParaRPr lang="en-US" sz="1400" dirty="0" smtClean="0"/>
          </a:p>
          <a:p>
            <a:r>
              <a:rPr lang="en-US" sz="1400" dirty="0" smtClean="0"/>
              <a:t>All </a:t>
            </a:r>
            <a:r>
              <a:rPr lang="en-US" sz="1400" dirty="0"/>
              <a:t>of these impact </a:t>
            </a:r>
            <a:r>
              <a:rPr lang="en-US" sz="1400" u="sng" dirty="0"/>
              <a:t>page load time </a:t>
            </a:r>
            <a:r>
              <a:rPr lang="en-US" sz="1400" dirty="0"/>
              <a:t>and therefore user experience. </a:t>
            </a:r>
          </a:p>
        </p:txBody>
      </p:sp>
      <p:sp>
        <p:nvSpPr>
          <p:cNvPr id="13" name="Rectangle 12"/>
          <p:cNvSpPr/>
          <p:nvPr/>
        </p:nvSpPr>
        <p:spPr>
          <a:xfrm>
            <a:off x="267597" y="5002329"/>
            <a:ext cx="11375054" cy="1600438"/>
          </a:xfrm>
          <a:prstGeom prst="rect">
            <a:avLst/>
          </a:prstGeom>
        </p:spPr>
        <p:txBody>
          <a:bodyPr wrap="square">
            <a:spAutoFit/>
          </a:bodyPr>
          <a:lstStyle/>
          <a:p>
            <a:r>
              <a:rPr lang="en-US" sz="1400" dirty="0" smtClean="0"/>
              <a:t>Therefore</a:t>
            </a:r>
            <a:r>
              <a:rPr lang="en-US" sz="1400" dirty="0"/>
              <a:t>, optimizing your JavaScript is really important, and the best way to find code that is performing code is </a:t>
            </a:r>
            <a:r>
              <a:rPr lang="en-US" sz="1400" b="1" dirty="0"/>
              <a:t>by measuring how long it takes to run</a:t>
            </a:r>
            <a:r>
              <a:rPr lang="en-US" sz="1400" dirty="0"/>
              <a:t>. To help diagnose these problems, there are three console methods we can use. These are listed below</a:t>
            </a:r>
            <a:r>
              <a:rPr lang="en-US" sz="1400" dirty="0" smtClean="0"/>
              <a:t>: </a:t>
            </a:r>
            <a:endParaRPr lang="en-US" sz="1400" dirty="0"/>
          </a:p>
          <a:p>
            <a:pPr marL="285750" indent="-285750">
              <a:buFont typeface="Wingdings" panose="05000000000000000000" pitchFamily="2" charset="2"/>
              <a:buChar char="§"/>
            </a:pPr>
            <a:r>
              <a:rPr lang="en-US" sz="1400" dirty="0" err="1"/>
              <a:t>console.time</a:t>
            </a:r>
            <a:endParaRPr lang="en-US" sz="1400" dirty="0"/>
          </a:p>
          <a:p>
            <a:pPr marL="285750" indent="-285750">
              <a:buFont typeface="Wingdings" panose="05000000000000000000" pitchFamily="2" charset="2"/>
              <a:buChar char="§"/>
            </a:pPr>
            <a:r>
              <a:rPr lang="en-US" sz="1400" dirty="0" err="1"/>
              <a:t>console.timeLog</a:t>
            </a:r>
            <a:endParaRPr lang="en-US" sz="1400" dirty="0"/>
          </a:p>
          <a:p>
            <a:pPr marL="285750" indent="-285750">
              <a:buFont typeface="Wingdings" panose="05000000000000000000" pitchFamily="2" charset="2"/>
              <a:buChar char="§"/>
            </a:pPr>
            <a:r>
              <a:rPr lang="en-US" sz="1400" dirty="0" err="1" smtClean="0"/>
              <a:t>console.timeEnd</a:t>
            </a:r>
            <a:endParaRPr lang="en-US" sz="1400" dirty="0"/>
          </a:p>
          <a:p>
            <a:pPr marL="285750" indent="-285750">
              <a:buFont typeface="Wingdings" panose="05000000000000000000" pitchFamily="2" charset="2"/>
              <a:buChar char="§"/>
            </a:pPr>
            <a:r>
              <a:rPr lang="en-US" sz="1400" dirty="0" err="1"/>
              <a:t>console.count</a:t>
            </a:r>
            <a:r>
              <a:rPr lang="en-US" sz="1400" dirty="0"/>
              <a:t> </a:t>
            </a:r>
            <a:endParaRPr lang="en-US" sz="1400" dirty="0" smtClean="0"/>
          </a:p>
          <a:p>
            <a:pPr marL="285750" indent="-285750">
              <a:buFont typeface="Wingdings" panose="05000000000000000000" pitchFamily="2" charset="2"/>
              <a:buChar char="§"/>
            </a:pPr>
            <a:r>
              <a:rPr lang="en-US" sz="1400" dirty="0" err="1" smtClean="0"/>
              <a:t>console.countReset</a:t>
            </a:r>
            <a:endParaRPr lang="en-US" sz="1400" dirty="0"/>
          </a:p>
        </p:txBody>
      </p:sp>
      <p:sp>
        <p:nvSpPr>
          <p:cNvPr id="14" name="Rectangle 13"/>
          <p:cNvSpPr/>
          <p:nvPr/>
        </p:nvSpPr>
        <p:spPr>
          <a:xfrm>
            <a:off x="921242" y="2043191"/>
            <a:ext cx="8169606" cy="1938992"/>
          </a:xfrm>
          <a:prstGeom prst="rect">
            <a:avLst/>
          </a:prstGeom>
        </p:spPr>
        <p:txBody>
          <a:bodyPr wrap="square">
            <a:spAutoFit/>
          </a:bodyPr>
          <a:lstStyle/>
          <a:p>
            <a:r>
              <a:rPr lang="en-US" sz="1200" dirty="0" err="1">
                <a:solidFill>
                  <a:srgbClr val="001080"/>
                </a:solidFill>
                <a:latin typeface="Fira Code" pitchFamily="1" charset="0"/>
              </a:rPr>
              <a:t>console</a:t>
            </a:r>
            <a:r>
              <a:rPr lang="en-US" sz="1200" dirty="0" err="1">
                <a:solidFill>
                  <a:srgbClr val="000000"/>
                </a:solidFill>
                <a:latin typeface="Fira Code" pitchFamily="1" charset="0"/>
              </a:rPr>
              <a:t>.</a:t>
            </a:r>
            <a:r>
              <a:rPr lang="en-US" sz="1200" b="1" dirty="0" err="1">
                <a:solidFill>
                  <a:srgbClr val="795E26"/>
                </a:solidFill>
                <a:latin typeface="Fira Code" pitchFamily="1" charset="0"/>
              </a:rPr>
              <a:t>assert</a:t>
            </a:r>
            <a:r>
              <a:rPr lang="en-US" sz="1200" dirty="0">
                <a:solidFill>
                  <a:srgbClr val="000000"/>
                </a:solidFill>
                <a:latin typeface="Fira Code" pitchFamily="1" charset="0"/>
              </a:rPr>
              <a:t>(</a:t>
            </a:r>
            <a:r>
              <a:rPr lang="en-US" sz="1200" dirty="0">
                <a:solidFill>
                  <a:srgbClr val="098658"/>
                </a:solidFill>
                <a:latin typeface="Fira Code" pitchFamily="1" charset="0"/>
              </a:rPr>
              <a:t>5</a:t>
            </a:r>
            <a:r>
              <a:rPr lang="en-US" sz="1200" dirty="0">
                <a:solidFill>
                  <a:srgbClr val="000000"/>
                </a:solidFill>
                <a:latin typeface="Fira Code" pitchFamily="1" charset="0"/>
              </a:rPr>
              <a:t> === </a:t>
            </a:r>
            <a:r>
              <a:rPr lang="en-US" sz="1200" dirty="0">
                <a:solidFill>
                  <a:srgbClr val="098658"/>
                </a:solidFill>
                <a:latin typeface="Fira Code" pitchFamily="1" charset="0"/>
              </a:rPr>
              <a:t>4</a:t>
            </a:r>
            <a:r>
              <a:rPr lang="en-US" sz="1200" dirty="0">
                <a:solidFill>
                  <a:srgbClr val="000000"/>
                </a:solidFill>
                <a:latin typeface="Fira Code" pitchFamily="1" charset="0"/>
              </a:rPr>
              <a:t>, </a:t>
            </a:r>
            <a:r>
              <a:rPr lang="en-US" sz="1200" dirty="0">
                <a:solidFill>
                  <a:srgbClr val="A31515"/>
                </a:solidFill>
                <a:latin typeface="Fira Code" pitchFamily="1" charset="0"/>
              </a:rPr>
              <a:t>"the assertion is false"</a:t>
            </a:r>
            <a:r>
              <a:rPr lang="en-US" sz="1200" dirty="0">
                <a:solidFill>
                  <a:srgbClr val="000000"/>
                </a:solidFill>
                <a:latin typeface="Fira Code" pitchFamily="1" charset="0"/>
              </a:rPr>
              <a:t>)</a:t>
            </a:r>
          </a:p>
          <a:p>
            <a:r>
              <a:rPr lang="en-US" sz="1200" dirty="0">
                <a:solidFill>
                  <a:srgbClr val="001080"/>
                </a:solidFill>
                <a:latin typeface="Fira Code" pitchFamily="1" charset="0"/>
              </a:rPr>
              <a:t>console</a:t>
            </a:r>
            <a:r>
              <a:rPr lang="en-US" sz="1200" dirty="0">
                <a:solidFill>
                  <a:srgbClr val="000000"/>
                </a:solidFill>
                <a:latin typeface="Fira Code" pitchFamily="1" charset="0"/>
              </a:rPr>
              <a:t>.</a:t>
            </a:r>
            <a:r>
              <a:rPr lang="en-US" sz="1200" dirty="0">
                <a:solidFill>
                  <a:srgbClr val="795E26"/>
                </a:solidFill>
                <a:latin typeface="Fira Code" pitchFamily="1" charset="0"/>
              </a:rPr>
              <a:t>log</a:t>
            </a:r>
            <a:r>
              <a:rPr lang="en-US" sz="1200" dirty="0">
                <a:solidFill>
                  <a:srgbClr val="000000"/>
                </a:solidFill>
                <a:latin typeface="Fira Code" pitchFamily="1" charset="0"/>
              </a:rPr>
              <a:t>(</a:t>
            </a:r>
            <a:r>
              <a:rPr lang="en-US" sz="1200" dirty="0">
                <a:solidFill>
                  <a:srgbClr val="A31515"/>
                </a:solidFill>
                <a:latin typeface="Fira Code" pitchFamily="1" charset="0"/>
              </a:rPr>
              <a:t>"Hi"</a:t>
            </a:r>
            <a:r>
              <a:rPr lang="en-US" sz="1200" dirty="0">
                <a:solidFill>
                  <a:srgbClr val="000000"/>
                </a:solidFill>
                <a:latin typeface="Fira Code" pitchFamily="1" charset="0"/>
              </a:rPr>
              <a:t>) </a:t>
            </a:r>
            <a:r>
              <a:rPr lang="en-US" sz="1200" dirty="0">
                <a:solidFill>
                  <a:srgbClr val="008000"/>
                </a:solidFill>
                <a:latin typeface="Fira Code" pitchFamily="1" charset="0"/>
              </a:rPr>
              <a:t>// Top Level</a:t>
            </a:r>
            <a:endParaRPr lang="en-US" sz="1200" dirty="0">
              <a:solidFill>
                <a:srgbClr val="000000"/>
              </a:solidFill>
              <a:latin typeface="Fira Code" pitchFamily="1" charset="0"/>
            </a:endParaRPr>
          </a:p>
          <a:p>
            <a:r>
              <a:rPr lang="en-US" sz="1200" dirty="0" err="1">
                <a:solidFill>
                  <a:srgbClr val="001080"/>
                </a:solidFill>
                <a:latin typeface="Fira Code" pitchFamily="1" charset="0"/>
              </a:rPr>
              <a:t>console</a:t>
            </a:r>
            <a:r>
              <a:rPr lang="en-US" sz="1200" dirty="0" err="1">
                <a:solidFill>
                  <a:srgbClr val="000000"/>
                </a:solidFill>
                <a:latin typeface="Fira Code" pitchFamily="1" charset="0"/>
              </a:rPr>
              <a:t>.</a:t>
            </a:r>
            <a:r>
              <a:rPr lang="en-US" sz="1200" dirty="0" err="1">
                <a:solidFill>
                  <a:srgbClr val="795E26"/>
                </a:solidFill>
                <a:latin typeface="Fira Code" pitchFamily="1" charset="0"/>
              </a:rPr>
              <a:t>groupCollapsed</a:t>
            </a:r>
            <a:r>
              <a:rPr lang="en-US" sz="1200" dirty="0">
                <a:solidFill>
                  <a:srgbClr val="000000"/>
                </a:solidFill>
                <a:latin typeface="Fira Code" pitchFamily="1" charset="0"/>
              </a:rPr>
              <a:t>(</a:t>
            </a:r>
            <a:r>
              <a:rPr lang="en-US" sz="1200" dirty="0">
                <a:solidFill>
                  <a:srgbClr val="A31515"/>
                </a:solidFill>
                <a:latin typeface="Fira Code" pitchFamily="1" charset="0"/>
              </a:rPr>
              <a:t>"Level 1"</a:t>
            </a:r>
            <a:r>
              <a:rPr lang="en-US" sz="1200" dirty="0">
                <a:solidFill>
                  <a:srgbClr val="000000"/>
                </a:solidFill>
                <a:latin typeface="Fira Code" pitchFamily="1" charset="0"/>
              </a:rPr>
              <a:t>) </a:t>
            </a:r>
            <a:r>
              <a:rPr lang="en-US" sz="1200" dirty="0">
                <a:solidFill>
                  <a:srgbClr val="008000"/>
                </a:solidFill>
                <a:latin typeface="Fira Code" pitchFamily="1" charset="0"/>
              </a:rPr>
              <a:t>// Level 1 Group</a:t>
            </a:r>
            <a:endParaRPr lang="en-US" sz="1200" dirty="0">
              <a:solidFill>
                <a:srgbClr val="000000"/>
              </a:solidFill>
              <a:latin typeface="Fira Code" pitchFamily="1" charset="0"/>
            </a:endParaRPr>
          </a:p>
          <a:p>
            <a:r>
              <a:rPr lang="en-US" sz="1200" dirty="0">
                <a:solidFill>
                  <a:srgbClr val="001080"/>
                </a:solidFill>
                <a:latin typeface="Fira Code" pitchFamily="1" charset="0"/>
              </a:rPr>
              <a:t>console</a:t>
            </a:r>
            <a:r>
              <a:rPr lang="en-US" sz="1200" dirty="0">
                <a:solidFill>
                  <a:srgbClr val="000000"/>
                </a:solidFill>
                <a:latin typeface="Fira Code" pitchFamily="1" charset="0"/>
              </a:rPr>
              <a:t>.</a:t>
            </a:r>
            <a:r>
              <a:rPr lang="en-US" sz="1200" dirty="0">
                <a:solidFill>
                  <a:srgbClr val="795E26"/>
                </a:solidFill>
                <a:latin typeface="Fira Code" pitchFamily="1" charset="0"/>
              </a:rPr>
              <a:t>log</a:t>
            </a:r>
            <a:r>
              <a:rPr lang="en-US" sz="1200" dirty="0">
                <a:solidFill>
                  <a:srgbClr val="000000"/>
                </a:solidFill>
                <a:latin typeface="Fira Code" pitchFamily="1" charset="0"/>
              </a:rPr>
              <a:t>(</a:t>
            </a:r>
            <a:r>
              <a:rPr lang="en-US" sz="1200" dirty="0">
                <a:solidFill>
                  <a:srgbClr val="A31515"/>
                </a:solidFill>
                <a:latin typeface="Fira Code" pitchFamily="1" charset="0"/>
              </a:rPr>
              <a:t>"Hi"</a:t>
            </a:r>
            <a:r>
              <a:rPr lang="en-US" sz="1200" dirty="0">
                <a:solidFill>
                  <a:srgbClr val="000000"/>
                </a:solidFill>
                <a:latin typeface="Fira Code" pitchFamily="1" charset="0"/>
              </a:rPr>
              <a:t>) </a:t>
            </a:r>
            <a:r>
              <a:rPr lang="en-US" sz="1200" dirty="0">
                <a:solidFill>
                  <a:srgbClr val="008000"/>
                </a:solidFill>
                <a:latin typeface="Fira Code" pitchFamily="1" charset="0"/>
              </a:rPr>
              <a:t>// All of these are within Level 1 Group</a:t>
            </a:r>
            <a:endParaRPr lang="en-US" sz="1200" dirty="0">
              <a:solidFill>
                <a:srgbClr val="000000"/>
              </a:solidFill>
              <a:latin typeface="Fira Code" pitchFamily="1" charset="0"/>
            </a:endParaRPr>
          </a:p>
          <a:p>
            <a:r>
              <a:rPr lang="en-US" sz="1200" dirty="0">
                <a:solidFill>
                  <a:srgbClr val="001080"/>
                </a:solidFill>
                <a:latin typeface="Fira Code" pitchFamily="1" charset="0"/>
              </a:rPr>
              <a:t>console</a:t>
            </a:r>
            <a:r>
              <a:rPr lang="en-US" sz="1200" dirty="0">
                <a:solidFill>
                  <a:srgbClr val="000000"/>
                </a:solidFill>
                <a:latin typeface="Fira Code" pitchFamily="1" charset="0"/>
              </a:rPr>
              <a:t>.</a:t>
            </a:r>
            <a:r>
              <a:rPr lang="en-US" sz="1200" dirty="0">
                <a:solidFill>
                  <a:srgbClr val="795E26"/>
                </a:solidFill>
                <a:latin typeface="Fira Code" pitchFamily="1" charset="0"/>
              </a:rPr>
              <a:t>log</a:t>
            </a:r>
            <a:r>
              <a:rPr lang="en-US" sz="1200" dirty="0">
                <a:solidFill>
                  <a:srgbClr val="000000"/>
                </a:solidFill>
                <a:latin typeface="Fira Code" pitchFamily="1" charset="0"/>
              </a:rPr>
              <a:t>(</a:t>
            </a:r>
            <a:r>
              <a:rPr lang="en-US" sz="1200" dirty="0">
                <a:solidFill>
                  <a:srgbClr val="A31515"/>
                </a:solidFill>
                <a:latin typeface="Fira Code" pitchFamily="1" charset="0"/>
              </a:rPr>
              <a:t>"Hi"</a:t>
            </a:r>
            <a:r>
              <a:rPr lang="en-US" sz="1200" dirty="0">
                <a:solidFill>
                  <a:srgbClr val="000000"/>
                </a:solidFill>
                <a:latin typeface="Fira Code" pitchFamily="1" charset="0"/>
              </a:rPr>
              <a:t>)</a:t>
            </a:r>
          </a:p>
          <a:p>
            <a:r>
              <a:rPr lang="en-US" sz="1200" dirty="0">
                <a:solidFill>
                  <a:srgbClr val="001080"/>
                </a:solidFill>
                <a:latin typeface="Fira Code" pitchFamily="1" charset="0"/>
              </a:rPr>
              <a:t>console</a:t>
            </a:r>
            <a:r>
              <a:rPr lang="en-US" sz="1200" dirty="0">
                <a:solidFill>
                  <a:srgbClr val="000000"/>
                </a:solidFill>
                <a:latin typeface="Fira Code" pitchFamily="1" charset="0"/>
              </a:rPr>
              <a:t>.</a:t>
            </a:r>
            <a:r>
              <a:rPr lang="en-US" sz="1200" dirty="0">
                <a:solidFill>
                  <a:srgbClr val="795E26"/>
                </a:solidFill>
                <a:latin typeface="Fira Code" pitchFamily="1" charset="0"/>
              </a:rPr>
              <a:t>log</a:t>
            </a:r>
            <a:r>
              <a:rPr lang="en-US" sz="1200" dirty="0">
                <a:solidFill>
                  <a:srgbClr val="000000"/>
                </a:solidFill>
                <a:latin typeface="Fira Code" pitchFamily="1" charset="0"/>
              </a:rPr>
              <a:t>(</a:t>
            </a:r>
            <a:r>
              <a:rPr lang="en-US" sz="1200" dirty="0">
                <a:solidFill>
                  <a:srgbClr val="A31515"/>
                </a:solidFill>
                <a:latin typeface="Fira Code" pitchFamily="1" charset="0"/>
              </a:rPr>
              <a:t>"Hi"</a:t>
            </a:r>
            <a:r>
              <a:rPr lang="en-US" sz="1200" dirty="0">
                <a:solidFill>
                  <a:srgbClr val="000000"/>
                </a:solidFill>
                <a:latin typeface="Fira Code" pitchFamily="1" charset="0"/>
              </a:rPr>
              <a:t>)</a:t>
            </a:r>
          </a:p>
          <a:p>
            <a:r>
              <a:rPr lang="en-US" sz="1200" dirty="0" err="1">
                <a:solidFill>
                  <a:srgbClr val="001080"/>
                </a:solidFill>
                <a:latin typeface="Fira Code" pitchFamily="1" charset="0"/>
              </a:rPr>
              <a:t>console</a:t>
            </a:r>
            <a:r>
              <a:rPr lang="en-US" sz="1200" dirty="0" err="1">
                <a:solidFill>
                  <a:srgbClr val="000000"/>
                </a:solidFill>
                <a:latin typeface="Fira Code" pitchFamily="1" charset="0"/>
              </a:rPr>
              <a:t>.</a:t>
            </a:r>
            <a:r>
              <a:rPr lang="en-US" sz="1200" b="1" dirty="0" err="1">
                <a:solidFill>
                  <a:srgbClr val="795E26"/>
                </a:solidFill>
                <a:latin typeface="Fira Code" pitchFamily="1" charset="0"/>
              </a:rPr>
              <a:t>group</a:t>
            </a:r>
            <a:r>
              <a:rPr lang="en-US" sz="1200" dirty="0">
                <a:solidFill>
                  <a:srgbClr val="000000"/>
                </a:solidFill>
                <a:latin typeface="Fira Code" pitchFamily="1" charset="0"/>
              </a:rPr>
              <a:t>(</a:t>
            </a:r>
            <a:r>
              <a:rPr lang="en-US" sz="1200" dirty="0">
                <a:solidFill>
                  <a:srgbClr val="A31515"/>
                </a:solidFill>
                <a:latin typeface="Fira Code" pitchFamily="1" charset="0"/>
              </a:rPr>
              <a:t>"Level 2"</a:t>
            </a:r>
            <a:r>
              <a:rPr lang="en-US" sz="1200" dirty="0">
                <a:solidFill>
                  <a:srgbClr val="000000"/>
                </a:solidFill>
                <a:latin typeface="Fira Code" pitchFamily="1" charset="0"/>
              </a:rPr>
              <a:t>) </a:t>
            </a:r>
            <a:r>
              <a:rPr lang="en-US" sz="1200" dirty="0">
                <a:solidFill>
                  <a:srgbClr val="008000"/>
                </a:solidFill>
                <a:latin typeface="Fira Code" pitchFamily="1" charset="0"/>
              </a:rPr>
              <a:t>// Level 2 Group</a:t>
            </a:r>
            <a:endParaRPr lang="en-US" sz="1200" dirty="0">
              <a:solidFill>
                <a:srgbClr val="000000"/>
              </a:solidFill>
              <a:latin typeface="Fira Code" pitchFamily="1" charset="0"/>
            </a:endParaRPr>
          </a:p>
          <a:p>
            <a:r>
              <a:rPr lang="en-US" sz="1200" dirty="0">
                <a:solidFill>
                  <a:srgbClr val="001080"/>
                </a:solidFill>
                <a:latin typeface="Fira Code" pitchFamily="1" charset="0"/>
              </a:rPr>
              <a:t>console</a:t>
            </a:r>
            <a:r>
              <a:rPr lang="en-US" sz="1200" dirty="0">
                <a:solidFill>
                  <a:srgbClr val="000000"/>
                </a:solidFill>
                <a:latin typeface="Fira Code" pitchFamily="1" charset="0"/>
              </a:rPr>
              <a:t>.</a:t>
            </a:r>
            <a:r>
              <a:rPr lang="en-US" sz="1200" dirty="0">
                <a:solidFill>
                  <a:srgbClr val="795E26"/>
                </a:solidFill>
                <a:latin typeface="Fira Code" pitchFamily="1" charset="0"/>
              </a:rPr>
              <a:t>log</a:t>
            </a:r>
            <a:r>
              <a:rPr lang="en-US" sz="1200" dirty="0">
                <a:solidFill>
                  <a:srgbClr val="000000"/>
                </a:solidFill>
                <a:latin typeface="Fira Code" pitchFamily="1" charset="0"/>
              </a:rPr>
              <a:t>(</a:t>
            </a:r>
            <a:r>
              <a:rPr lang="en-US" sz="1200" dirty="0">
                <a:solidFill>
                  <a:srgbClr val="A31515"/>
                </a:solidFill>
                <a:latin typeface="Fira Code" pitchFamily="1" charset="0"/>
              </a:rPr>
              <a:t>"Hi"</a:t>
            </a:r>
            <a:r>
              <a:rPr lang="en-US" sz="1200" dirty="0">
                <a:solidFill>
                  <a:srgbClr val="000000"/>
                </a:solidFill>
                <a:latin typeface="Fira Code" pitchFamily="1" charset="0"/>
              </a:rPr>
              <a:t>) </a:t>
            </a:r>
            <a:r>
              <a:rPr lang="en-US" sz="1200" dirty="0">
                <a:solidFill>
                  <a:srgbClr val="008000"/>
                </a:solidFill>
                <a:latin typeface="Fira Code" pitchFamily="1" charset="0"/>
              </a:rPr>
              <a:t>// All of these are within Level 2 Group, which are within Level 1</a:t>
            </a:r>
            <a:endParaRPr lang="en-US" sz="1200" dirty="0">
              <a:solidFill>
                <a:srgbClr val="000000"/>
              </a:solidFill>
              <a:latin typeface="Fira Code" pitchFamily="1" charset="0"/>
            </a:endParaRPr>
          </a:p>
          <a:p>
            <a:r>
              <a:rPr lang="en-US" sz="1200" dirty="0">
                <a:solidFill>
                  <a:srgbClr val="001080"/>
                </a:solidFill>
                <a:latin typeface="Fira Code" pitchFamily="1" charset="0"/>
              </a:rPr>
              <a:t>console</a:t>
            </a:r>
            <a:r>
              <a:rPr lang="en-US" sz="1200" dirty="0">
                <a:solidFill>
                  <a:srgbClr val="000000"/>
                </a:solidFill>
                <a:latin typeface="Fira Code" pitchFamily="1" charset="0"/>
              </a:rPr>
              <a:t>.</a:t>
            </a:r>
            <a:r>
              <a:rPr lang="en-US" sz="1200" dirty="0">
                <a:solidFill>
                  <a:srgbClr val="795E26"/>
                </a:solidFill>
                <a:latin typeface="Fira Code" pitchFamily="1" charset="0"/>
              </a:rPr>
              <a:t>log</a:t>
            </a:r>
            <a:r>
              <a:rPr lang="en-US" sz="1200" dirty="0">
                <a:solidFill>
                  <a:srgbClr val="000000"/>
                </a:solidFill>
                <a:latin typeface="Fira Code" pitchFamily="1" charset="0"/>
              </a:rPr>
              <a:t>(</a:t>
            </a:r>
            <a:r>
              <a:rPr lang="en-US" sz="1200" dirty="0">
                <a:solidFill>
                  <a:srgbClr val="A31515"/>
                </a:solidFill>
                <a:latin typeface="Fira Code" pitchFamily="1" charset="0"/>
              </a:rPr>
              <a:t>"Hi"</a:t>
            </a:r>
            <a:r>
              <a:rPr lang="en-US" sz="1200" dirty="0">
                <a:solidFill>
                  <a:srgbClr val="000000"/>
                </a:solidFill>
                <a:latin typeface="Fira Code" pitchFamily="1" charset="0"/>
              </a:rPr>
              <a:t>) </a:t>
            </a:r>
            <a:endParaRPr lang="en-US" sz="1200" dirty="0" smtClean="0">
              <a:solidFill>
                <a:srgbClr val="000000"/>
              </a:solidFill>
              <a:latin typeface="Fira Code" pitchFamily="1" charset="0"/>
            </a:endParaRPr>
          </a:p>
          <a:p>
            <a:r>
              <a:rPr lang="en-US" sz="1200" dirty="0" smtClean="0">
                <a:solidFill>
                  <a:srgbClr val="001080"/>
                </a:solidFill>
                <a:latin typeface="Fira Code" pitchFamily="1" charset="0"/>
              </a:rPr>
              <a:t>.. </a:t>
            </a:r>
            <a:r>
              <a:rPr lang="en-US" sz="1200" dirty="0" err="1" smtClean="0">
                <a:solidFill>
                  <a:srgbClr val="001080"/>
                </a:solidFill>
                <a:latin typeface="Fira Code" pitchFamily="1" charset="0"/>
              </a:rPr>
              <a:t>console</a:t>
            </a:r>
            <a:r>
              <a:rPr lang="en-US" sz="1200" dirty="0" err="1" smtClean="0">
                <a:solidFill>
                  <a:srgbClr val="000000"/>
                </a:solidFill>
                <a:latin typeface="Fira Code" pitchFamily="1" charset="0"/>
              </a:rPr>
              <a:t>.</a:t>
            </a:r>
            <a:r>
              <a:rPr lang="en-US" sz="1200" dirty="0" err="1" smtClean="0">
                <a:solidFill>
                  <a:srgbClr val="795E26"/>
                </a:solidFill>
                <a:latin typeface="Fira Code" pitchFamily="1" charset="0"/>
              </a:rPr>
              <a:t>table</a:t>
            </a:r>
            <a:r>
              <a:rPr lang="en-US" sz="1200" dirty="0" smtClean="0">
                <a:solidFill>
                  <a:srgbClr val="000000"/>
                </a:solidFill>
                <a:latin typeface="Fira Code" pitchFamily="1" charset="0"/>
              </a:rPr>
              <a:t>(</a:t>
            </a:r>
            <a:r>
              <a:rPr lang="en-US" sz="1200" dirty="0" err="1" smtClean="0">
                <a:solidFill>
                  <a:srgbClr val="A31515"/>
                </a:solidFill>
                <a:latin typeface="Fira Code" pitchFamily="1" charset="0"/>
              </a:rPr>
              <a:t>myFavoriteObject</a:t>
            </a:r>
            <a:r>
              <a:rPr lang="en-US" sz="1200" dirty="0" smtClean="0">
                <a:solidFill>
                  <a:srgbClr val="000000"/>
                </a:solidFill>
                <a:latin typeface="Fira Code" pitchFamily="1" charset="0"/>
              </a:rPr>
              <a:t>)</a:t>
            </a:r>
            <a:endParaRPr lang="en-US" sz="1200" b="0" dirty="0">
              <a:solidFill>
                <a:srgbClr val="000000"/>
              </a:solidFill>
              <a:effectLst/>
              <a:latin typeface="Fira Code" pitchFamily="1" charset="0"/>
            </a:endParaRPr>
          </a:p>
        </p:txBody>
      </p:sp>
    </p:spTree>
    <p:extLst>
      <p:ext uri="{BB962C8B-B14F-4D97-AF65-F5344CB8AC3E}">
        <p14:creationId xmlns:p14="http://schemas.microsoft.com/office/powerpoint/2010/main" val="1384423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0248" y="190474"/>
            <a:ext cx="6083717" cy="369332"/>
          </a:xfrm>
          <a:prstGeom prst="rect">
            <a:avLst/>
          </a:prstGeom>
        </p:spPr>
        <p:txBody>
          <a:bodyPr wrap="none">
            <a:spAutoFit/>
          </a:bodyPr>
          <a:lstStyle/>
          <a:p>
            <a:r>
              <a:rPr lang="en-US" b="1" dirty="0">
                <a:solidFill>
                  <a:srgbClr val="00B050"/>
                </a:solidFill>
                <a:latin typeface="Helvetica Neue LT Std"/>
              </a:rPr>
              <a:t>Errors and Exceptions – Error Handling in JavaScript </a:t>
            </a:r>
          </a:p>
        </p:txBody>
      </p:sp>
      <p:graphicFrame>
        <p:nvGraphicFramePr>
          <p:cNvPr id="10" name="Table 9"/>
          <p:cNvGraphicFramePr>
            <a:graphicFrameLocks noGrp="1"/>
          </p:cNvGraphicFramePr>
          <p:nvPr>
            <p:extLst/>
          </p:nvPr>
        </p:nvGraphicFramePr>
        <p:xfrm>
          <a:off x="6752047" y="1322643"/>
          <a:ext cx="5129836" cy="3146947"/>
        </p:xfrm>
        <a:graphic>
          <a:graphicData uri="http://schemas.openxmlformats.org/drawingml/2006/table">
            <a:tbl>
              <a:tblPr/>
              <a:tblGrid>
                <a:gridCol w="1762622">
                  <a:extLst>
                    <a:ext uri="{9D8B030D-6E8A-4147-A177-3AD203B41FA5}">
                      <a16:colId xmlns:a16="http://schemas.microsoft.com/office/drawing/2014/main" val="4051511968"/>
                    </a:ext>
                  </a:extLst>
                </a:gridCol>
                <a:gridCol w="3367214">
                  <a:extLst>
                    <a:ext uri="{9D8B030D-6E8A-4147-A177-3AD203B41FA5}">
                      <a16:colId xmlns:a16="http://schemas.microsoft.com/office/drawing/2014/main" val="836887954"/>
                    </a:ext>
                  </a:extLst>
                </a:gridCol>
              </a:tblGrid>
              <a:tr h="407302">
                <a:tc>
                  <a:txBody>
                    <a:bodyPr/>
                    <a:lstStyle/>
                    <a:p>
                      <a:pPr algn="l" fontAlgn="t"/>
                      <a:r>
                        <a:rPr lang="en-US" sz="1200" b="1" dirty="0">
                          <a:effectLst/>
                        </a:rPr>
                        <a:t>Error </a:t>
                      </a:r>
                      <a:r>
                        <a:rPr lang="en-US" sz="1200" b="1" dirty="0" smtClean="0">
                          <a:effectLst/>
                        </a:rPr>
                        <a:t>Name (standalone object) - Categories</a:t>
                      </a:r>
                      <a:endParaRPr lang="en-US" sz="1200" b="1" dirty="0">
                        <a:effectLst/>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200" b="1" dirty="0">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59096663"/>
                  </a:ext>
                </a:extLst>
              </a:tr>
              <a:tr h="442583">
                <a:tc>
                  <a:txBody>
                    <a:bodyPr/>
                    <a:lstStyle/>
                    <a:p>
                      <a:pPr algn="l" fontAlgn="t"/>
                      <a:r>
                        <a:rPr lang="en-US" sz="1200" dirty="0" err="1">
                          <a:effectLst/>
                        </a:rPr>
                        <a:t>EvalError</a:t>
                      </a:r>
                      <a:endParaRPr lang="en-US" sz="1200" dirty="0">
                        <a:effectLst/>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200" dirty="0">
                          <a:effectLst/>
                        </a:rPr>
                        <a:t>An error has occurred in the </a:t>
                      </a:r>
                      <a:r>
                        <a:rPr lang="en-US" sz="1200" dirty="0" err="1">
                          <a:effectLst/>
                        </a:rPr>
                        <a:t>eval</a:t>
                      </a:r>
                      <a:r>
                        <a:rPr lang="en-US" sz="1200" dirty="0">
                          <a:effectLst/>
                        </a:rPr>
                        <a:t>() function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158962071"/>
                  </a:ext>
                </a:extLst>
              </a:tr>
              <a:tr h="407302">
                <a:tc>
                  <a:txBody>
                    <a:bodyPr/>
                    <a:lstStyle/>
                    <a:p>
                      <a:pPr algn="l" fontAlgn="t"/>
                      <a:r>
                        <a:rPr lang="en-US" sz="1200" dirty="0" err="1">
                          <a:effectLst/>
                        </a:rPr>
                        <a:t>RangeError</a:t>
                      </a:r>
                      <a:endParaRPr lang="en-US" sz="1200" dirty="0">
                        <a:effectLst/>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200" dirty="0" smtClean="0">
                          <a:effectLst/>
                        </a:rPr>
                        <a:t>"</a:t>
                      </a:r>
                      <a:r>
                        <a:rPr lang="en-US" sz="1200" dirty="0">
                          <a:effectLst/>
                        </a:rPr>
                        <a:t>out of range" </a:t>
                      </a:r>
                      <a:r>
                        <a:rPr lang="en-US" sz="1200" dirty="0" smtClean="0">
                          <a:effectLst/>
                        </a:rPr>
                        <a:t>once</a:t>
                      </a:r>
                      <a:r>
                        <a:rPr lang="en-US" sz="1200" baseline="0" dirty="0" smtClean="0">
                          <a:effectLst/>
                        </a:rPr>
                        <a:t> you try access </a:t>
                      </a:r>
                      <a:r>
                        <a:rPr lang="en-US" sz="1200" baseline="0" dirty="0" err="1" smtClean="0">
                          <a:effectLst/>
                        </a:rPr>
                        <a:t>smt.</a:t>
                      </a:r>
                      <a:r>
                        <a:rPr lang="en-US" sz="1200" baseline="0" dirty="0" smtClean="0">
                          <a:effectLst/>
                        </a:rPr>
                        <a:t> out of size</a:t>
                      </a:r>
                      <a:endParaRPr lang="en-US" sz="1200" dirty="0">
                        <a:effectLst/>
                      </a:endParaRP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920060258"/>
                  </a:ext>
                </a:extLst>
              </a:tr>
              <a:tr h="407302">
                <a:tc>
                  <a:txBody>
                    <a:bodyPr/>
                    <a:lstStyle/>
                    <a:p>
                      <a:pPr algn="l" fontAlgn="t"/>
                      <a:r>
                        <a:rPr lang="en-US" sz="1200" dirty="0" err="1">
                          <a:effectLst/>
                        </a:rPr>
                        <a:t>ReferenceError</a:t>
                      </a:r>
                      <a:endParaRPr lang="en-US" sz="1200" dirty="0">
                        <a:effectLst/>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200" dirty="0">
                          <a:effectLst/>
                        </a:rPr>
                        <a:t>An illegal reference has </a:t>
                      </a:r>
                      <a:r>
                        <a:rPr lang="en-US" sz="1200" dirty="0" smtClean="0">
                          <a:effectLst/>
                        </a:rPr>
                        <a:t>occurred, non-existing one</a:t>
                      </a:r>
                      <a:endParaRPr lang="en-US" sz="1200" dirty="0">
                        <a:effectLst/>
                      </a:endParaRP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488030859"/>
                  </a:ext>
                </a:extLst>
              </a:tr>
              <a:tr h="255868">
                <a:tc>
                  <a:txBody>
                    <a:bodyPr/>
                    <a:lstStyle/>
                    <a:p>
                      <a:pPr algn="l" fontAlgn="t"/>
                      <a:r>
                        <a:rPr lang="en-US" sz="1200" dirty="0" err="1">
                          <a:effectLst/>
                        </a:rPr>
                        <a:t>SyntaxError</a:t>
                      </a:r>
                      <a:endParaRPr lang="en-US" sz="1200" dirty="0">
                        <a:effectLst/>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200">
                          <a:effectLst/>
                        </a:rPr>
                        <a:t>A syntax error has occurred</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129091636"/>
                  </a:ext>
                </a:extLst>
              </a:tr>
              <a:tr h="255868">
                <a:tc>
                  <a:txBody>
                    <a:bodyPr/>
                    <a:lstStyle/>
                    <a:p>
                      <a:pPr algn="l" fontAlgn="t"/>
                      <a:r>
                        <a:rPr lang="en-US" sz="1200" b="1" dirty="0" err="1">
                          <a:effectLst/>
                        </a:rPr>
                        <a:t>TypeError</a:t>
                      </a:r>
                      <a:endParaRPr lang="en-US" sz="1200" b="1" dirty="0">
                        <a:effectLst/>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200">
                          <a:effectLst/>
                        </a:rPr>
                        <a:t>A type error has occurred</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719683676"/>
                  </a:ext>
                </a:extLst>
              </a:tr>
              <a:tr h="255868">
                <a:tc>
                  <a:txBody>
                    <a:bodyPr/>
                    <a:lstStyle/>
                    <a:p>
                      <a:pPr algn="l" fontAlgn="t"/>
                      <a:r>
                        <a:rPr lang="en-US" sz="1200" dirty="0" err="1">
                          <a:effectLst/>
                        </a:rPr>
                        <a:t>URIError</a:t>
                      </a:r>
                      <a:endParaRPr lang="en-US" sz="1200" dirty="0">
                        <a:effectLst/>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200" dirty="0">
                          <a:effectLst/>
                        </a:rPr>
                        <a:t>An error in </a:t>
                      </a:r>
                      <a:r>
                        <a:rPr lang="en-US" sz="1200" dirty="0" err="1">
                          <a:effectLst/>
                        </a:rPr>
                        <a:t>encodeURI</a:t>
                      </a:r>
                      <a:r>
                        <a:rPr lang="en-US" sz="1200" dirty="0">
                          <a:effectLst/>
                        </a:rPr>
                        <a:t>() has occurred</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368322644"/>
                  </a:ext>
                </a:extLst>
              </a:tr>
              <a:tr h="255868">
                <a:tc>
                  <a:txBody>
                    <a:bodyPr/>
                    <a:lstStyle/>
                    <a:p>
                      <a:pPr algn="l" fontAlgn="t"/>
                      <a:r>
                        <a:rPr lang="en-US" sz="1200" dirty="0" err="1" smtClean="0">
                          <a:effectLst/>
                        </a:rPr>
                        <a:t>AggregateError</a:t>
                      </a:r>
                      <a:r>
                        <a:rPr lang="en-US" sz="1200" dirty="0" smtClean="0">
                          <a:effectLst/>
                        </a:rPr>
                        <a:t> </a:t>
                      </a:r>
                      <a:endParaRPr lang="en-US" sz="1200" dirty="0">
                        <a:effectLst/>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r>
                        <a:rPr lang="en-US" sz="1200" kern="1200" dirty="0" smtClean="0">
                          <a:solidFill>
                            <a:schemeClr val="tx1"/>
                          </a:solidFill>
                          <a:effectLst/>
                          <a:latin typeface="+mn-lt"/>
                          <a:ea typeface="+mn-ea"/>
                          <a:cs typeface="+mn-cs"/>
                        </a:rPr>
                        <a:t>An error which contains many errors.</a:t>
                      </a:r>
                      <a:endParaRPr lang="en-US" sz="1200" dirty="0">
                        <a:effectLst/>
                      </a:endParaRP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24586593"/>
                  </a:ext>
                </a:extLst>
              </a:tr>
              <a:tr h="255868">
                <a:tc>
                  <a:txBody>
                    <a:bodyPr/>
                    <a:lstStyle/>
                    <a:p>
                      <a:pPr algn="l" fontAlgn="t"/>
                      <a:r>
                        <a:rPr lang="en-US" sz="1200" kern="1200" dirty="0" err="1" smtClean="0">
                          <a:solidFill>
                            <a:schemeClr val="tx1"/>
                          </a:solidFill>
                          <a:effectLst/>
                          <a:latin typeface="+mn-lt"/>
                          <a:ea typeface="+mn-ea"/>
                          <a:cs typeface="+mn-cs"/>
                        </a:rPr>
                        <a:t>InternalError</a:t>
                      </a:r>
                      <a:endParaRPr lang="en-US" sz="1200" kern="1200" dirty="0">
                        <a:solidFill>
                          <a:schemeClr val="tx1"/>
                        </a:solidFill>
                        <a:effectLst/>
                        <a:latin typeface="+mn-lt"/>
                        <a:ea typeface="+mn-ea"/>
                        <a:cs typeface="+mn-cs"/>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chemeClr val="bg1"/>
                    </a:solidFill>
                  </a:tcPr>
                </a:tc>
                <a:tc>
                  <a:txBody>
                    <a:bodyPr/>
                    <a:lstStyle/>
                    <a:p>
                      <a:r>
                        <a:rPr lang="en-US" sz="1200" kern="1200" dirty="0" smtClean="0">
                          <a:solidFill>
                            <a:schemeClr val="tx1"/>
                          </a:solidFill>
                          <a:effectLst/>
                          <a:latin typeface="+mn-lt"/>
                          <a:ea typeface="+mn-ea"/>
                          <a:cs typeface="+mn-cs"/>
                        </a:rPr>
                        <a:t>An error occurred inside the JavaScript engine</a:t>
                      </a:r>
                      <a:endParaRPr lang="en-US" sz="1200" kern="1200" dirty="0">
                        <a:solidFill>
                          <a:schemeClr val="tx1"/>
                        </a:solidFill>
                        <a:effectLst/>
                        <a:latin typeface="+mn-lt"/>
                        <a:ea typeface="+mn-ea"/>
                        <a:cs typeface="+mn-cs"/>
                      </a:endParaRP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259435487"/>
                  </a:ext>
                </a:extLst>
              </a:tr>
            </a:tbl>
          </a:graphicData>
        </a:graphic>
      </p:graphicFrame>
      <p:sp>
        <p:nvSpPr>
          <p:cNvPr id="2" name="Rectangle 1"/>
          <p:cNvSpPr/>
          <p:nvPr/>
        </p:nvSpPr>
        <p:spPr>
          <a:xfrm>
            <a:off x="267596" y="685834"/>
            <a:ext cx="11614287" cy="830997"/>
          </a:xfrm>
          <a:prstGeom prst="rect">
            <a:avLst/>
          </a:prstGeom>
        </p:spPr>
        <p:txBody>
          <a:bodyPr wrap="square">
            <a:spAutoFit/>
          </a:bodyPr>
          <a:lstStyle/>
          <a:p>
            <a:r>
              <a:rPr lang="en-US" sz="1600" dirty="0" smtClean="0"/>
              <a:t>JavaScript/Typescript is </a:t>
            </a:r>
            <a:r>
              <a:rPr lang="en-US" sz="1600" dirty="0"/>
              <a:t>quite good at resolving most coding mistakes, so errors really are the last </a:t>
            </a:r>
            <a:r>
              <a:rPr lang="en-US" sz="1600" dirty="0" smtClean="0"/>
              <a:t>resort (beyond our control)!</a:t>
            </a:r>
            <a:endParaRPr lang="en-US" sz="1600" dirty="0"/>
          </a:p>
          <a:p>
            <a:r>
              <a:rPr lang="en-US" sz="1600" dirty="0">
                <a:solidFill>
                  <a:srgbClr val="FF1675"/>
                </a:solidFill>
                <a:latin typeface="Calibri Light" panose="020F0302020204030204" pitchFamily="34" charset="0"/>
                <a:ea typeface="Calibri Light" panose="020F0302020204030204" pitchFamily="34" charset="0"/>
                <a:cs typeface="Calibri Light" panose="020F0302020204030204" pitchFamily="34" charset="0"/>
              </a:rPr>
              <a:t>• </a:t>
            </a:r>
            <a:r>
              <a:rPr lang="en-US" sz="1600" b="1" dirty="0">
                <a:solidFill>
                  <a:srgbClr val="FF1675"/>
                </a:solidFill>
                <a:latin typeface="Calibri Light" panose="020F0302020204030204" pitchFamily="34" charset="0"/>
                <a:ea typeface="Calibri Light" panose="020F0302020204030204" pitchFamily="34" charset="0"/>
                <a:cs typeface="Calibri Light" panose="020F0302020204030204" pitchFamily="34" charset="0"/>
              </a:rPr>
              <a:t>We should always take steps to mitigate the error, or report it back to the user</a:t>
            </a:r>
          </a:p>
          <a:p>
            <a:r>
              <a:rPr lang="en-US" sz="1600" dirty="0">
                <a:solidFill>
                  <a:srgbClr val="FF1675"/>
                </a:solidFill>
                <a:latin typeface="Calibri Light" panose="020F0302020204030204" pitchFamily="34" charset="0"/>
                <a:ea typeface="Calibri Light" panose="020F0302020204030204" pitchFamily="34" charset="0"/>
                <a:cs typeface="Calibri Light" panose="020F0302020204030204" pitchFamily="34" charset="0"/>
              </a:rPr>
              <a:t>• </a:t>
            </a:r>
            <a:r>
              <a:rPr lang="en-US" sz="1600" b="1" dirty="0">
                <a:solidFill>
                  <a:srgbClr val="FF1675"/>
                </a:solidFill>
                <a:latin typeface="Calibri Light" panose="020F0302020204030204" pitchFamily="34" charset="0"/>
                <a:ea typeface="Calibri Light" panose="020F0302020204030204" pitchFamily="34" charset="0"/>
                <a:cs typeface="Calibri Light" panose="020F0302020204030204" pitchFamily="34" charset="0"/>
              </a:rPr>
              <a:t>Users don’t like data loss</a:t>
            </a:r>
            <a:r>
              <a:rPr lang="en-US" sz="1600" b="1" dirty="0" smtClean="0">
                <a:solidFill>
                  <a:srgbClr val="FF1675"/>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6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5" name="Rectangle 1"/>
          <p:cNvSpPr>
            <a:spLocks noChangeArrowheads="1"/>
          </p:cNvSpPr>
          <p:nvPr/>
        </p:nvSpPr>
        <p:spPr bwMode="auto">
          <a:xfrm>
            <a:off x="233921" y="1581915"/>
            <a:ext cx="4766921" cy="3019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849" rIns="0" bIns="42849"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Throw, and </a:t>
            </a:r>
            <a:r>
              <a:rPr kumimoji="0" lang="en-US" altLang="en-US" sz="1400" b="1"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hlinkClick r:id="rId3"/>
              </a:rPr>
              <a:t>Try...Catch...Finally </a:t>
            </a:r>
            <a:endParaRPr kumimoji="0" lang="en-US" altLang="en-US" sz="1200" b="0" i="0" u="none" strike="noStrike" cap="none" normalizeH="0" baseline="0" dirty="0" smtClean="0">
              <a:ln>
                <a:noFill/>
              </a:ln>
              <a:solidFill>
                <a:schemeClr val="tx1"/>
              </a:solidFill>
              <a:effectLst/>
            </a:endParaRPr>
          </a:p>
        </p:txBody>
      </p:sp>
      <p:sp>
        <p:nvSpPr>
          <p:cNvPr id="16" name="Rectangle 2"/>
          <p:cNvSpPr>
            <a:spLocks noChangeArrowheads="1"/>
          </p:cNvSpPr>
          <p:nvPr/>
        </p:nvSpPr>
        <p:spPr bwMode="auto">
          <a:xfrm>
            <a:off x="4846064" y="4658377"/>
            <a:ext cx="6298009" cy="17485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849" rIns="0" bIns="42849"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The throw Statement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00000"/>
                </a:solidFill>
                <a:effectLst/>
                <a:latin typeface="Verdana" panose="020B0604030504040204" pitchFamily="34" charset="0"/>
              </a:rPr>
              <a:t>The </a:t>
            </a:r>
            <a:r>
              <a:rPr kumimoji="0" lang="en-US" altLang="en-US" sz="1200" b="0" i="0" u="none" strike="noStrike" cap="none" normalizeH="0" baseline="0" dirty="0" smtClean="0">
                <a:ln>
                  <a:noFill/>
                </a:ln>
                <a:solidFill>
                  <a:srgbClr val="DC143C"/>
                </a:solidFill>
                <a:effectLst/>
                <a:latin typeface="Consolas" panose="020B0609020204030204" pitchFamily="49" charset="0"/>
              </a:rPr>
              <a:t>throw</a:t>
            </a:r>
            <a:r>
              <a:rPr kumimoji="0" lang="en-US" altLang="en-US" sz="1200" b="0" i="0" u="none" strike="noStrike" cap="none" normalizeH="0" baseline="0" dirty="0" smtClean="0">
                <a:ln>
                  <a:noFill/>
                </a:ln>
                <a:solidFill>
                  <a:srgbClr val="000000"/>
                </a:solidFill>
                <a:effectLst/>
                <a:latin typeface="Verdana" panose="020B0604030504040204" pitchFamily="34" charset="0"/>
              </a:rPr>
              <a:t> statement allows you to create/generate a custom error.</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00000"/>
                </a:solidFill>
                <a:effectLst/>
                <a:latin typeface="Verdana" panose="020B0604030504040204" pitchFamily="34" charset="0"/>
              </a:rPr>
              <a:t>Technically you can </a:t>
            </a:r>
            <a:r>
              <a:rPr kumimoji="0" lang="en-US" altLang="en-US" sz="1200" b="1" i="0" u="none" strike="noStrike" cap="none" normalizeH="0" baseline="0" dirty="0" smtClean="0">
                <a:ln>
                  <a:noFill/>
                </a:ln>
                <a:solidFill>
                  <a:srgbClr val="000000"/>
                </a:solidFill>
                <a:effectLst/>
                <a:latin typeface="Verdana" panose="020B0604030504040204" pitchFamily="34" charset="0"/>
              </a:rPr>
              <a:t>throw an exception (throw an error)</a:t>
            </a:r>
            <a:r>
              <a:rPr kumimoji="0" lang="en-US" altLang="en-US" sz="1200" b="0" i="0" u="none" strike="noStrike" cap="none" normalizeH="0" baseline="0" dirty="0" smtClean="0">
                <a:ln>
                  <a:noFill/>
                </a:ln>
                <a:solidFill>
                  <a:srgbClr val="000000"/>
                </a:solidFill>
                <a:effectLst/>
                <a:latin typeface="Verdana" panose="020B0604030504040204" pitchFamily="34" charset="0"/>
              </a:rPr>
              <a:t>.</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00000"/>
                </a:solidFill>
                <a:effectLst/>
                <a:latin typeface="Verdana" panose="020B0604030504040204" pitchFamily="34" charset="0"/>
              </a:rPr>
              <a:t>The exception can be a JavaScript </a:t>
            </a:r>
            <a:r>
              <a:rPr kumimoji="0" lang="en-US" altLang="en-US" sz="1200" b="0" i="0" u="none" strike="noStrike" cap="none" normalizeH="0" baseline="0" dirty="0" smtClean="0">
                <a:ln>
                  <a:noFill/>
                </a:ln>
                <a:solidFill>
                  <a:srgbClr val="DC143C"/>
                </a:solidFill>
                <a:effectLst/>
                <a:latin typeface="Consolas" panose="020B0609020204030204" pitchFamily="49" charset="0"/>
              </a:rPr>
              <a:t>String</a:t>
            </a:r>
            <a:r>
              <a:rPr kumimoji="0" lang="en-US" altLang="en-US" sz="1200" b="0" i="0" u="none" strike="noStrike" cap="none" normalizeH="0" baseline="0" dirty="0" smtClean="0">
                <a:ln>
                  <a:noFill/>
                </a:ln>
                <a:solidFill>
                  <a:srgbClr val="000000"/>
                </a:solidFill>
                <a:effectLst/>
                <a:latin typeface="Verdana" panose="020B0604030504040204" pitchFamily="34" charset="0"/>
              </a:rPr>
              <a:t>, a </a:t>
            </a:r>
            <a:r>
              <a:rPr kumimoji="0" lang="en-US" altLang="en-US" sz="1200" b="0" i="0" u="none" strike="noStrike" cap="none" normalizeH="0" baseline="0" dirty="0" smtClean="0">
                <a:ln>
                  <a:noFill/>
                </a:ln>
                <a:solidFill>
                  <a:srgbClr val="DC143C"/>
                </a:solidFill>
                <a:effectLst/>
                <a:latin typeface="Consolas" panose="020B0609020204030204" pitchFamily="49" charset="0"/>
              </a:rPr>
              <a:t>Number</a:t>
            </a:r>
            <a:r>
              <a:rPr kumimoji="0" lang="en-US" altLang="en-US" sz="1200" b="0" i="0" u="none" strike="noStrike" cap="none" normalizeH="0" baseline="0" dirty="0" smtClean="0">
                <a:ln>
                  <a:noFill/>
                </a:ln>
                <a:solidFill>
                  <a:srgbClr val="000000"/>
                </a:solidFill>
                <a:effectLst/>
                <a:latin typeface="Verdana" panose="020B0604030504040204" pitchFamily="34" charset="0"/>
              </a:rPr>
              <a:t>, a </a:t>
            </a:r>
            <a:r>
              <a:rPr kumimoji="0" lang="en-US" altLang="en-US" sz="1200" b="0" i="0" u="none" strike="noStrike" cap="none" normalizeH="0" baseline="0" dirty="0" smtClean="0">
                <a:ln>
                  <a:noFill/>
                </a:ln>
                <a:solidFill>
                  <a:srgbClr val="DC143C"/>
                </a:solidFill>
                <a:effectLst/>
                <a:latin typeface="Consolas" panose="020B0609020204030204" pitchFamily="49" charset="0"/>
              </a:rPr>
              <a:t>Boolean</a:t>
            </a:r>
            <a:r>
              <a:rPr kumimoji="0" lang="en-US" altLang="en-US" sz="1200" b="0" i="0" u="none" strike="noStrike" cap="none" normalizeH="0" baseline="0" dirty="0" smtClean="0">
                <a:ln>
                  <a:noFill/>
                </a:ln>
                <a:solidFill>
                  <a:srgbClr val="000000"/>
                </a:solidFill>
                <a:effectLst/>
                <a:latin typeface="Verdana" panose="020B0604030504040204" pitchFamily="34" charset="0"/>
              </a:rPr>
              <a:t> or an </a:t>
            </a:r>
            <a:r>
              <a:rPr kumimoji="0" lang="en-US" altLang="en-US" sz="1200" b="0" i="0" u="none" strike="noStrike" cap="none" normalizeH="0" baseline="0" dirty="0" smtClean="0">
                <a:ln>
                  <a:noFill/>
                </a:ln>
                <a:solidFill>
                  <a:srgbClr val="DC143C"/>
                </a:solidFill>
                <a:effectLst/>
                <a:latin typeface="Consolas" panose="020B0609020204030204" pitchFamily="49" charset="0"/>
              </a:rPr>
              <a:t>Object</a:t>
            </a:r>
            <a:r>
              <a:rPr kumimoji="0" lang="en-US" altLang="en-US" sz="1200" b="0" i="0" u="none" strike="noStrike" cap="none" normalizeH="0" baseline="0" dirty="0" smtClean="0">
                <a:ln>
                  <a:noFill/>
                </a:ln>
                <a:solidFill>
                  <a:srgbClr val="000000"/>
                </a:solidFill>
                <a:effectLst/>
                <a:latin typeface="Verdana" panose="020B0604030504040204" pitchFamily="34" charset="0"/>
              </a:rPr>
              <a:t>:</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0000CD"/>
                </a:solidFill>
                <a:effectLst/>
                <a:latin typeface="Consolas" panose="020B0609020204030204" pitchFamily="49" charset="0"/>
              </a:rPr>
              <a:t>throw</a:t>
            </a:r>
            <a:r>
              <a:rPr kumimoji="0" lang="en-US" altLang="en-US" sz="1200" b="0" i="0" u="none" strike="noStrike" cap="none" normalizeH="0" baseline="0" dirty="0" smtClean="0">
                <a:ln>
                  <a:noFill/>
                </a:ln>
                <a:solidFill>
                  <a:srgbClr val="000000"/>
                </a:solidFill>
                <a:effectLst/>
                <a:latin typeface="Consolas" panose="020B0609020204030204" pitchFamily="49" charset="0"/>
              </a:rPr>
              <a:t> </a:t>
            </a:r>
            <a:r>
              <a:rPr kumimoji="0" lang="en-US" altLang="en-US" sz="1200" b="0" i="0" u="none" strike="noStrike" cap="none" normalizeH="0" baseline="0" dirty="0" smtClean="0">
                <a:ln>
                  <a:noFill/>
                </a:ln>
                <a:solidFill>
                  <a:srgbClr val="A52A2A"/>
                </a:solidFill>
                <a:effectLst/>
                <a:latin typeface="Consolas" panose="020B0609020204030204" pitchFamily="49" charset="0"/>
              </a:rPr>
              <a:t>"Too big"</a:t>
            </a:r>
            <a:r>
              <a:rPr kumimoji="0" lang="en-US" altLang="en-US" sz="1200" b="0" i="0" u="none" strike="noStrike" cap="none" normalizeH="0" baseline="0" dirty="0" smtClean="0">
                <a:ln>
                  <a:noFill/>
                </a:ln>
                <a:solidFill>
                  <a:srgbClr val="000000"/>
                </a:solidFill>
                <a:effectLst/>
                <a:latin typeface="Consolas" panose="020B0609020204030204" pitchFamily="49" charset="0"/>
              </a:rPr>
              <a:t>;    </a:t>
            </a:r>
            <a:r>
              <a:rPr kumimoji="0" lang="en-US" altLang="en-US" sz="1200" b="0" i="0" u="none" strike="noStrike" cap="none" normalizeH="0" baseline="0" dirty="0" smtClean="0">
                <a:ln>
                  <a:noFill/>
                </a:ln>
                <a:solidFill>
                  <a:srgbClr val="008000"/>
                </a:solidFill>
                <a:effectLst/>
                <a:latin typeface="Consolas" panose="020B0609020204030204" pitchFamily="49" charset="0"/>
              </a:rPr>
              <a:t>// throw a text</a:t>
            </a:r>
            <a:br>
              <a:rPr kumimoji="0" lang="en-US" altLang="en-US" sz="1200" b="0" i="0" u="none" strike="noStrike" cap="none" normalizeH="0" baseline="0" dirty="0" smtClean="0">
                <a:ln>
                  <a:noFill/>
                </a:ln>
                <a:solidFill>
                  <a:srgbClr val="008000"/>
                </a:solidFill>
                <a:effectLst/>
                <a:latin typeface="Consolas" panose="020B0609020204030204" pitchFamily="49" charset="0"/>
              </a:rPr>
            </a:br>
            <a:r>
              <a:rPr kumimoji="0" lang="en-US" altLang="en-US" sz="1200" b="0" i="0" u="none" strike="noStrike" cap="none" normalizeH="0" baseline="0" dirty="0" smtClean="0">
                <a:ln>
                  <a:noFill/>
                </a:ln>
                <a:solidFill>
                  <a:srgbClr val="0000CD"/>
                </a:solidFill>
                <a:effectLst/>
                <a:latin typeface="Consolas" panose="020B0609020204030204" pitchFamily="49" charset="0"/>
              </a:rPr>
              <a:t>throw</a:t>
            </a:r>
            <a:r>
              <a:rPr kumimoji="0" lang="en-US" altLang="en-US" sz="1200" b="0" i="0" u="none" strike="noStrike" cap="none" normalizeH="0" baseline="0" dirty="0" smtClean="0">
                <a:ln>
                  <a:noFill/>
                </a:ln>
                <a:solidFill>
                  <a:srgbClr val="000000"/>
                </a:solidFill>
                <a:effectLst/>
                <a:latin typeface="Consolas" panose="020B0609020204030204" pitchFamily="49" charset="0"/>
              </a:rPr>
              <a:t> </a:t>
            </a:r>
            <a:r>
              <a:rPr kumimoji="0" lang="en-US" altLang="en-US" sz="1200" b="0" i="0" u="none" strike="noStrike" cap="none" normalizeH="0" baseline="0" dirty="0" smtClean="0">
                <a:ln>
                  <a:noFill/>
                </a:ln>
                <a:solidFill>
                  <a:srgbClr val="FF0000"/>
                </a:solidFill>
                <a:effectLst/>
                <a:latin typeface="Consolas" panose="020B0609020204030204" pitchFamily="49" charset="0"/>
              </a:rPr>
              <a:t>500</a:t>
            </a:r>
            <a:r>
              <a:rPr kumimoji="0" lang="en-US" altLang="en-US" sz="1200" b="0" i="0" u="none" strike="noStrike" cap="none" normalizeH="0" baseline="0" dirty="0" smtClean="0">
                <a:ln>
                  <a:noFill/>
                </a:ln>
                <a:solidFill>
                  <a:srgbClr val="000000"/>
                </a:solidFill>
                <a:effectLst/>
                <a:latin typeface="Consolas" panose="020B0609020204030204" pitchFamily="49" charset="0"/>
              </a:rPr>
              <a:t>;          </a:t>
            </a:r>
            <a:r>
              <a:rPr kumimoji="0" lang="en-US" altLang="en-US" sz="1200" b="0" i="0" u="none" strike="noStrike" cap="none" normalizeH="0" baseline="0" dirty="0" smtClean="0">
                <a:ln>
                  <a:noFill/>
                </a:ln>
                <a:solidFill>
                  <a:srgbClr val="008000"/>
                </a:solidFill>
                <a:effectLst/>
                <a:latin typeface="Consolas" panose="020B0609020204030204" pitchFamily="49" charset="0"/>
              </a:rPr>
              <a:t>// throw a number</a:t>
            </a:r>
          </a:p>
          <a:p>
            <a:pPr lvl="0"/>
            <a:r>
              <a:rPr lang="en-US" altLang="en-US" sz="1200" dirty="0">
                <a:solidFill>
                  <a:srgbClr val="0000CD"/>
                </a:solidFill>
                <a:latin typeface="Consolas" panose="020B0609020204030204" pitchFamily="49" charset="0"/>
              </a:rPr>
              <a:t>throw</a:t>
            </a:r>
            <a:r>
              <a:rPr lang="en-US" altLang="en-US" sz="1200" dirty="0">
                <a:solidFill>
                  <a:srgbClr val="000000"/>
                </a:solidFill>
                <a:latin typeface="Consolas" panose="020B0609020204030204" pitchFamily="49" charset="0"/>
              </a:rPr>
              <a:t> </a:t>
            </a:r>
            <a:r>
              <a:rPr lang="en-US" altLang="en-US" sz="1200" dirty="0">
                <a:solidFill>
                  <a:srgbClr val="FF0000"/>
                </a:solidFill>
                <a:latin typeface="Consolas" panose="020B0609020204030204" pitchFamily="49" charset="0"/>
              </a:rPr>
              <a:t>new </a:t>
            </a:r>
            <a:r>
              <a:rPr lang="en-US" altLang="en-US" sz="1200" dirty="0" err="1" smtClean="0">
                <a:solidFill>
                  <a:srgbClr val="FF0000"/>
                </a:solidFill>
                <a:latin typeface="Consolas" panose="020B0609020204030204" pitchFamily="49" charset="0"/>
              </a:rPr>
              <a:t>TypeError</a:t>
            </a:r>
            <a:r>
              <a:rPr lang="en-US" altLang="en-US" sz="1200" dirty="0" smtClean="0">
                <a:solidFill>
                  <a:srgbClr val="FF0000"/>
                </a:solidFill>
                <a:latin typeface="Consolas" panose="020B0609020204030204" pitchFamily="49" charset="0"/>
              </a:rPr>
              <a:t>(“Type Error”) </a:t>
            </a:r>
            <a:r>
              <a:rPr lang="en-US" altLang="en-US" sz="1200" dirty="0">
                <a:solidFill>
                  <a:srgbClr val="008000"/>
                </a:solidFill>
                <a:latin typeface="Consolas" panose="020B0609020204030204" pitchFamily="49" charset="0"/>
              </a:rPr>
              <a:t>// throw a </a:t>
            </a:r>
            <a:r>
              <a:rPr lang="en-US" altLang="en-US" sz="1200" dirty="0" err="1" smtClean="0">
                <a:solidFill>
                  <a:srgbClr val="008000"/>
                </a:solidFill>
                <a:latin typeface="Consolas" panose="020B0609020204030204" pitchFamily="49" charset="0"/>
              </a:rPr>
              <a:t>TypeError</a:t>
            </a:r>
            <a:r>
              <a:rPr lang="en-US" altLang="en-US" sz="1200" dirty="0" smtClean="0">
                <a:solidFill>
                  <a:srgbClr val="008000"/>
                </a:solidFill>
                <a:latin typeface="Consolas" panose="020B0609020204030204" pitchFamily="49" charset="0"/>
              </a:rPr>
              <a:t>  </a:t>
            </a:r>
          </a:p>
          <a:p>
            <a:pPr lvl="0"/>
            <a:r>
              <a:rPr lang="en-US" altLang="en-US" sz="1200" dirty="0" smtClean="0">
                <a:solidFill>
                  <a:srgbClr val="0000CD"/>
                </a:solidFill>
                <a:latin typeface="Consolas" panose="020B0609020204030204" pitchFamily="49" charset="0"/>
              </a:rPr>
              <a:t>throw</a:t>
            </a:r>
            <a:r>
              <a:rPr lang="en-US" altLang="en-US" sz="1200" dirty="0">
                <a:solidFill>
                  <a:srgbClr val="000000"/>
                </a:solidFill>
                <a:latin typeface="Consolas" panose="020B0609020204030204" pitchFamily="49" charset="0"/>
              </a:rPr>
              <a:t> </a:t>
            </a:r>
            <a:r>
              <a:rPr lang="en-US" altLang="en-US" sz="1200" dirty="0" smtClean="0">
                <a:solidFill>
                  <a:srgbClr val="FF0000"/>
                </a:solidFill>
                <a:latin typeface="Consolas" panose="020B0609020204030204" pitchFamily="49" charset="0"/>
              </a:rPr>
              <a:t>new Error(“A Provisioning Error”)</a:t>
            </a:r>
            <a:r>
              <a:rPr lang="en-US" altLang="en-US" sz="1200" dirty="0" smtClean="0">
                <a:solidFill>
                  <a:srgbClr val="000000"/>
                </a:solidFill>
                <a:latin typeface="Consolas" panose="020B0609020204030204" pitchFamily="49" charset="0"/>
              </a:rPr>
              <a:t>;</a:t>
            </a:r>
            <a:r>
              <a:rPr lang="en-US" altLang="en-US" sz="1200" dirty="0">
                <a:solidFill>
                  <a:srgbClr val="000000"/>
                </a:solidFill>
                <a:latin typeface="Consolas" panose="020B0609020204030204" pitchFamily="49" charset="0"/>
              </a:rPr>
              <a:t> </a:t>
            </a:r>
            <a:r>
              <a:rPr lang="en-US" altLang="en-US" sz="1200" dirty="0" smtClean="0">
                <a:solidFill>
                  <a:srgbClr val="008000"/>
                </a:solidFill>
                <a:latin typeface="Consolas" panose="020B0609020204030204" pitchFamily="49" charset="0"/>
              </a:rPr>
              <a:t>// </a:t>
            </a:r>
            <a:r>
              <a:rPr lang="en-US" altLang="en-US" sz="1200" dirty="0">
                <a:solidFill>
                  <a:srgbClr val="008000"/>
                </a:solidFill>
                <a:latin typeface="Consolas" panose="020B0609020204030204" pitchFamily="49" charset="0"/>
              </a:rPr>
              <a:t>throw </a:t>
            </a:r>
            <a:r>
              <a:rPr lang="en-US" altLang="en-US" sz="1200" dirty="0" smtClean="0">
                <a:solidFill>
                  <a:srgbClr val="008000"/>
                </a:solidFill>
                <a:latin typeface="Consolas" panose="020B0609020204030204" pitchFamily="49" charset="0"/>
              </a:rPr>
              <a:t>an Error </a:t>
            </a:r>
            <a:endParaRPr lang="en-US" altLang="en-US" sz="12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endParaRPr>
          </a:p>
        </p:txBody>
      </p:sp>
      <p:sp>
        <p:nvSpPr>
          <p:cNvPr id="17" name="Rectangle 16"/>
          <p:cNvSpPr/>
          <p:nvPr/>
        </p:nvSpPr>
        <p:spPr>
          <a:xfrm>
            <a:off x="200248" y="1955756"/>
            <a:ext cx="4834269" cy="2492990"/>
          </a:xfrm>
          <a:prstGeom prst="rect">
            <a:avLst/>
          </a:prstGeom>
        </p:spPr>
        <p:txBody>
          <a:bodyPr wrap="square">
            <a:spAutoFit/>
          </a:bodyPr>
          <a:lstStyle/>
          <a:p>
            <a:r>
              <a:rPr lang="en-US" sz="1200" dirty="0">
                <a:solidFill>
                  <a:srgbClr val="0000CD"/>
                </a:solidFill>
                <a:latin typeface="Consolas" panose="020B0609020204030204" pitchFamily="49" charset="0"/>
              </a:rPr>
              <a:t>let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num</a:t>
            </a:r>
            <a:r>
              <a:rPr lang="en-US" sz="1200" dirty="0">
                <a:solidFill>
                  <a:srgbClr val="000000"/>
                </a:solidFill>
                <a:latin typeface="Consolas" panose="020B0609020204030204" pitchFamily="49" charset="0"/>
              </a:rPr>
              <a:t> = </a:t>
            </a:r>
            <a:r>
              <a:rPr lang="en-US" sz="1200" dirty="0" smtClean="0">
                <a:solidFill>
                  <a:srgbClr val="FF0000"/>
                </a:solidFill>
                <a:latin typeface="Consolas" panose="020B0609020204030204" pitchFamily="49" charset="0"/>
              </a:rPr>
              <a:t>1, </a:t>
            </a:r>
            <a:r>
              <a:rPr lang="en-US" sz="1200" dirty="0" smtClean="0">
                <a:solidFill>
                  <a:srgbClr val="000000"/>
                </a:solidFill>
                <a:latin typeface="Consolas" panose="020B0609020204030204" pitchFamily="49" charset="0"/>
              </a:rPr>
              <a:t>x = </a:t>
            </a:r>
            <a:r>
              <a:rPr lang="en-US" sz="1200" dirty="0" smtClean="0">
                <a:solidFill>
                  <a:srgbClr val="FF0000"/>
                </a:solidFill>
                <a:latin typeface="Consolas" panose="020B0609020204030204" pitchFamily="49" charset="0"/>
              </a:rPr>
              <a:t>5</a:t>
            </a:r>
            <a:r>
              <a:rPr lang="en-US" sz="1200" dirty="0" smtClean="0">
                <a:solidFill>
                  <a:srgbClr val="000000"/>
                </a:solidFill>
                <a:latin typeface="Consolas" panose="020B0609020204030204" pitchFamily="49" charset="0"/>
              </a:rPr>
              <a:t>;</a:t>
            </a:r>
            <a:r>
              <a:rPr lang="en-US" sz="1200" dirty="0"/>
              <a:t/>
            </a:r>
            <a:br>
              <a:rPr lang="en-US" sz="1200" dirty="0"/>
            </a:br>
            <a:r>
              <a:rPr lang="en-US" sz="1200" dirty="0">
                <a:solidFill>
                  <a:srgbClr val="0000CD"/>
                </a:solidFill>
                <a:latin typeface="Consolas" panose="020B0609020204030204" pitchFamily="49" charset="0"/>
              </a:rPr>
              <a:t>try</a:t>
            </a:r>
            <a:r>
              <a:rPr lang="en-US" sz="1200" dirty="0">
                <a:solidFill>
                  <a:srgbClr val="000000"/>
                </a:solidFill>
                <a:latin typeface="Consolas" panose="020B0609020204030204" pitchFamily="49" charset="0"/>
              </a:rPr>
              <a:t> </a:t>
            </a:r>
            <a:r>
              <a:rPr lang="en-US" sz="1200" dirty="0" smtClean="0">
                <a:solidFill>
                  <a:srgbClr val="000000"/>
                </a:solidFill>
                <a:latin typeface="Consolas" panose="020B0609020204030204" pitchFamily="49" charset="0"/>
              </a:rPr>
              <a:t>{</a:t>
            </a:r>
            <a:r>
              <a:rPr lang="en-US" sz="1200" dirty="0" smtClean="0">
                <a:solidFill>
                  <a:srgbClr val="008000"/>
                </a:solidFill>
                <a:latin typeface="Consolas" panose="020B0609020204030204" pitchFamily="49" charset="0"/>
              </a:rPr>
              <a:t>//code block to run  </a:t>
            </a:r>
            <a:r>
              <a:rPr lang="en-US" sz="1200" dirty="0"/>
              <a:t/>
            </a:r>
            <a:br>
              <a:rPr lang="en-US" sz="1200" dirty="0"/>
            </a:b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num.toUpperCase</a:t>
            </a:r>
            <a:r>
              <a:rPr lang="en-US" sz="1200" dirty="0">
                <a:solidFill>
                  <a:srgbClr val="000000"/>
                </a:solidFill>
                <a:latin typeface="Consolas" panose="020B0609020204030204" pitchFamily="49" charset="0"/>
              </a:rPr>
              <a:t>();   </a:t>
            </a:r>
            <a:r>
              <a:rPr lang="en-US" sz="1200" dirty="0" smtClean="0">
                <a:solidFill>
                  <a:srgbClr val="008000"/>
                </a:solidFill>
                <a:latin typeface="Consolas" panose="020B0609020204030204" pitchFamily="49" charset="0"/>
              </a:rPr>
              <a:t>//cannot </a:t>
            </a:r>
            <a:r>
              <a:rPr lang="en-US" sz="1200" dirty="0">
                <a:solidFill>
                  <a:srgbClr val="008000"/>
                </a:solidFill>
                <a:latin typeface="Consolas" panose="020B0609020204030204" pitchFamily="49" charset="0"/>
              </a:rPr>
              <a:t>convert </a:t>
            </a:r>
            <a:r>
              <a:rPr lang="en-US" sz="1200" dirty="0" smtClean="0">
                <a:solidFill>
                  <a:srgbClr val="008000"/>
                </a:solidFill>
                <a:latin typeface="Consolas" panose="020B0609020204030204" pitchFamily="49" charset="0"/>
              </a:rPr>
              <a:t>to </a:t>
            </a:r>
            <a:r>
              <a:rPr lang="en-US" sz="1200" dirty="0">
                <a:solidFill>
                  <a:srgbClr val="008000"/>
                </a:solidFill>
                <a:latin typeface="Consolas" panose="020B0609020204030204" pitchFamily="49" charset="0"/>
              </a:rPr>
              <a:t>upper </a:t>
            </a:r>
            <a:r>
              <a:rPr lang="en-US" sz="1200" dirty="0" smtClean="0">
                <a:solidFill>
                  <a:srgbClr val="008000"/>
                </a:solidFill>
                <a:latin typeface="Consolas" panose="020B0609020204030204" pitchFamily="49" charset="0"/>
              </a:rPr>
              <a:t>case</a:t>
            </a:r>
          </a:p>
          <a:p>
            <a:r>
              <a:rPr lang="en-US" sz="1200" dirty="0" smtClean="0">
                <a:solidFill>
                  <a:srgbClr val="000000"/>
                </a:solidFill>
                <a:latin typeface="Consolas" panose="020B0609020204030204" pitchFamily="49" charset="0"/>
              </a:rPr>
              <a:t>  x </a:t>
            </a:r>
            <a:r>
              <a:rPr lang="en-US" sz="1200" dirty="0">
                <a:solidFill>
                  <a:srgbClr val="000000"/>
                </a:solidFill>
                <a:latin typeface="Consolas" panose="020B0609020204030204" pitchFamily="49" charset="0"/>
              </a:rPr>
              <a:t>= y + </a:t>
            </a:r>
            <a:r>
              <a:rPr lang="en-US" sz="1200" dirty="0">
                <a:solidFill>
                  <a:srgbClr val="FF0000"/>
                </a:solidFill>
                <a:latin typeface="Consolas" panose="020B0609020204030204" pitchFamily="49" charset="0"/>
              </a:rPr>
              <a:t>1</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y cannot be used (referenced</a:t>
            </a:r>
            <a:r>
              <a:rPr lang="en-US" sz="1200" dirty="0" smtClean="0">
                <a:solidFill>
                  <a:srgbClr val="008000"/>
                </a:solidFill>
                <a:latin typeface="Consolas" panose="020B0609020204030204" pitchFamily="49" charset="0"/>
              </a:rPr>
              <a:t>)</a:t>
            </a:r>
          </a:p>
          <a:p>
            <a:r>
              <a:rPr lang="en-US" sz="1200" dirty="0">
                <a:latin typeface="Consolas" panose="020B0609020204030204" pitchFamily="49" charset="0"/>
              </a:rPr>
              <a:t>  </a:t>
            </a:r>
            <a:r>
              <a:rPr lang="en-US" sz="1200" dirty="0" smtClean="0">
                <a:solidFill>
                  <a:srgbClr val="7030A0"/>
                </a:solidFill>
                <a:latin typeface="Consolas" panose="020B0609020204030204" pitchFamily="49" charset="0"/>
              </a:rPr>
              <a:t>let </a:t>
            </a:r>
            <a:r>
              <a:rPr lang="en-US" sz="1200" dirty="0" err="1">
                <a:solidFill>
                  <a:srgbClr val="7030A0"/>
                </a:solidFill>
                <a:latin typeface="Consolas" panose="020B0609020204030204" pitchFamily="49" charset="0"/>
              </a:rPr>
              <a:t>jsonData</a:t>
            </a:r>
            <a:r>
              <a:rPr lang="en-US" sz="1200" dirty="0">
                <a:solidFill>
                  <a:srgbClr val="7030A0"/>
                </a:solidFill>
                <a:latin typeface="Consolas" panose="020B0609020204030204" pitchFamily="49" charset="0"/>
              </a:rPr>
              <a:t> = </a:t>
            </a:r>
            <a:r>
              <a:rPr lang="en-US" sz="1200" dirty="0" err="1">
                <a:solidFill>
                  <a:srgbClr val="7030A0"/>
                </a:solidFill>
                <a:latin typeface="Consolas" panose="020B0609020204030204" pitchFamily="49" charset="0"/>
              </a:rPr>
              <a:t>JSON.pase</a:t>
            </a:r>
            <a:r>
              <a:rPr lang="en-US" sz="1200" dirty="0">
                <a:solidFill>
                  <a:srgbClr val="7030A0"/>
                </a:solidFill>
                <a:latin typeface="Consolas" panose="020B0609020204030204" pitchFamily="49" charset="0"/>
              </a:rPr>
              <a:t>(</a:t>
            </a:r>
            <a:r>
              <a:rPr lang="en-US" sz="1200" dirty="0" err="1">
                <a:solidFill>
                  <a:srgbClr val="7030A0"/>
                </a:solidFill>
                <a:latin typeface="Consolas" panose="020B0609020204030204" pitchFamily="49" charset="0"/>
              </a:rPr>
              <a:t>inputData</a:t>
            </a:r>
            <a:r>
              <a:rPr lang="en-US" sz="1200" dirty="0" smtClean="0">
                <a:solidFill>
                  <a:srgbClr val="7030A0"/>
                </a:solidFill>
                <a:latin typeface="Consolas" panose="020B0609020204030204" pitchFamily="49" charset="0"/>
              </a:rPr>
              <a:t>)</a:t>
            </a:r>
            <a:r>
              <a:rPr lang="en-US" sz="1200" dirty="0" smtClean="0">
                <a:latin typeface="Consolas" panose="020B0609020204030204" pitchFamily="49" charset="0"/>
              </a:rPr>
              <a:t>//</a:t>
            </a:r>
            <a:r>
              <a:rPr lang="en-US" sz="1200" dirty="0" smtClean="0">
                <a:solidFill>
                  <a:srgbClr val="008000"/>
                </a:solidFill>
                <a:latin typeface="Consolas" panose="020B0609020204030204" pitchFamily="49" charset="0"/>
              </a:rPr>
              <a:t>non-</a:t>
            </a:r>
            <a:r>
              <a:rPr lang="en-US" sz="1200" dirty="0" err="1" smtClean="0">
                <a:solidFill>
                  <a:srgbClr val="008000"/>
                </a:solidFill>
                <a:latin typeface="Consolas" panose="020B0609020204030204" pitchFamily="49" charset="0"/>
              </a:rPr>
              <a:t>json</a:t>
            </a:r>
            <a:r>
              <a:rPr lang="en-US" sz="1200" dirty="0" smtClean="0">
                <a:solidFill>
                  <a:srgbClr val="008000"/>
                </a:solidFill>
                <a:latin typeface="Consolas" panose="020B0609020204030204" pitchFamily="49" charset="0"/>
              </a:rPr>
              <a:t> input</a:t>
            </a:r>
            <a:r>
              <a:rPr lang="en-US" sz="1200" dirty="0">
                <a:solidFill>
                  <a:srgbClr val="008000"/>
                </a:solidFill>
                <a:latin typeface="Consolas" panose="020B0609020204030204" pitchFamily="49" charset="0"/>
              </a:rPr>
              <a:t/>
            </a:r>
            <a:br>
              <a:rPr lang="en-US" sz="1200" dirty="0">
                <a:solidFill>
                  <a:srgbClr val="008000"/>
                </a:solidFill>
                <a:latin typeface="Consolas" panose="020B0609020204030204" pitchFamily="49" charset="0"/>
              </a:rPr>
            </a:br>
            <a:r>
              <a:rPr lang="en-US" sz="1200" dirty="0" smtClean="0">
                <a:solidFill>
                  <a:srgbClr val="000000"/>
                </a:solidFill>
                <a:latin typeface="Consolas" panose="020B0609020204030204" pitchFamily="49" charset="0"/>
              </a:rPr>
              <a:t>} </a:t>
            </a:r>
            <a:r>
              <a:rPr lang="en-US" sz="1200" dirty="0" smtClean="0">
                <a:solidFill>
                  <a:srgbClr val="0000CD"/>
                </a:solidFill>
                <a:latin typeface="Consolas" panose="020B0609020204030204" pitchFamily="49" charset="0"/>
              </a:rPr>
              <a:t>catch</a:t>
            </a:r>
            <a:r>
              <a:rPr lang="en-US" sz="1200" dirty="0" smtClean="0">
                <a:solidFill>
                  <a:srgbClr val="000000"/>
                </a:solidFill>
                <a:latin typeface="Consolas" panose="020B0609020204030204" pitchFamily="49" charset="0"/>
              </a:rPr>
              <a:t>(err</a:t>
            </a:r>
            <a:r>
              <a:rPr lang="en-US" sz="1200" dirty="0">
                <a:solidFill>
                  <a:srgbClr val="000000"/>
                </a:solidFill>
                <a:latin typeface="Consolas" panose="020B0609020204030204" pitchFamily="49" charset="0"/>
              </a:rPr>
              <a:t>) </a:t>
            </a:r>
            <a:r>
              <a:rPr lang="en-US" sz="1200" dirty="0" smtClean="0">
                <a:solidFill>
                  <a:srgbClr val="000000"/>
                </a:solidFill>
                <a:latin typeface="Consolas" panose="020B0609020204030204" pitchFamily="49" charset="0"/>
              </a:rPr>
              <a:t>{</a:t>
            </a:r>
            <a:r>
              <a:rPr lang="en-US" sz="1200" dirty="0">
                <a:solidFill>
                  <a:srgbClr val="008000"/>
                </a:solidFill>
                <a:latin typeface="Consolas" panose="020B0609020204030204" pitchFamily="49" charset="0"/>
              </a:rPr>
              <a:t>//code </a:t>
            </a:r>
            <a:r>
              <a:rPr lang="en-US" sz="1200" dirty="0" smtClean="0">
                <a:solidFill>
                  <a:srgbClr val="008000"/>
                </a:solidFill>
                <a:latin typeface="Consolas" panose="020B0609020204030204" pitchFamily="49" charset="0"/>
              </a:rPr>
              <a:t>block to handle errors  </a:t>
            </a:r>
            <a:r>
              <a:rPr lang="en-US" sz="1200" dirty="0"/>
              <a:t/>
            </a:r>
            <a:br>
              <a:rPr lang="en-US" sz="1200" dirty="0"/>
            </a:b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document.getElementById</a:t>
            </a:r>
            <a:r>
              <a:rPr lang="en-US" sz="1200" dirty="0">
                <a:solidFill>
                  <a:srgbClr val="000000"/>
                </a:solidFill>
                <a:latin typeface="Consolas" panose="020B0609020204030204" pitchFamily="49" charset="0"/>
              </a:rPr>
              <a:t>(</a:t>
            </a:r>
            <a:r>
              <a:rPr lang="en-US" sz="1200" dirty="0">
                <a:solidFill>
                  <a:srgbClr val="A52A2A"/>
                </a:solidFill>
                <a:latin typeface="Consolas" panose="020B0609020204030204" pitchFamily="49" charset="0"/>
              </a:rPr>
              <a:t>"demo"</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innerHTML</a:t>
            </a:r>
            <a:r>
              <a:rPr lang="en-US" sz="1200" dirty="0">
                <a:solidFill>
                  <a:srgbClr val="000000"/>
                </a:solidFill>
                <a:latin typeface="Consolas" panose="020B0609020204030204" pitchFamily="49" charset="0"/>
              </a:rPr>
              <a:t> = err.name</a:t>
            </a:r>
            <a:r>
              <a:rPr lang="en-US" sz="1200" dirty="0" smtClean="0">
                <a:solidFill>
                  <a:srgbClr val="000000"/>
                </a:solidFill>
                <a:latin typeface="Consolas" panose="020B0609020204030204" pitchFamily="49" charset="0"/>
              </a:rPr>
              <a:t>;</a:t>
            </a:r>
          </a:p>
          <a:p>
            <a:r>
              <a:rPr lang="en-US" sz="1200" dirty="0" smtClean="0">
                <a:solidFill>
                  <a:srgbClr val="7030A0"/>
                </a:solidFill>
                <a:latin typeface="Consolas" panose="020B0609020204030204" pitchFamily="49" charset="0"/>
              </a:rPr>
              <a:t>  </a:t>
            </a:r>
            <a:r>
              <a:rPr lang="en-US" sz="1200" dirty="0" err="1" smtClean="0">
                <a:solidFill>
                  <a:srgbClr val="7030A0"/>
                </a:solidFill>
                <a:latin typeface="Consolas" panose="020B0609020204030204" pitchFamily="49" charset="0"/>
              </a:rPr>
              <a:t>console.</a:t>
            </a:r>
            <a:r>
              <a:rPr lang="en-US" sz="1200" b="1" dirty="0" err="1" smtClean="0">
                <a:solidFill>
                  <a:srgbClr val="7030A0"/>
                </a:solidFill>
                <a:latin typeface="Consolas" panose="020B0609020204030204" pitchFamily="49" charset="0"/>
              </a:rPr>
              <a:t>error</a:t>
            </a:r>
            <a:r>
              <a:rPr lang="en-US" sz="1200" dirty="0">
                <a:solidFill>
                  <a:srgbClr val="7030A0"/>
                </a:solidFill>
                <a:latin typeface="Consolas" panose="020B0609020204030204" pitchFamily="49" charset="0"/>
              </a:rPr>
              <a:t>(`${e.name}: ${</a:t>
            </a:r>
            <a:r>
              <a:rPr lang="en-US" sz="1200" dirty="0" err="1">
                <a:solidFill>
                  <a:srgbClr val="7030A0"/>
                </a:solidFill>
                <a:latin typeface="Consolas" panose="020B0609020204030204" pitchFamily="49" charset="0"/>
              </a:rPr>
              <a:t>e.message</a:t>
            </a:r>
            <a:r>
              <a:rPr lang="en-US" sz="1200" dirty="0" smtClean="0">
                <a:solidFill>
                  <a:srgbClr val="7030A0"/>
                </a:solidFill>
                <a:latin typeface="Consolas" panose="020B0609020204030204" pitchFamily="49" charset="0"/>
              </a:rPr>
              <a:t>}`); </a:t>
            </a:r>
          </a:p>
          <a:p>
            <a:r>
              <a:rPr lang="en-US" sz="1200" dirty="0" smtClean="0">
                <a:solidFill>
                  <a:srgbClr val="000000"/>
                </a:solidFill>
                <a:latin typeface="Consolas" panose="020B0609020204030204" pitchFamily="49" charset="0"/>
              </a:rPr>
              <a:t>} </a:t>
            </a:r>
            <a:r>
              <a:rPr lang="en-US" sz="1200" dirty="0" smtClean="0">
                <a:solidFill>
                  <a:srgbClr val="0000CD"/>
                </a:solidFill>
                <a:latin typeface="Consolas" panose="020B0609020204030204" pitchFamily="49" charset="0"/>
              </a:rPr>
              <a:t>finally</a:t>
            </a:r>
            <a:r>
              <a:rPr lang="en-US" sz="1200" dirty="0" smtClean="0">
                <a:solidFill>
                  <a:srgbClr val="000000"/>
                </a:solidFill>
                <a:latin typeface="Consolas" panose="020B0609020204030204" pitchFamily="49" charset="0"/>
              </a:rPr>
              <a:t>() </a:t>
            </a:r>
            <a:r>
              <a:rPr lang="en-US" sz="1200" dirty="0">
                <a:solidFill>
                  <a:srgbClr val="000000"/>
                </a:solidFill>
                <a:latin typeface="Consolas" panose="020B0609020204030204" pitchFamily="49" charset="0"/>
              </a:rPr>
              <a:t>{</a:t>
            </a:r>
            <a:r>
              <a:rPr lang="en-US" sz="1200" dirty="0"/>
              <a:t/>
            </a:r>
            <a:br>
              <a:rPr lang="en-US" sz="1200" dirty="0"/>
            </a:br>
            <a:r>
              <a:rPr lang="en-US" sz="1200" dirty="0">
                <a:solidFill>
                  <a:srgbClr val="000000"/>
                </a:solidFill>
                <a:latin typeface="Consolas" panose="020B0609020204030204" pitchFamily="49" charset="0"/>
              </a:rPr>
              <a:t>  </a:t>
            </a:r>
            <a:r>
              <a:rPr lang="en-US" sz="1200" dirty="0" smtClean="0">
                <a:solidFill>
                  <a:srgbClr val="008000"/>
                </a:solidFill>
                <a:latin typeface="Consolas" panose="020B0609020204030204" pitchFamily="49" charset="0"/>
              </a:rPr>
              <a:t>//runs always, does clean up or release resources </a:t>
            </a:r>
          </a:p>
          <a:p>
            <a:r>
              <a:rPr lang="en-US" sz="1200" dirty="0" smtClean="0">
                <a:solidFill>
                  <a:srgbClr val="7030A0"/>
                </a:solidFill>
                <a:latin typeface="Consolas" panose="020B0609020204030204" pitchFamily="49" charset="0"/>
              </a:rPr>
              <a:t>  let </a:t>
            </a:r>
            <a:r>
              <a:rPr lang="en-US" sz="1200" dirty="0" err="1">
                <a:solidFill>
                  <a:srgbClr val="7030A0"/>
                </a:solidFill>
                <a:latin typeface="Consolas" panose="020B0609020204030204" pitchFamily="49" charset="0"/>
              </a:rPr>
              <a:t>JSONData</a:t>
            </a:r>
            <a:r>
              <a:rPr lang="en-US" sz="1200" dirty="0">
                <a:solidFill>
                  <a:srgbClr val="7030A0"/>
                </a:solidFill>
                <a:latin typeface="Consolas" panose="020B0609020204030204" pitchFamily="49" charset="0"/>
              </a:rPr>
              <a:t> = {} </a:t>
            </a:r>
          </a:p>
          <a:p>
            <a:r>
              <a:rPr lang="en-US" sz="1200" dirty="0" smtClean="0">
                <a:solidFill>
                  <a:srgbClr val="7030A0"/>
                </a:solidFill>
                <a:latin typeface="Consolas" panose="020B0609020204030204" pitchFamily="49" charset="0"/>
              </a:rPr>
              <a:t>  console.</a:t>
            </a:r>
            <a:r>
              <a:rPr lang="en-US" sz="1200" b="1" dirty="0" smtClean="0">
                <a:solidFill>
                  <a:srgbClr val="7030A0"/>
                </a:solidFill>
                <a:latin typeface="Consolas" panose="020B0609020204030204" pitchFamily="49" charset="0"/>
              </a:rPr>
              <a:t>log</a:t>
            </a:r>
            <a:r>
              <a:rPr lang="en-US" sz="1200" dirty="0" smtClean="0">
                <a:solidFill>
                  <a:srgbClr val="7030A0"/>
                </a:solidFill>
                <a:latin typeface="Consolas" panose="020B0609020204030204" pitchFamily="49" charset="0"/>
              </a:rPr>
              <a:t>(</a:t>
            </a:r>
            <a:r>
              <a:rPr lang="en-US" sz="1200" dirty="0" err="1" smtClean="0">
                <a:solidFill>
                  <a:srgbClr val="7030A0"/>
                </a:solidFill>
                <a:latin typeface="Consolas" panose="020B0609020204030204" pitchFamily="49" charset="0"/>
              </a:rPr>
              <a:t>JSONData</a:t>
            </a:r>
            <a:r>
              <a:rPr lang="en-US" sz="1200" dirty="0">
                <a:solidFill>
                  <a:srgbClr val="7030A0"/>
                </a:solidFill>
                <a:latin typeface="Consolas" panose="020B0609020204030204" pitchFamily="49" charset="0"/>
              </a:rPr>
              <a:t>)</a:t>
            </a:r>
          </a:p>
          <a:p>
            <a:r>
              <a:rPr lang="en-US" sz="1200" dirty="0" smtClean="0">
                <a:solidFill>
                  <a:srgbClr val="000000"/>
                </a:solidFill>
                <a:latin typeface="Consolas" panose="020B0609020204030204" pitchFamily="49" charset="0"/>
              </a:rPr>
              <a:t>}</a:t>
            </a:r>
            <a:endParaRPr lang="en-US" sz="1200" dirty="0"/>
          </a:p>
        </p:txBody>
      </p:sp>
      <p:pic>
        <p:nvPicPr>
          <p:cNvPr id="5" name="Picture 4"/>
          <p:cNvPicPr>
            <a:picLocks noChangeAspect="1"/>
          </p:cNvPicPr>
          <p:nvPr/>
        </p:nvPicPr>
        <p:blipFill>
          <a:blip r:embed="rId4"/>
          <a:stretch>
            <a:fillRect/>
          </a:stretch>
        </p:blipFill>
        <p:spPr>
          <a:xfrm>
            <a:off x="450170" y="5008579"/>
            <a:ext cx="4019757" cy="1339919"/>
          </a:xfrm>
          <a:prstGeom prst="rect">
            <a:avLst/>
          </a:prstGeom>
        </p:spPr>
      </p:pic>
      <p:sp>
        <p:nvSpPr>
          <p:cNvPr id="22" name="Rectangle 21"/>
          <p:cNvSpPr/>
          <p:nvPr/>
        </p:nvSpPr>
        <p:spPr>
          <a:xfrm>
            <a:off x="4995533" y="6478878"/>
            <a:ext cx="6581361" cy="307777"/>
          </a:xfrm>
          <a:prstGeom prst="rect">
            <a:avLst/>
          </a:prstGeom>
        </p:spPr>
        <p:txBody>
          <a:bodyPr wrap="square">
            <a:spAutoFit/>
          </a:bodyPr>
          <a:lstStyle/>
          <a:p>
            <a:r>
              <a:rPr lang="en-US" sz="1400" b="1" dirty="0">
                <a:solidFill>
                  <a:srgbClr val="C00000"/>
                </a:solidFill>
                <a:latin typeface="PSTTCommons-Bold"/>
              </a:rPr>
              <a:t>Always throw an </a:t>
            </a:r>
            <a:r>
              <a:rPr lang="en-US" sz="1400" b="1" dirty="0" smtClean="0">
                <a:solidFill>
                  <a:srgbClr val="C00000"/>
                </a:solidFill>
                <a:latin typeface="PSTTCommons-Bold"/>
              </a:rPr>
              <a:t>actual error </a:t>
            </a:r>
            <a:r>
              <a:rPr lang="en-US" sz="1400" b="1" dirty="0">
                <a:solidFill>
                  <a:srgbClr val="C00000"/>
                </a:solidFill>
                <a:latin typeface="PSTTCommons-Bold"/>
              </a:rPr>
              <a:t>object to </a:t>
            </a:r>
            <a:r>
              <a:rPr lang="en-US" sz="1400" b="1" dirty="0" smtClean="0">
                <a:solidFill>
                  <a:srgbClr val="C00000"/>
                </a:solidFill>
                <a:latin typeface="PSTTCommons-Bold"/>
              </a:rPr>
              <a:t>preserve information about the </a:t>
            </a:r>
            <a:r>
              <a:rPr lang="en-US" sz="1400" b="1" dirty="0">
                <a:solidFill>
                  <a:srgbClr val="C00000"/>
                </a:solidFill>
                <a:latin typeface="PSTTCommons-Bold"/>
              </a:rPr>
              <a:t>error</a:t>
            </a:r>
            <a:endParaRPr lang="en-US" sz="1400" dirty="0">
              <a:solidFill>
                <a:srgbClr val="C00000"/>
              </a:solidFill>
            </a:endParaRPr>
          </a:p>
        </p:txBody>
      </p:sp>
      <p:pic>
        <p:nvPicPr>
          <p:cNvPr id="7" name="Picture 6"/>
          <p:cNvPicPr>
            <a:picLocks noChangeAspect="1"/>
          </p:cNvPicPr>
          <p:nvPr/>
        </p:nvPicPr>
        <p:blipFill>
          <a:blip r:embed="rId5"/>
          <a:stretch>
            <a:fillRect/>
          </a:stretch>
        </p:blipFill>
        <p:spPr>
          <a:xfrm>
            <a:off x="5054373" y="2386157"/>
            <a:ext cx="1051211" cy="530709"/>
          </a:xfrm>
          <a:prstGeom prst="rect">
            <a:avLst/>
          </a:prstGeom>
          <a:ln>
            <a:solidFill>
              <a:srgbClr val="C00000"/>
            </a:solidFill>
          </a:ln>
        </p:spPr>
      </p:pic>
      <p:sp>
        <p:nvSpPr>
          <p:cNvPr id="9" name="Rectangle 4"/>
          <p:cNvSpPr>
            <a:spLocks noChangeArrowheads="1"/>
          </p:cNvSpPr>
          <p:nvPr/>
        </p:nvSpPr>
        <p:spPr bwMode="auto">
          <a:xfrm>
            <a:off x="5054373" y="2931911"/>
            <a:ext cx="1320050" cy="769441"/>
          </a:xfrm>
          <a:prstGeom prst="rect">
            <a:avLst/>
          </a:prstGeom>
          <a:noFill/>
          <a:ln w="9525">
            <a:solidFill>
              <a:schemeClr val="accent1">
                <a:lumMod val="20000"/>
                <a:lumOff val="8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solidFill>
                  <a:srgbClr val="0C0D0E"/>
                </a:solidFill>
                <a:latin typeface="-apple-system"/>
              </a:rPr>
              <a:t>O</a:t>
            </a:r>
            <a:r>
              <a:rPr kumimoji="0" lang="en-US" altLang="en-US" sz="1000" b="0" i="0" u="none" strike="noStrike" cap="none" normalizeH="0" baseline="0" dirty="0" smtClean="0">
                <a:ln>
                  <a:noFill/>
                </a:ln>
                <a:solidFill>
                  <a:srgbClr val="0C0D0E"/>
                </a:solidFill>
                <a:effectLst/>
                <a:latin typeface="-apple-system"/>
              </a:rPr>
              <a:t>nly standard field Error object has is the </a:t>
            </a:r>
            <a:r>
              <a:rPr kumimoji="0" lang="en-US" altLang="en-US" sz="1000" b="1" i="0" u="none" strike="noStrike" cap="none" normalizeH="0" baseline="0" dirty="0" smtClean="0">
                <a:ln>
                  <a:noFill/>
                </a:ln>
                <a:solidFill>
                  <a:srgbClr val="0C0D0E"/>
                </a:solidFill>
                <a:effectLst/>
                <a:latin typeface="var(--ff-mono)"/>
              </a:rPr>
              <a:t>message</a:t>
            </a:r>
            <a:r>
              <a:rPr kumimoji="0" lang="en-US" altLang="en-US" sz="1000" b="0" i="0" u="none" strike="noStrike" cap="none" normalizeH="0" baseline="0" dirty="0" smtClean="0">
                <a:ln>
                  <a:noFill/>
                </a:ln>
                <a:solidFill>
                  <a:srgbClr val="0C0D0E"/>
                </a:solidFill>
                <a:effectLst/>
                <a:latin typeface="-apple-system"/>
              </a:rPr>
              <a:t> property.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smtClean="0">
                <a:solidFill>
                  <a:srgbClr val="0C0D0E"/>
                </a:solidFill>
                <a:latin typeface="-apple-system"/>
              </a:rPr>
              <a:t>Others platform dependent.</a:t>
            </a:r>
            <a:r>
              <a:rPr kumimoji="0" lang="en-US" altLang="en-US" sz="1000" b="0" i="0" u="none" strike="noStrike" cap="none" normalizeH="0" baseline="0" dirty="0" smtClean="0">
                <a:ln>
                  <a:noFill/>
                </a:ln>
                <a:solidFill>
                  <a:schemeClr val="tx1"/>
                </a:solidFill>
                <a:effectLst/>
              </a:rPr>
              <a:t> </a:t>
            </a:r>
          </a:p>
        </p:txBody>
      </p:sp>
    </p:spTree>
    <p:extLst>
      <p:ext uri="{BB962C8B-B14F-4D97-AF65-F5344CB8AC3E}">
        <p14:creationId xmlns:p14="http://schemas.microsoft.com/office/powerpoint/2010/main" val="744189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0058" y="207863"/>
            <a:ext cx="3364575" cy="400110"/>
          </a:xfrm>
          <a:prstGeom prst="rect">
            <a:avLst/>
          </a:prstGeom>
        </p:spPr>
        <p:txBody>
          <a:bodyPr wrap="none">
            <a:spAutoFit/>
          </a:bodyPr>
          <a:lstStyle/>
          <a:p>
            <a:r>
              <a:rPr lang="en-US" sz="2000" b="1" dirty="0" smtClean="0"/>
              <a:t>Error Handling Best Practices  </a:t>
            </a:r>
            <a:endParaRPr lang="en-US" sz="2000" dirty="0"/>
          </a:p>
        </p:txBody>
      </p:sp>
      <p:sp>
        <p:nvSpPr>
          <p:cNvPr id="2" name="Rectangle 1"/>
          <p:cNvSpPr/>
          <p:nvPr/>
        </p:nvSpPr>
        <p:spPr>
          <a:xfrm>
            <a:off x="160058" y="846312"/>
            <a:ext cx="5134956" cy="646331"/>
          </a:xfrm>
          <a:prstGeom prst="rect">
            <a:avLst/>
          </a:prstGeom>
        </p:spPr>
        <p:txBody>
          <a:bodyPr wrap="square">
            <a:spAutoFit/>
          </a:bodyPr>
          <a:lstStyle/>
          <a:p>
            <a:r>
              <a:rPr lang="en-US" dirty="0" smtClean="0"/>
              <a:t>Sometimes</a:t>
            </a:r>
            <a:r>
              <a:rPr lang="en-US" dirty="0"/>
              <a:t>, a part of your code can be known to have the potential to throw </a:t>
            </a:r>
            <a:r>
              <a:rPr lang="en-US" b="1" dirty="0"/>
              <a:t>multiple types of errors</a:t>
            </a:r>
            <a:r>
              <a:rPr lang="en-US" dirty="0"/>
              <a:t>. </a:t>
            </a:r>
            <a:endParaRPr lang="en-US" sz="1600" dirty="0"/>
          </a:p>
        </p:txBody>
      </p:sp>
      <p:sp>
        <p:nvSpPr>
          <p:cNvPr id="3" name="Rectangle 2"/>
          <p:cNvSpPr/>
          <p:nvPr/>
        </p:nvSpPr>
        <p:spPr>
          <a:xfrm>
            <a:off x="6322723" y="966254"/>
            <a:ext cx="5519204" cy="1785104"/>
          </a:xfrm>
          <a:prstGeom prst="rect">
            <a:avLst/>
          </a:prstGeom>
          <a:ln>
            <a:solidFill>
              <a:srgbClr val="002060"/>
            </a:solidFill>
          </a:ln>
        </p:spPr>
        <p:txBody>
          <a:bodyPr wrap="square">
            <a:spAutoFit/>
          </a:bodyPr>
          <a:lstStyle/>
          <a:p>
            <a:r>
              <a:rPr lang="en-US" sz="1000" dirty="0">
                <a:solidFill>
                  <a:srgbClr val="AF00DB"/>
                </a:solidFill>
                <a:latin typeface="Fira Code" pitchFamily="1" charset="0"/>
              </a:rPr>
              <a:t>try</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err="1">
                <a:solidFill>
                  <a:srgbClr val="001080"/>
                </a:solidFill>
                <a:latin typeface="Fira Code" pitchFamily="1" charset="0"/>
              </a:rPr>
              <a:t>JSON</a:t>
            </a:r>
            <a:r>
              <a:rPr lang="en-US" sz="1000" dirty="0" err="1">
                <a:solidFill>
                  <a:srgbClr val="000000"/>
                </a:solidFill>
                <a:latin typeface="Fira Code" pitchFamily="1" charset="0"/>
              </a:rPr>
              <a:t>.</a:t>
            </a:r>
            <a:r>
              <a:rPr lang="en-US" sz="1000" dirty="0" err="1">
                <a:solidFill>
                  <a:srgbClr val="795E26"/>
                </a:solidFill>
                <a:latin typeface="Fira Code" pitchFamily="1" charset="0"/>
              </a:rPr>
              <a:t>parse</a:t>
            </a:r>
            <a:r>
              <a:rPr lang="en-US" sz="1000" dirty="0">
                <a:solidFill>
                  <a:srgbClr val="000000"/>
                </a:solidFill>
                <a:latin typeface="Fira Code" pitchFamily="1" charset="0"/>
              </a:rPr>
              <a:t>(</a:t>
            </a:r>
            <a:r>
              <a:rPr lang="en-US" sz="1000" dirty="0">
                <a:solidFill>
                  <a:srgbClr val="A31515"/>
                </a:solidFill>
                <a:latin typeface="Fira Code" pitchFamily="1" charset="0"/>
              </a:rPr>
              <a:t>"OK"</a:t>
            </a:r>
            <a:r>
              <a:rPr lang="en-US" sz="1000" dirty="0">
                <a:solidFill>
                  <a:srgbClr val="000000"/>
                </a:solidFill>
                <a:latin typeface="Fira Code" pitchFamily="1" charset="0"/>
              </a:rPr>
              <a:t>)</a:t>
            </a:r>
          </a:p>
          <a:p>
            <a:r>
              <a:rPr lang="en-US" sz="1000" dirty="0">
                <a:solidFill>
                  <a:srgbClr val="000000"/>
                </a:solidFill>
                <a:latin typeface="Fira Code" pitchFamily="1" charset="0"/>
              </a:rPr>
              <a:t>    } </a:t>
            </a:r>
            <a:r>
              <a:rPr lang="en-US" sz="1000" dirty="0">
                <a:solidFill>
                  <a:srgbClr val="AF00DB"/>
                </a:solidFill>
                <a:latin typeface="Fira Code" pitchFamily="1" charset="0"/>
              </a:rPr>
              <a:t>catch</a:t>
            </a:r>
            <a:r>
              <a:rPr lang="en-US" sz="1000" dirty="0">
                <a:solidFill>
                  <a:srgbClr val="000000"/>
                </a:solidFill>
                <a:latin typeface="Fira Code" pitchFamily="1" charset="0"/>
              </a:rPr>
              <a:t>(</a:t>
            </a:r>
            <a:r>
              <a:rPr lang="en-US" sz="1000" dirty="0">
                <a:solidFill>
                  <a:srgbClr val="001080"/>
                </a:solidFill>
                <a:latin typeface="Fira Code" pitchFamily="1" charset="0"/>
              </a:rPr>
              <a:t>e</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a:solidFill>
                  <a:srgbClr val="AF00DB"/>
                </a:solidFill>
                <a:latin typeface="Fira Code" pitchFamily="1" charset="0"/>
              </a:rPr>
              <a:t>if</a:t>
            </a:r>
            <a:r>
              <a:rPr lang="en-US" sz="1000" dirty="0">
                <a:solidFill>
                  <a:srgbClr val="000000"/>
                </a:solidFill>
                <a:latin typeface="Fira Code" pitchFamily="1" charset="0"/>
              </a:rPr>
              <a:t>(</a:t>
            </a:r>
            <a:r>
              <a:rPr lang="en-US" sz="1000" dirty="0">
                <a:solidFill>
                  <a:srgbClr val="001080"/>
                </a:solidFill>
                <a:latin typeface="Fira Code" pitchFamily="1" charset="0"/>
              </a:rPr>
              <a:t>e</a:t>
            </a:r>
            <a:r>
              <a:rPr lang="en-US" sz="1000" dirty="0">
                <a:solidFill>
                  <a:srgbClr val="000000"/>
                </a:solidFill>
                <a:latin typeface="Fira Code" pitchFamily="1" charset="0"/>
              </a:rPr>
              <a:t> </a:t>
            </a:r>
            <a:r>
              <a:rPr lang="en-US" sz="1000" dirty="0" err="1">
                <a:solidFill>
                  <a:srgbClr val="0000FF"/>
                </a:solidFill>
                <a:latin typeface="Fira Code" pitchFamily="1" charset="0"/>
              </a:rPr>
              <a:t>instanceof</a:t>
            </a:r>
            <a:r>
              <a:rPr lang="en-US" sz="1000" dirty="0">
                <a:solidFill>
                  <a:srgbClr val="000000"/>
                </a:solidFill>
                <a:latin typeface="Fira Code" pitchFamily="1" charset="0"/>
              </a:rPr>
              <a:t> </a:t>
            </a:r>
            <a:r>
              <a:rPr lang="en-US" sz="1000" b="1" dirty="0" err="1">
                <a:solidFill>
                  <a:srgbClr val="267F99"/>
                </a:solidFill>
                <a:latin typeface="Fira Code" pitchFamily="1" charset="0"/>
              </a:rPr>
              <a:t>SyntaxError</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err="1" smtClean="0">
                <a:solidFill>
                  <a:srgbClr val="001080"/>
                </a:solidFill>
                <a:latin typeface="Fira Code" pitchFamily="1" charset="0"/>
              </a:rPr>
              <a:t>console</a:t>
            </a:r>
            <a:r>
              <a:rPr lang="en-US" sz="1000" dirty="0" err="1" smtClean="0">
                <a:solidFill>
                  <a:srgbClr val="000000"/>
                </a:solidFill>
                <a:latin typeface="Fira Code" pitchFamily="1" charset="0"/>
              </a:rPr>
              <a:t>.</a:t>
            </a:r>
            <a:r>
              <a:rPr lang="en-US" sz="1000" dirty="0" err="1" smtClean="0">
                <a:solidFill>
                  <a:srgbClr val="795E26"/>
                </a:solidFill>
                <a:latin typeface="Fira Code" pitchFamily="1" charset="0"/>
              </a:rPr>
              <a:t>error</a:t>
            </a:r>
            <a:r>
              <a:rPr lang="en-US" sz="1000" dirty="0" smtClean="0">
                <a:solidFill>
                  <a:srgbClr val="000000"/>
                </a:solidFill>
                <a:latin typeface="Fira Code" pitchFamily="1" charset="0"/>
              </a:rPr>
              <a:t>(</a:t>
            </a:r>
            <a:r>
              <a:rPr lang="en-US" sz="1000" dirty="0" smtClean="0">
                <a:solidFill>
                  <a:srgbClr val="A31515"/>
                </a:solidFill>
                <a:latin typeface="Fira Code" pitchFamily="1" charset="0"/>
              </a:rPr>
              <a:t>"</a:t>
            </a:r>
            <a:r>
              <a:rPr lang="en-US" sz="1000" dirty="0">
                <a:solidFill>
                  <a:srgbClr val="A31515"/>
                </a:solidFill>
                <a:latin typeface="Fira Code" pitchFamily="1" charset="0"/>
              </a:rPr>
              <a:t>This is a syntax error"</a:t>
            </a:r>
            <a:r>
              <a:rPr lang="en-US" sz="1000" dirty="0">
                <a:solidFill>
                  <a:srgbClr val="000000"/>
                </a:solidFill>
                <a:latin typeface="Fira Code" pitchFamily="1" charset="0"/>
              </a:rPr>
              <a:t>);</a:t>
            </a:r>
          </a:p>
          <a:p>
            <a:r>
              <a:rPr lang="en-US" sz="1000" dirty="0">
                <a:solidFill>
                  <a:srgbClr val="000000"/>
                </a:solidFill>
                <a:latin typeface="Fira Code" pitchFamily="1" charset="0"/>
              </a:rPr>
              <a:t>    } </a:t>
            </a:r>
            <a:r>
              <a:rPr lang="en-US" sz="1000" dirty="0">
                <a:solidFill>
                  <a:srgbClr val="AF00DB"/>
                </a:solidFill>
                <a:latin typeface="Fira Code" pitchFamily="1" charset="0"/>
              </a:rPr>
              <a:t>else</a:t>
            </a:r>
            <a:r>
              <a:rPr lang="en-US" sz="1000" dirty="0">
                <a:solidFill>
                  <a:srgbClr val="000000"/>
                </a:solidFill>
                <a:latin typeface="Fira Code" pitchFamily="1" charset="0"/>
              </a:rPr>
              <a:t> </a:t>
            </a:r>
            <a:r>
              <a:rPr lang="en-US" sz="1000" dirty="0">
                <a:solidFill>
                  <a:srgbClr val="AF00DB"/>
                </a:solidFill>
                <a:latin typeface="Fira Code" pitchFamily="1" charset="0"/>
              </a:rPr>
              <a:t>if</a:t>
            </a:r>
            <a:r>
              <a:rPr lang="en-US" sz="1000" dirty="0">
                <a:solidFill>
                  <a:srgbClr val="000000"/>
                </a:solidFill>
                <a:latin typeface="Fira Code" pitchFamily="1" charset="0"/>
              </a:rPr>
              <a:t>(</a:t>
            </a:r>
            <a:r>
              <a:rPr lang="en-US" sz="1000" dirty="0">
                <a:solidFill>
                  <a:srgbClr val="001080"/>
                </a:solidFill>
                <a:latin typeface="Fira Code" pitchFamily="1" charset="0"/>
              </a:rPr>
              <a:t>e</a:t>
            </a:r>
            <a:r>
              <a:rPr lang="en-US" sz="1000" dirty="0">
                <a:solidFill>
                  <a:srgbClr val="000000"/>
                </a:solidFill>
                <a:latin typeface="Fira Code" pitchFamily="1" charset="0"/>
              </a:rPr>
              <a:t> </a:t>
            </a:r>
            <a:r>
              <a:rPr lang="en-US" sz="1000" dirty="0" err="1">
                <a:solidFill>
                  <a:srgbClr val="0000FF"/>
                </a:solidFill>
                <a:latin typeface="Fira Code" pitchFamily="1" charset="0"/>
              </a:rPr>
              <a:t>instanceof</a:t>
            </a:r>
            <a:r>
              <a:rPr lang="en-US" sz="1000" dirty="0">
                <a:solidFill>
                  <a:srgbClr val="000000"/>
                </a:solidFill>
                <a:latin typeface="Fira Code" pitchFamily="1" charset="0"/>
              </a:rPr>
              <a:t> </a:t>
            </a:r>
            <a:r>
              <a:rPr lang="en-US" sz="1000" b="1" dirty="0" err="1">
                <a:solidFill>
                  <a:srgbClr val="267F99"/>
                </a:solidFill>
                <a:latin typeface="Fira Code" pitchFamily="1" charset="0"/>
              </a:rPr>
              <a:t>EvalError</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err="1" smtClean="0">
                <a:solidFill>
                  <a:srgbClr val="001080"/>
                </a:solidFill>
                <a:latin typeface="Fira Code" pitchFamily="1" charset="0"/>
              </a:rPr>
              <a:t>console</a:t>
            </a:r>
            <a:r>
              <a:rPr lang="en-US" sz="1000" dirty="0" err="1" smtClean="0">
                <a:solidFill>
                  <a:srgbClr val="000000"/>
                </a:solidFill>
                <a:latin typeface="Fira Code" pitchFamily="1" charset="0"/>
              </a:rPr>
              <a:t>.</a:t>
            </a:r>
            <a:r>
              <a:rPr lang="en-US" sz="1000" dirty="0" err="1" smtClean="0">
                <a:solidFill>
                  <a:srgbClr val="795E26"/>
                </a:solidFill>
                <a:latin typeface="Fira Code" pitchFamily="1" charset="0"/>
              </a:rPr>
              <a:t>error</a:t>
            </a:r>
            <a:r>
              <a:rPr lang="en-US" sz="1000" dirty="0" smtClean="0">
                <a:solidFill>
                  <a:srgbClr val="000000"/>
                </a:solidFill>
                <a:latin typeface="Fira Code" pitchFamily="1" charset="0"/>
              </a:rPr>
              <a:t>(</a:t>
            </a:r>
            <a:r>
              <a:rPr lang="en-US" sz="1000" dirty="0" smtClean="0">
                <a:solidFill>
                  <a:srgbClr val="A31515"/>
                </a:solidFill>
                <a:latin typeface="Fira Code" pitchFamily="1" charset="0"/>
              </a:rPr>
              <a:t>"</a:t>
            </a:r>
            <a:r>
              <a:rPr lang="en-US" sz="1000" dirty="0">
                <a:solidFill>
                  <a:srgbClr val="A31515"/>
                </a:solidFill>
                <a:latin typeface="Fira Code" pitchFamily="1" charset="0"/>
              </a:rPr>
              <a:t>This was an error with the </a:t>
            </a:r>
            <a:r>
              <a:rPr lang="en-US" sz="1000" dirty="0" err="1">
                <a:solidFill>
                  <a:srgbClr val="A31515"/>
                </a:solidFill>
                <a:latin typeface="Fira Code" pitchFamily="1" charset="0"/>
              </a:rPr>
              <a:t>eval</a:t>
            </a:r>
            <a:r>
              <a:rPr lang="en-US" sz="1000" dirty="0">
                <a:solidFill>
                  <a:srgbClr val="A31515"/>
                </a:solidFill>
                <a:latin typeface="Fira Code" pitchFamily="1" charset="0"/>
              </a:rPr>
              <a:t>() function"</a:t>
            </a:r>
            <a:r>
              <a:rPr lang="en-US" sz="1000" dirty="0">
                <a:solidFill>
                  <a:srgbClr val="000000"/>
                </a:solidFill>
                <a:latin typeface="Fira Code" pitchFamily="1" charset="0"/>
              </a:rPr>
              <a:t>);</a:t>
            </a:r>
          </a:p>
          <a:p>
            <a:r>
              <a:rPr lang="en-US" sz="1000" dirty="0" smtClean="0">
                <a:solidFill>
                  <a:srgbClr val="000000"/>
                </a:solidFill>
                <a:latin typeface="Fira Code" pitchFamily="1" charset="0"/>
              </a:rPr>
              <a:t>    } </a:t>
            </a:r>
            <a:r>
              <a:rPr lang="en-US" sz="1000" dirty="0" smtClean="0">
                <a:solidFill>
                  <a:srgbClr val="AF00DB"/>
                </a:solidFill>
                <a:latin typeface="Fira Code" pitchFamily="1" charset="0"/>
              </a:rPr>
              <a:t>else</a:t>
            </a:r>
            <a:r>
              <a:rPr lang="en-US" sz="1000" dirty="0" smtClean="0">
                <a:solidFill>
                  <a:srgbClr val="000000"/>
                </a:solidFill>
                <a:latin typeface="Fira Code" pitchFamily="1" charset="0"/>
              </a:rPr>
              <a:t> </a:t>
            </a:r>
            <a:r>
              <a:rPr lang="en-US" sz="1000" dirty="0" smtClean="0">
                <a:solidFill>
                  <a:srgbClr val="AF00DB"/>
                </a:solidFill>
                <a:latin typeface="Fira Code" pitchFamily="1" charset="0"/>
              </a:rPr>
              <a:t>if</a:t>
            </a:r>
            <a:r>
              <a:rPr lang="en-US" sz="1000" dirty="0" smtClean="0">
                <a:solidFill>
                  <a:srgbClr val="000000"/>
                </a:solidFill>
                <a:latin typeface="Fira Code" pitchFamily="1" charset="0"/>
              </a:rPr>
              <a:t>(</a:t>
            </a:r>
            <a:r>
              <a:rPr lang="en-US" sz="1000" dirty="0" smtClean="0">
                <a:solidFill>
                  <a:srgbClr val="001080"/>
                </a:solidFill>
                <a:latin typeface="Fira Code" pitchFamily="1" charset="0"/>
              </a:rPr>
              <a:t>e</a:t>
            </a:r>
            <a:r>
              <a:rPr lang="en-US" sz="1000" dirty="0" smtClean="0">
                <a:solidFill>
                  <a:srgbClr val="000000"/>
                </a:solidFill>
                <a:latin typeface="Fira Code" pitchFamily="1" charset="0"/>
              </a:rPr>
              <a:t> </a:t>
            </a:r>
            <a:r>
              <a:rPr lang="en-US" sz="1000" dirty="0" err="1" smtClean="0">
                <a:solidFill>
                  <a:srgbClr val="0000FF"/>
                </a:solidFill>
                <a:latin typeface="Fira Code" pitchFamily="1" charset="0"/>
              </a:rPr>
              <a:t>instanceof</a:t>
            </a:r>
            <a:r>
              <a:rPr lang="en-US" sz="1000" dirty="0" smtClean="0">
                <a:solidFill>
                  <a:srgbClr val="000000"/>
                </a:solidFill>
                <a:latin typeface="Fira Code" pitchFamily="1" charset="0"/>
              </a:rPr>
              <a:t> </a:t>
            </a:r>
            <a:r>
              <a:rPr lang="en-US" sz="1000" b="1" dirty="0" err="1" smtClean="0">
                <a:solidFill>
                  <a:srgbClr val="267F99"/>
                </a:solidFill>
                <a:latin typeface="Fira Code" pitchFamily="1" charset="0"/>
              </a:rPr>
              <a:t>MyAppError</a:t>
            </a:r>
            <a:r>
              <a:rPr lang="en-US" sz="1000" dirty="0" smtClean="0">
                <a:solidFill>
                  <a:srgbClr val="000000"/>
                </a:solidFill>
                <a:latin typeface="Fira Code" pitchFamily="1" charset="0"/>
              </a:rPr>
              <a:t>) { //my error, extends Error</a:t>
            </a:r>
          </a:p>
          <a:p>
            <a:r>
              <a:rPr lang="en-US" sz="1000" dirty="0">
                <a:solidFill>
                  <a:srgbClr val="000000"/>
                </a:solidFill>
                <a:latin typeface="Fira Code" pitchFamily="1" charset="0"/>
              </a:rPr>
              <a:t>       </a:t>
            </a:r>
            <a:r>
              <a:rPr lang="en-US" sz="1000" dirty="0" err="1" smtClean="0">
                <a:solidFill>
                  <a:srgbClr val="001080"/>
                </a:solidFill>
                <a:latin typeface="Fira Code" pitchFamily="1" charset="0"/>
              </a:rPr>
              <a:t>console</a:t>
            </a:r>
            <a:r>
              <a:rPr lang="en-US" sz="1000" dirty="0" err="1" smtClean="0">
                <a:solidFill>
                  <a:srgbClr val="000000"/>
                </a:solidFill>
                <a:latin typeface="Fira Code" pitchFamily="1" charset="0"/>
              </a:rPr>
              <a:t>.</a:t>
            </a:r>
            <a:r>
              <a:rPr lang="en-US" sz="1000" dirty="0" err="1" smtClean="0">
                <a:solidFill>
                  <a:srgbClr val="795E26"/>
                </a:solidFill>
                <a:latin typeface="Fira Code" pitchFamily="1" charset="0"/>
              </a:rPr>
              <a:t>error</a:t>
            </a:r>
            <a:r>
              <a:rPr lang="en-US" sz="1000" dirty="0" smtClean="0">
                <a:solidFill>
                  <a:srgbClr val="000000"/>
                </a:solidFill>
                <a:latin typeface="Fira Code" pitchFamily="1" charset="0"/>
              </a:rPr>
              <a:t>(</a:t>
            </a:r>
            <a:r>
              <a:rPr lang="en-US" sz="1000" dirty="0" smtClean="0">
                <a:solidFill>
                  <a:srgbClr val="A31515"/>
                </a:solidFill>
                <a:latin typeface="Fira Code" pitchFamily="1" charset="0"/>
              </a:rPr>
              <a:t>“Application error: “+e</a:t>
            </a:r>
            <a:r>
              <a:rPr lang="en-US" sz="1000" dirty="0" smtClean="0">
                <a:solidFill>
                  <a:srgbClr val="000000"/>
                </a:solidFill>
                <a:latin typeface="Fira Code" pitchFamily="1" charset="0"/>
              </a:rPr>
              <a:t>);</a:t>
            </a:r>
            <a:endParaRPr lang="en-US" sz="1000" dirty="0">
              <a:solidFill>
                <a:srgbClr val="000000"/>
              </a:solidFill>
              <a:latin typeface="Fira Code" pitchFamily="1" charset="0"/>
            </a:endParaRPr>
          </a:p>
          <a:p>
            <a:r>
              <a:rPr lang="en-US" sz="1000" dirty="0">
                <a:solidFill>
                  <a:srgbClr val="000000"/>
                </a:solidFill>
                <a:latin typeface="Fira Code" pitchFamily="1" charset="0"/>
              </a:rPr>
              <a:t>    </a:t>
            </a:r>
            <a:r>
              <a:rPr lang="en-US" sz="1000" dirty="0" smtClean="0">
                <a:solidFill>
                  <a:srgbClr val="000000"/>
                </a:solidFill>
                <a:latin typeface="Fira Code" pitchFamily="1" charset="0"/>
              </a:rPr>
              <a:t>} </a:t>
            </a:r>
            <a:endParaRPr lang="en-US" sz="1000" dirty="0">
              <a:solidFill>
                <a:srgbClr val="000000"/>
              </a:solidFill>
              <a:latin typeface="Fira Code" pitchFamily="1" charset="0"/>
            </a:endParaRPr>
          </a:p>
          <a:p>
            <a:r>
              <a:rPr lang="en-US" sz="1000" dirty="0">
                <a:solidFill>
                  <a:srgbClr val="000000"/>
                </a:solidFill>
                <a:latin typeface="Fira Code" pitchFamily="1" charset="0"/>
              </a:rPr>
              <a:t>}</a:t>
            </a:r>
            <a:endParaRPr lang="en-US" sz="1000" b="0" dirty="0">
              <a:solidFill>
                <a:srgbClr val="000000"/>
              </a:solidFill>
              <a:effectLst/>
              <a:latin typeface="Fira Code" pitchFamily="1" charset="0"/>
            </a:endParaRPr>
          </a:p>
        </p:txBody>
      </p:sp>
      <p:sp>
        <p:nvSpPr>
          <p:cNvPr id="6" name="TextBox 5"/>
          <p:cNvSpPr txBox="1"/>
          <p:nvPr/>
        </p:nvSpPr>
        <p:spPr>
          <a:xfrm>
            <a:off x="8971021" y="139244"/>
            <a:ext cx="2626033" cy="369332"/>
          </a:xfrm>
          <a:prstGeom prst="rect">
            <a:avLst/>
          </a:prstGeom>
          <a:noFill/>
        </p:spPr>
        <p:txBody>
          <a:bodyPr wrap="square" rtlCol="0">
            <a:spAutoFit/>
          </a:bodyPr>
          <a:lstStyle/>
          <a:p>
            <a:r>
              <a:rPr lang="en-US" dirty="0" smtClean="0">
                <a:solidFill>
                  <a:srgbClr val="00B050"/>
                </a:solidFill>
              </a:rPr>
              <a:t>In Java ‘I’ (multi) is used</a:t>
            </a:r>
            <a:endParaRPr lang="en-US" dirty="0">
              <a:solidFill>
                <a:srgbClr val="00B050"/>
              </a:solidFill>
            </a:endParaRPr>
          </a:p>
        </p:txBody>
      </p:sp>
      <p:sp>
        <p:nvSpPr>
          <p:cNvPr id="11" name="Rectangle 10"/>
          <p:cNvSpPr/>
          <p:nvPr/>
        </p:nvSpPr>
        <p:spPr>
          <a:xfrm>
            <a:off x="160058" y="1578754"/>
            <a:ext cx="2011641" cy="276999"/>
          </a:xfrm>
          <a:prstGeom prst="rect">
            <a:avLst/>
          </a:prstGeom>
        </p:spPr>
        <p:txBody>
          <a:bodyPr wrap="none">
            <a:spAutoFit/>
          </a:bodyPr>
          <a:lstStyle/>
          <a:p>
            <a:r>
              <a:rPr lang="en-US" sz="1200" b="1" dirty="0">
                <a:solidFill>
                  <a:srgbClr val="FF1675"/>
                </a:solidFill>
                <a:latin typeface="PSTTCommons-DemiBold"/>
              </a:rPr>
              <a:t>Use Try / Catch Correctly</a:t>
            </a:r>
          </a:p>
        </p:txBody>
      </p:sp>
      <p:sp>
        <p:nvSpPr>
          <p:cNvPr id="14" name="Rectangle 13"/>
          <p:cNvSpPr/>
          <p:nvPr/>
        </p:nvSpPr>
        <p:spPr>
          <a:xfrm>
            <a:off x="198625" y="1920361"/>
            <a:ext cx="5242128" cy="1200329"/>
          </a:xfrm>
          <a:prstGeom prst="rect">
            <a:avLst/>
          </a:prstGeom>
          <a:ln>
            <a:solidFill>
              <a:schemeClr val="accent1"/>
            </a:solidFill>
          </a:ln>
        </p:spPr>
        <p:txBody>
          <a:bodyPr wrap="square">
            <a:spAutoFit/>
          </a:bodyPr>
          <a:lstStyle/>
          <a:p>
            <a:r>
              <a:rPr lang="en-US" sz="1200" dirty="0">
                <a:solidFill>
                  <a:schemeClr val="tx1">
                    <a:lumMod val="95000"/>
                    <a:lumOff val="5000"/>
                  </a:schemeClr>
                </a:solidFill>
                <a:latin typeface="PSTTCommons-Bold"/>
              </a:rPr>
              <a:t>Never return a </a:t>
            </a:r>
            <a:r>
              <a:rPr lang="en-US" sz="1200" dirty="0" smtClean="0">
                <a:solidFill>
                  <a:schemeClr val="tx1">
                    <a:lumMod val="95000"/>
                    <a:lumOff val="5000"/>
                  </a:schemeClr>
                </a:solidFill>
                <a:latin typeface="PSTTCommons-Bold"/>
              </a:rPr>
              <a:t>string instead </a:t>
            </a:r>
            <a:r>
              <a:rPr lang="en-US" sz="1200" dirty="0">
                <a:solidFill>
                  <a:schemeClr val="tx1">
                    <a:lumMod val="95000"/>
                    <a:lumOff val="5000"/>
                  </a:schemeClr>
                </a:solidFill>
                <a:latin typeface="PSTTCommons-Bold"/>
              </a:rPr>
              <a:t>of the </a:t>
            </a:r>
            <a:r>
              <a:rPr lang="en-US" sz="1200" dirty="0" smtClean="0">
                <a:solidFill>
                  <a:schemeClr val="tx1">
                    <a:lumMod val="95000"/>
                    <a:lumOff val="5000"/>
                  </a:schemeClr>
                </a:solidFill>
                <a:latin typeface="PSTTCommons-Bold"/>
              </a:rPr>
              <a:t>error</a:t>
            </a:r>
          </a:p>
          <a:p>
            <a:r>
              <a:rPr lang="en-US" sz="1200" dirty="0">
                <a:solidFill>
                  <a:srgbClr val="C00000"/>
                </a:solidFill>
                <a:latin typeface="PSTTCommons-Bold"/>
              </a:rPr>
              <a:t>Never "swallow" errors, always do something with </a:t>
            </a:r>
            <a:r>
              <a:rPr lang="en-US" sz="1200" dirty="0" smtClean="0">
                <a:solidFill>
                  <a:srgbClr val="C00000"/>
                </a:solidFill>
                <a:latin typeface="PSTTCommons-Bold"/>
              </a:rPr>
              <a:t>them</a:t>
            </a:r>
          </a:p>
          <a:p>
            <a:r>
              <a:rPr lang="en-US" sz="1200" dirty="0">
                <a:solidFill>
                  <a:schemeClr val="tx1">
                    <a:lumMod val="95000"/>
                    <a:lumOff val="5000"/>
                  </a:schemeClr>
                </a:solidFill>
                <a:latin typeface="PSTTCommons-Bold"/>
              </a:rPr>
              <a:t>Explicitly type the error as `unknown` for readability</a:t>
            </a:r>
            <a:endParaRPr lang="en-US" sz="1200" dirty="0">
              <a:solidFill>
                <a:schemeClr val="tx1">
                  <a:lumMod val="95000"/>
                  <a:lumOff val="5000"/>
                </a:schemeClr>
              </a:solidFill>
            </a:endParaRPr>
          </a:p>
          <a:p>
            <a:r>
              <a:rPr lang="en-US" sz="1200" dirty="0">
                <a:solidFill>
                  <a:schemeClr val="tx1">
                    <a:lumMod val="95000"/>
                    <a:lumOff val="5000"/>
                  </a:schemeClr>
                </a:solidFill>
                <a:latin typeface="PSTTCommons-Bold"/>
              </a:rPr>
              <a:t>In a try / catch we should always narrow the </a:t>
            </a:r>
            <a:r>
              <a:rPr lang="en-US" sz="1200" dirty="0" smtClean="0">
                <a:solidFill>
                  <a:schemeClr val="tx1">
                    <a:lumMod val="95000"/>
                    <a:lumOff val="5000"/>
                  </a:schemeClr>
                </a:solidFill>
                <a:latin typeface="PSTTCommons-Bold"/>
              </a:rPr>
              <a:t>error down </a:t>
            </a:r>
            <a:r>
              <a:rPr lang="en-US" sz="1200" dirty="0">
                <a:solidFill>
                  <a:schemeClr val="tx1">
                    <a:lumMod val="95000"/>
                    <a:lumOff val="5000"/>
                  </a:schemeClr>
                </a:solidFill>
                <a:latin typeface="PSTTCommons-Bold"/>
              </a:rPr>
              <a:t>to a concrete </a:t>
            </a:r>
            <a:r>
              <a:rPr lang="en-US" sz="1200" dirty="0" smtClean="0">
                <a:solidFill>
                  <a:schemeClr val="tx1">
                    <a:lumMod val="95000"/>
                    <a:lumOff val="5000"/>
                  </a:schemeClr>
                </a:solidFill>
                <a:latin typeface="PSTTCommons-Bold"/>
              </a:rPr>
              <a:t>type</a:t>
            </a:r>
          </a:p>
          <a:p>
            <a:r>
              <a:rPr lang="en-US" sz="1200" dirty="0">
                <a:solidFill>
                  <a:schemeClr val="tx1">
                    <a:lumMod val="95000"/>
                    <a:lumOff val="5000"/>
                  </a:schemeClr>
                </a:solidFill>
                <a:latin typeface="PSTTCommons-Bold"/>
              </a:rPr>
              <a:t>Using </a:t>
            </a:r>
            <a:r>
              <a:rPr lang="en-US" sz="1200" dirty="0" err="1">
                <a:solidFill>
                  <a:schemeClr val="tx1">
                    <a:lumMod val="95000"/>
                    <a:lumOff val="5000"/>
                  </a:schemeClr>
                </a:solidFill>
                <a:latin typeface="PSTTCommons-Bold"/>
              </a:rPr>
              <a:t>console</a:t>
            </a:r>
            <a:r>
              <a:rPr lang="en-US" sz="1200" b="1" dirty="0" err="1">
                <a:solidFill>
                  <a:schemeClr val="tx1">
                    <a:lumMod val="95000"/>
                    <a:lumOff val="5000"/>
                  </a:schemeClr>
                </a:solidFill>
                <a:latin typeface="PSTTCommons-Bold"/>
              </a:rPr>
              <a:t>.error</a:t>
            </a:r>
            <a:r>
              <a:rPr lang="en-US" sz="1200" dirty="0">
                <a:solidFill>
                  <a:schemeClr val="tx1">
                    <a:lumMod val="95000"/>
                    <a:lumOff val="5000"/>
                  </a:schemeClr>
                </a:solidFill>
                <a:latin typeface="PSTTCommons-Bold"/>
              </a:rPr>
              <a:t>() rather than console.</a:t>
            </a:r>
            <a:r>
              <a:rPr lang="en-US" sz="1200" b="1" dirty="0">
                <a:solidFill>
                  <a:schemeClr val="tx1">
                    <a:lumMod val="95000"/>
                    <a:lumOff val="5000"/>
                  </a:schemeClr>
                </a:solidFill>
                <a:latin typeface="PSTTCommons-Bold"/>
              </a:rPr>
              <a:t>log</a:t>
            </a:r>
            <a:r>
              <a:rPr lang="en-US" sz="1200" dirty="0">
                <a:solidFill>
                  <a:schemeClr val="tx1">
                    <a:lumMod val="95000"/>
                    <a:lumOff val="5000"/>
                  </a:schemeClr>
                </a:solidFill>
                <a:latin typeface="PSTTCommons-Bold"/>
              </a:rPr>
              <a:t>() is advised for debugging</a:t>
            </a:r>
          </a:p>
          <a:p>
            <a:endParaRPr lang="en-US" sz="1200" dirty="0">
              <a:solidFill>
                <a:schemeClr val="tx1">
                  <a:lumMod val="95000"/>
                  <a:lumOff val="5000"/>
                </a:schemeClr>
              </a:solidFill>
            </a:endParaRPr>
          </a:p>
        </p:txBody>
      </p:sp>
      <p:sp>
        <p:nvSpPr>
          <p:cNvPr id="20" name="Rectangle 19"/>
          <p:cNvSpPr/>
          <p:nvPr/>
        </p:nvSpPr>
        <p:spPr>
          <a:xfrm>
            <a:off x="5567896" y="5958422"/>
            <a:ext cx="1907895" cy="276999"/>
          </a:xfrm>
          <a:prstGeom prst="rect">
            <a:avLst/>
          </a:prstGeom>
        </p:spPr>
        <p:txBody>
          <a:bodyPr wrap="none">
            <a:spAutoFit/>
          </a:bodyPr>
          <a:lstStyle/>
          <a:p>
            <a:r>
              <a:rPr lang="en-US" sz="1200" b="1" dirty="0">
                <a:solidFill>
                  <a:srgbClr val="FF1675"/>
                </a:solidFill>
                <a:latin typeface="PSTTCommons-DemiBold"/>
              </a:rPr>
              <a:t>Throwing vs. Returning</a:t>
            </a:r>
          </a:p>
        </p:txBody>
      </p:sp>
      <p:sp>
        <p:nvSpPr>
          <p:cNvPr id="21" name="Rectangle 20"/>
          <p:cNvSpPr/>
          <p:nvPr/>
        </p:nvSpPr>
        <p:spPr>
          <a:xfrm>
            <a:off x="5655819" y="6312852"/>
            <a:ext cx="5626879" cy="461665"/>
          </a:xfrm>
          <a:prstGeom prst="rect">
            <a:avLst/>
          </a:prstGeom>
          <a:ln>
            <a:solidFill>
              <a:schemeClr val="accent6">
                <a:lumMod val="75000"/>
              </a:schemeClr>
            </a:solidFill>
          </a:ln>
        </p:spPr>
        <p:txBody>
          <a:bodyPr wrap="square">
            <a:spAutoFit/>
          </a:bodyPr>
          <a:lstStyle/>
          <a:p>
            <a:r>
              <a:rPr lang="en-US" sz="1200" b="1" dirty="0">
                <a:solidFill>
                  <a:srgbClr val="002060"/>
                </a:solidFill>
                <a:latin typeface="PSTTCommons-Bold"/>
              </a:rPr>
              <a:t>Throw when the error </a:t>
            </a:r>
            <a:r>
              <a:rPr lang="en-US" sz="1200" b="1" dirty="0" smtClean="0">
                <a:solidFill>
                  <a:srgbClr val="002060"/>
                </a:solidFill>
                <a:latin typeface="PSTTCommons-Bold"/>
              </a:rPr>
              <a:t>cannot be </a:t>
            </a:r>
            <a:r>
              <a:rPr lang="en-US" sz="1200" b="1" dirty="0">
                <a:solidFill>
                  <a:srgbClr val="002060"/>
                </a:solidFill>
                <a:latin typeface="PSTTCommons-Bold"/>
              </a:rPr>
              <a:t>recovered from, </a:t>
            </a:r>
            <a:r>
              <a:rPr lang="en-US" sz="1200" b="1" dirty="0" smtClean="0">
                <a:solidFill>
                  <a:srgbClr val="002060"/>
                </a:solidFill>
                <a:latin typeface="PSTTCommons-Bold"/>
              </a:rPr>
              <a:t>return when </a:t>
            </a:r>
            <a:r>
              <a:rPr lang="en-US" sz="1200" b="1" dirty="0">
                <a:solidFill>
                  <a:srgbClr val="002060"/>
                </a:solidFill>
                <a:latin typeface="PSTTCommons-Bold"/>
              </a:rPr>
              <a:t>it </a:t>
            </a:r>
            <a:r>
              <a:rPr lang="en-US" sz="1200" b="1" dirty="0" smtClean="0">
                <a:solidFill>
                  <a:srgbClr val="002060"/>
                </a:solidFill>
                <a:latin typeface="PSTTCommons-Bold"/>
              </a:rPr>
              <a:t>can</a:t>
            </a:r>
          </a:p>
          <a:p>
            <a:r>
              <a:rPr lang="en-US" sz="1200" b="1" dirty="0">
                <a:solidFill>
                  <a:srgbClr val="002060"/>
                </a:solidFill>
                <a:latin typeface="PSTTCommons-Bold"/>
              </a:rPr>
              <a:t>Use a union type including `Error` when a function returns an </a:t>
            </a:r>
            <a:r>
              <a:rPr lang="en-US" sz="1200" b="1" dirty="0" smtClean="0">
                <a:solidFill>
                  <a:srgbClr val="002060"/>
                </a:solidFill>
                <a:latin typeface="PSTTCommons-Bold"/>
              </a:rPr>
              <a:t>error</a:t>
            </a:r>
            <a:endParaRPr lang="en-US" sz="1200" dirty="0">
              <a:solidFill>
                <a:srgbClr val="002060"/>
              </a:solidFill>
            </a:endParaRPr>
          </a:p>
        </p:txBody>
      </p:sp>
      <p:sp>
        <p:nvSpPr>
          <p:cNvPr id="26" name="Rectangle 25"/>
          <p:cNvSpPr/>
          <p:nvPr/>
        </p:nvSpPr>
        <p:spPr>
          <a:xfrm>
            <a:off x="91375" y="2988741"/>
            <a:ext cx="2971693" cy="275326"/>
          </a:xfrm>
          <a:prstGeom prst="rect">
            <a:avLst/>
          </a:prstGeom>
        </p:spPr>
        <p:txBody>
          <a:bodyPr wrap="square">
            <a:spAutoFit/>
          </a:bodyPr>
          <a:lstStyle/>
          <a:p>
            <a:r>
              <a:rPr lang="en-US" sz="1200" b="1" dirty="0">
                <a:solidFill>
                  <a:srgbClr val="FF1675"/>
                </a:solidFill>
                <a:latin typeface="PSTTCommons-DemiBold"/>
              </a:rPr>
              <a:t>Benefits of Custom Error </a:t>
            </a:r>
            <a:r>
              <a:rPr lang="en-US" sz="1200" b="1" dirty="0" smtClean="0">
                <a:solidFill>
                  <a:srgbClr val="FF1675"/>
                </a:solidFill>
                <a:latin typeface="PSTTCommons-DemiBold"/>
              </a:rPr>
              <a:t>Classes</a:t>
            </a:r>
            <a:endParaRPr lang="en-US" sz="1200" b="1" dirty="0">
              <a:solidFill>
                <a:srgbClr val="FF1675"/>
              </a:solidFill>
              <a:latin typeface="PSTTCommons-DemiBold"/>
            </a:endParaRPr>
          </a:p>
        </p:txBody>
      </p:sp>
      <p:sp>
        <p:nvSpPr>
          <p:cNvPr id="9" name="Rectangle 8"/>
          <p:cNvSpPr/>
          <p:nvPr/>
        </p:nvSpPr>
        <p:spPr>
          <a:xfrm>
            <a:off x="126849" y="3337181"/>
            <a:ext cx="4089700" cy="769441"/>
          </a:xfrm>
          <a:prstGeom prst="rect">
            <a:avLst/>
          </a:prstGeom>
          <a:ln>
            <a:solidFill>
              <a:schemeClr val="bg2">
                <a:lumMod val="10000"/>
              </a:schemeClr>
            </a:solidFill>
          </a:ln>
        </p:spPr>
        <p:txBody>
          <a:bodyPr wrap="square">
            <a:spAutoFit/>
          </a:bodyPr>
          <a:lstStyle/>
          <a:p>
            <a:r>
              <a:rPr lang="en-US" sz="1100" dirty="0" smtClean="0">
                <a:latin typeface="PSTTCommons-DemiBold"/>
              </a:rPr>
              <a:t>Better </a:t>
            </a:r>
            <a:r>
              <a:rPr lang="en-US" sz="1100" dirty="0">
                <a:latin typeface="PSTTCommons-DemiBold"/>
              </a:rPr>
              <a:t>identify the errors the application needs to handle</a:t>
            </a:r>
          </a:p>
          <a:p>
            <a:r>
              <a:rPr lang="en-US" sz="1100" dirty="0" smtClean="0">
                <a:latin typeface="PSTTCommons-DemiBold"/>
              </a:rPr>
              <a:t>Work </a:t>
            </a:r>
            <a:r>
              <a:rPr lang="en-US" sz="1100" dirty="0">
                <a:latin typeface="PSTTCommons-DemiBold"/>
              </a:rPr>
              <a:t>with errors in a type-safe way</a:t>
            </a:r>
          </a:p>
          <a:p>
            <a:r>
              <a:rPr lang="en-US" sz="1100" dirty="0" smtClean="0">
                <a:latin typeface="PSTTCommons-DemiBold"/>
              </a:rPr>
              <a:t>Work </a:t>
            </a:r>
            <a:r>
              <a:rPr lang="en-US" sz="1100" dirty="0">
                <a:latin typeface="PSTTCommons-DemiBold"/>
              </a:rPr>
              <a:t>with different errors in a consistent way</a:t>
            </a:r>
          </a:p>
          <a:p>
            <a:r>
              <a:rPr lang="en-US" sz="1100" dirty="0" smtClean="0">
                <a:latin typeface="PSTTCommons-DemiBold"/>
              </a:rPr>
              <a:t>Enhance </a:t>
            </a:r>
            <a:r>
              <a:rPr lang="en-US" sz="1100" dirty="0">
                <a:latin typeface="PSTTCommons-DemiBold"/>
              </a:rPr>
              <a:t>errors with custom functionality</a:t>
            </a:r>
            <a:endParaRPr lang="en-US" sz="1100" dirty="0"/>
          </a:p>
        </p:txBody>
      </p:sp>
      <p:sp>
        <p:nvSpPr>
          <p:cNvPr id="30" name="Rectangle 29"/>
          <p:cNvSpPr/>
          <p:nvPr/>
        </p:nvSpPr>
        <p:spPr>
          <a:xfrm>
            <a:off x="115068" y="4258555"/>
            <a:ext cx="3270447" cy="276999"/>
          </a:xfrm>
          <a:prstGeom prst="rect">
            <a:avLst/>
          </a:prstGeom>
        </p:spPr>
        <p:txBody>
          <a:bodyPr wrap="none">
            <a:spAutoFit/>
          </a:bodyPr>
          <a:lstStyle/>
          <a:p>
            <a:r>
              <a:rPr lang="en-US" sz="1200" b="1" dirty="0">
                <a:solidFill>
                  <a:srgbClr val="FF1675"/>
                </a:solidFill>
                <a:latin typeface="PSTTCommons-DemiBold"/>
              </a:rPr>
              <a:t>Give Useful Errors &amp; Error Documentation</a:t>
            </a:r>
          </a:p>
        </p:txBody>
      </p:sp>
      <p:sp>
        <p:nvSpPr>
          <p:cNvPr id="31" name="Rectangle 30"/>
          <p:cNvSpPr/>
          <p:nvPr/>
        </p:nvSpPr>
        <p:spPr>
          <a:xfrm>
            <a:off x="126849" y="4593278"/>
            <a:ext cx="4805785" cy="1015663"/>
          </a:xfrm>
          <a:prstGeom prst="rect">
            <a:avLst/>
          </a:prstGeom>
          <a:ln>
            <a:solidFill>
              <a:schemeClr val="accent4">
                <a:lumMod val="50000"/>
              </a:schemeClr>
            </a:solidFill>
          </a:ln>
        </p:spPr>
        <p:txBody>
          <a:bodyPr wrap="square">
            <a:spAutoFit/>
          </a:bodyPr>
          <a:lstStyle/>
          <a:p>
            <a:r>
              <a:rPr lang="en-US" sz="1200" dirty="0" smtClean="0">
                <a:latin typeface="PSTTCommons-Regular"/>
              </a:rPr>
              <a:t>Provide </a:t>
            </a:r>
            <a:r>
              <a:rPr lang="en-US" sz="1200" dirty="0">
                <a:latin typeface="PSTTCommons-Regular"/>
              </a:rPr>
              <a:t>detailed information about each </a:t>
            </a:r>
            <a:r>
              <a:rPr lang="en-US" sz="1200" dirty="0" smtClean="0">
                <a:latin typeface="PSTTCommons-Regular"/>
              </a:rPr>
              <a:t>error including</a:t>
            </a:r>
            <a:r>
              <a:rPr lang="en-US" sz="1200" dirty="0">
                <a:latin typeface="PSTTCommons-Regular"/>
              </a:rPr>
              <a:t>:</a:t>
            </a:r>
          </a:p>
          <a:p>
            <a:r>
              <a:rPr lang="en-US" sz="1200" dirty="0" smtClean="0">
                <a:latin typeface="PSTTCommons-Regular"/>
              </a:rPr>
              <a:t>What </a:t>
            </a:r>
            <a:r>
              <a:rPr lang="en-US" sz="1200" dirty="0">
                <a:latin typeface="PSTTCommons-Regular"/>
              </a:rPr>
              <a:t>caused the error to be thrown</a:t>
            </a:r>
          </a:p>
          <a:p>
            <a:r>
              <a:rPr lang="en-US" sz="1200" dirty="0" smtClean="0">
                <a:latin typeface="PSTTCommons-Regular"/>
              </a:rPr>
              <a:t>Useful </a:t>
            </a:r>
            <a:r>
              <a:rPr lang="en-US" sz="1200" dirty="0">
                <a:latin typeface="PSTTCommons-Regular"/>
              </a:rPr>
              <a:t>name, description, error code</a:t>
            </a:r>
          </a:p>
          <a:p>
            <a:r>
              <a:rPr lang="en-US" sz="1200" dirty="0" smtClean="0">
                <a:latin typeface="PSTTCommons-Regular"/>
              </a:rPr>
              <a:t>Whether </a:t>
            </a:r>
            <a:r>
              <a:rPr lang="en-US" sz="1200" dirty="0">
                <a:latin typeface="PSTTCommons-Regular"/>
              </a:rPr>
              <a:t>the error is thrown or </a:t>
            </a:r>
            <a:r>
              <a:rPr lang="en-US" sz="1200" dirty="0" smtClean="0">
                <a:latin typeface="PSTTCommons-Regular"/>
              </a:rPr>
              <a:t>returned</a:t>
            </a:r>
          </a:p>
          <a:p>
            <a:r>
              <a:rPr lang="en-US" sz="1200" b="1" dirty="0"/>
              <a:t>Use </a:t>
            </a:r>
            <a:r>
              <a:rPr lang="en-US" sz="1200" b="1" dirty="0" err="1"/>
              <a:t>JSDoc's</a:t>
            </a:r>
            <a:r>
              <a:rPr lang="en-US" sz="1200" b="1" dirty="0"/>
              <a:t> @throw tag to provide information on thrown errors</a:t>
            </a:r>
            <a:endParaRPr lang="en-US" sz="1200" dirty="0"/>
          </a:p>
        </p:txBody>
      </p:sp>
      <p:pic>
        <p:nvPicPr>
          <p:cNvPr id="32" name="Picture 31"/>
          <p:cNvPicPr>
            <a:picLocks noChangeAspect="1"/>
          </p:cNvPicPr>
          <p:nvPr/>
        </p:nvPicPr>
        <p:blipFill>
          <a:blip r:embed="rId3"/>
          <a:stretch>
            <a:fillRect/>
          </a:stretch>
        </p:blipFill>
        <p:spPr>
          <a:xfrm>
            <a:off x="4486378" y="5304161"/>
            <a:ext cx="4438997" cy="519615"/>
          </a:xfrm>
          <a:prstGeom prst="rect">
            <a:avLst/>
          </a:prstGeom>
          <a:ln>
            <a:solidFill>
              <a:schemeClr val="accent4">
                <a:lumMod val="50000"/>
              </a:schemeClr>
            </a:solidFill>
          </a:ln>
        </p:spPr>
      </p:pic>
      <p:sp>
        <p:nvSpPr>
          <p:cNvPr id="33" name="Rectangle 32"/>
          <p:cNvSpPr/>
          <p:nvPr/>
        </p:nvSpPr>
        <p:spPr>
          <a:xfrm>
            <a:off x="77421" y="6096922"/>
            <a:ext cx="5025366" cy="430887"/>
          </a:xfrm>
          <a:prstGeom prst="rect">
            <a:avLst/>
          </a:prstGeom>
        </p:spPr>
        <p:txBody>
          <a:bodyPr wrap="square">
            <a:spAutoFit/>
          </a:bodyPr>
          <a:lstStyle/>
          <a:p>
            <a:r>
              <a:rPr lang="en-US" sz="1100" b="1" dirty="0">
                <a:latin typeface="PSTTCommons-DemiBold"/>
              </a:rPr>
              <a:t>Documenting all errors is useful for any developers working on the code</a:t>
            </a:r>
          </a:p>
          <a:p>
            <a:r>
              <a:rPr lang="en-US" sz="1100" b="1" dirty="0">
                <a:latin typeface="PSTTCommons-DemiBold"/>
              </a:rPr>
              <a:t>We should also consider errors that need to be displayed to the user</a:t>
            </a:r>
          </a:p>
        </p:txBody>
      </p:sp>
      <p:sp>
        <p:nvSpPr>
          <p:cNvPr id="34" name="Rectangle 33"/>
          <p:cNvSpPr/>
          <p:nvPr/>
        </p:nvSpPr>
        <p:spPr>
          <a:xfrm>
            <a:off x="91375" y="5762842"/>
            <a:ext cx="1439818" cy="276999"/>
          </a:xfrm>
          <a:prstGeom prst="rect">
            <a:avLst/>
          </a:prstGeom>
        </p:spPr>
        <p:txBody>
          <a:bodyPr wrap="none">
            <a:spAutoFit/>
          </a:bodyPr>
          <a:lstStyle/>
          <a:p>
            <a:r>
              <a:rPr lang="en-US" sz="1200" b="1" dirty="0">
                <a:solidFill>
                  <a:srgbClr val="FF1675"/>
                </a:solidFill>
                <a:latin typeface="PSTTCommons-DemiBold"/>
              </a:rPr>
              <a:t>Document Errors</a:t>
            </a:r>
          </a:p>
        </p:txBody>
      </p:sp>
      <p:sp>
        <p:nvSpPr>
          <p:cNvPr id="7" name="Rectangle 6"/>
          <p:cNvSpPr/>
          <p:nvPr/>
        </p:nvSpPr>
        <p:spPr>
          <a:xfrm>
            <a:off x="10879985" y="5716675"/>
            <a:ext cx="1069845" cy="369332"/>
          </a:xfrm>
          <a:prstGeom prst="rect">
            <a:avLst/>
          </a:prstGeom>
        </p:spPr>
        <p:txBody>
          <a:bodyPr wrap="none">
            <a:spAutoFit/>
          </a:bodyPr>
          <a:lstStyle/>
          <a:p>
            <a:r>
              <a:rPr lang="en-US" dirty="0">
                <a:solidFill>
                  <a:srgbClr val="00B050"/>
                </a:solidFill>
              </a:rPr>
              <a:t>z--error.js</a:t>
            </a:r>
          </a:p>
        </p:txBody>
      </p:sp>
      <p:sp>
        <p:nvSpPr>
          <p:cNvPr id="18" name="Rectangle 17"/>
          <p:cNvSpPr/>
          <p:nvPr/>
        </p:nvSpPr>
        <p:spPr>
          <a:xfrm>
            <a:off x="6322723" y="2922746"/>
            <a:ext cx="4783046" cy="2246769"/>
          </a:xfrm>
          <a:prstGeom prst="rect">
            <a:avLst/>
          </a:prstGeom>
          <a:ln>
            <a:solidFill>
              <a:schemeClr val="bg2"/>
            </a:solidFill>
          </a:ln>
        </p:spPr>
        <p:txBody>
          <a:bodyPr wrap="square">
            <a:spAutoFit/>
          </a:bodyPr>
          <a:lstStyle/>
          <a:p>
            <a:r>
              <a:rPr lang="en-US" sz="1000" dirty="0">
                <a:solidFill>
                  <a:srgbClr val="000000"/>
                </a:solidFill>
                <a:latin typeface="Fira Code" pitchFamily="1" charset="0"/>
              </a:rPr>
              <a:t/>
            </a:r>
            <a:br>
              <a:rPr lang="en-US" sz="1000" dirty="0">
                <a:solidFill>
                  <a:srgbClr val="000000"/>
                </a:solidFill>
                <a:latin typeface="Fira Code" pitchFamily="1" charset="0"/>
              </a:rPr>
            </a:br>
            <a:r>
              <a:rPr lang="en-US" sz="1000" dirty="0" err="1">
                <a:solidFill>
                  <a:srgbClr val="0070C1"/>
                </a:solidFill>
                <a:latin typeface="Fira Code" pitchFamily="1" charset="0"/>
              </a:rPr>
              <a:t>files</a:t>
            </a:r>
            <a:r>
              <a:rPr lang="en-US" sz="1000" dirty="0" err="1">
                <a:solidFill>
                  <a:srgbClr val="000000"/>
                </a:solidFill>
                <a:latin typeface="Fira Code" pitchFamily="1" charset="0"/>
              </a:rPr>
              <a:t>.</a:t>
            </a:r>
            <a:r>
              <a:rPr lang="en-US" sz="1000" dirty="0" err="1">
                <a:solidFill>
                  <a:srgbClr val="795E26"/>
                </a:solidFill>
                <a:latin typeface="Fira Code" pitchFamily="1" charset="0"/>
              </a:rPr>
              <a:t>forEach</a:t>
            </a:r>
            <a:r>
              <a:rPr lang="en-US" sz="1000" dirty="0">
                <a:solidFill>
                  <a:srgbClr val="000000"/>
                </a:solidFill>
                <a:latin typeface="Fira Code" pitchFamily="1" charset="0"/>
              </a:rPr>
              <a:t>(</a:t>
            </a:r>
            <a:r>
              <a:rPr lang="en-US" sz="1000" dirty="0">
                <a:solidFill>
                  <a:srgbClr val="001080"/>
                </a:solidFill>
                <a:latin typeface="Fira Code" pitchFamily="1" charset="0"/>
              </a:rPr>
              <a:t>file</a:t>
            </a:r>
            <a:r>
              <a:rPr lang="en-US" sz="1000" dirty="0">
                <a:solidFill>
                  <a:srgbClr val="000000"/>
                </a:solidFill>
                <a:latin typeface="Fira Code" pitchFamily="1" charset="0"/>
              </a:rPr>
              <a:t> </a:t>
            </a:r>
            <a:r>
              <a:rPr lang="en-US" sz="1000" dirty="0">
                <a:solidFill>
                  <a:srgbClr val="0000FF"/>
                </a:solidFill>
                <a:latin typeface="Fira Code" pitchFamily="1" charset="0"/>
              </a:rPr>
              <a:t>=&gt;</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a:solidFill>
                  <a:srgbClr val="AF00DB"/>
                </a:solidFill>
                <a:latin typeface="Fira Code" pitchFamily="1" charset="0"/>
              </a:rPr>
              <a:t>try</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a:solidFill>
                  <a:srgbClr val="0000FF"/>
                </a:solidFill>
                <a:latin typeface="Fira Code" pitchFamily="1" charset="0"/>
              </a:rPr>
              <a:t>const</a:t>
            </a:r>
            <a:r>
              <a:rPr lang="en-US" sz="1000" dirty="0">
                <a:solidFill>
                  <a:srgbClr val="000000"/>
                </a:solidFill>
                <a:latin typeface="Fira Code" pitchFamily="1" charset="0"/>
              </a:rPr>
              <a:t> </a:t>
            </a:r>
            <a:r>
              <a:rPr lang="en-US" sz="1000" dirty="0" err="1">
                <a:solidFill>
                  <a:srgbClr val="0070C1"/>
                </a:solidFill>
                <a:latin typeface="Fira Code" pitchFamily="1" charset="0"/>
              </a:rPr>
              <a:t>filePath</a:t>
            </a:r>
            <a:r>
              <a:rPr lang="en-US" sz="1000" dirty="0">
                <a:solidFill>
                  <a:srgbClr val="000000"/>
                </a:solidFill>
                <a:latin typeface="Fira Code" pitchFamily="1" charset="0"/>
              </a:rPr>
              <a:t> = </a:t>
            </a:r>
            <a:r>
              <a:rPr lang="en-US" sz="1000" dirty="0" err="1">
                <a:solidFill>
                  <a:srgbClr val="0070C1"/>
                </a:solidFill>
                <a:latin typeface="Fira Code" pitchFamily="1" charset="0"/>
              </a:rPr>
              <a:t>path</a:t>
            </a:r>
            <a:r>
              <a:rPr lang="en-US" sz="1000" dirty="0" err="1">
                <a:solidFill>
                  <a:srgbClr val="000000"/>
                </a:solidFill>
                <a:latin typeface="Fira Code" pitchFamily="1" charset="0"/>
              </a:rPr>
              <a:t>.</a:t>
            </a:r>
            <a:r>
              <a:rPr lang="en-US" sz="1000" dirty="0" err="1">
                <a:solidFill>
                  <a:srgbClr val="795E26"/>
                </a:solidFill>
                <a:latin typeface="Fira Code" pitchFamily="1" charset="0"/>
              </a:rPr>
              <a:t>resolve</a:t>
            </a:r>
            <a:r>
              <a:rPr lang="en-US" sz="1000" dirty="0">
                <a:solidFill>
                  <a:srgbClr val="000000"/>
                </a:solidFill>
                <a:latin typeface="Fira Code" pitchFamily="1" charset="0"/>
              </a:rPr>
              <a:t>(</a:t>
            </a:r>
            <a:r>
              <a:rPr lang="en-US" sz="1000" dirty="0" err="1">
                <a:solidFill>
                  <a:srgbClr val="001080"/>
                </a:solidFill>
                <a:latin typeface="Fira Code" pitchFamily="1" charset="0"/>
              </a:rPr>
              <a:t>process</a:t>
            </a:r>
            <a:r>
              <a:rPr lang="en-US" sz="1000" dirty="0" err="1">
                <a:solidFill>
                  <a:srgbClr val="000000"/>
                </a:solidFill>
                <a:latin typeface="Fira Code" pitchFamily="1" charset="0"/>
              </a:rPr>
              <a:t>.</a:t>
            </a:r>
            <a:r>
              <a:rPr lang="en-US" sz="1000" dirty="0" err="1">
                <a:solidFill>
                  <a:srgbClr val="001080"/>
                </a:solidFill>
                <a:latin typeface="Fira Code" pitchFamily="1" charset="0"/>
              </a:rPr>
              <a:t>env</a:t>
            </a:r>
            <a:r>
              <a:rPr lang="en-US" sz="1000" dirty="0" err="1">
                <a:solidFill>
                  <a:srgbClr val="000000"/>
                </a:solidFill>
                <a:latin typeface="Fira Code" pitchFamily="1" charset="0"/>
              </a:rPr>
              <a:t>.</a:t>
            </a:r>
            <a:r>
              <a:rPr lang="en-US" sz="1000" dirty="0" err="1">
                <a:solidFill>
                  <a:srgbClr val="0070C1"/>
                </a:solidFill>
                <a:latin typeface="Fira Code" pitchFamily="1" charset="0"/>
              </a:rPr>
              <a:t>HOME</a:t>
            </a:r>
            <a:r>
              <a:rPr lang="en-US" sz="1000" dirty="0">
                <a:solidFill>
                  <a:srgbClr val="000000"/>
                </a:solidFill>
                <a:latin typeface="Fira Code" pitchFamily="1" charset="0"/>
              </a:rPr>
              <a:t>, </a:t>
            </a:r>
            <a:r>
              <a:rPr lang="en-US" sz="1000" dirty="0">
                <a:solidFill>
                  <a:srgbClr val="001080"/>
                </a:solidFill>
                <a:latin typeface="Fira Code" pitchFamily="1" charset="0"/>
              </a:rPr>
              <a:t>file</a:t>
            </a:r>
            <a:r>
              <a:rPr lang="en-US" sz="1000" dirty="0">
                <a:solidFill>
                  <a:srgbClr val="000000"/>
                </a:solidFill>
                <a:latin typeface="Fira Code" pitchFamily="1" charset="0"/>
              </a:rPr>
              <a:t>);</a:t>
            </a:r>
          </a:p>
          <a:p>
            <a:r>
              <a:rPr lang="en-US" sz="1000" dirty="0">
                <a:solidFill>
                  <a:srgbClr val="000000"/>
                </a:solidFill>
                <a:latin typeface="Fira Code" pitchFamily="1" charset="0"/>
              </a:rPr>
              <a:t>    </a:t>
            </a:r>
            <a:r>
              <a:rPr lang="en-US" sz="1000" dirty="0">
                <a:solidFill>
                  <a:srgbClr val="0000FF"/>
                </a:solidFill>
                <a:latin typeface="Fira Code" pitchFamily="1" charset="0"/>
              </a:rPr>
              <a:t>const</a:t>
            </a:r>
            <a:r>
              <a:rPr lang="en-US" sz="1000" dirty="0">
                <a:solidFill>
                  <a:srgbClr val="000000"/>
                </a:solidFill>
                <a:latin typeface="Fira Code" pitchFamily="1" charset="0"/>
              </a:rPr>
              <a:t> </a:t>
            </a:r>
            <a:r>
              <a:rPr lang="en-US" sz="1000" dirty="0">
                <a:solidFill>
                  <a:srgbClr val="0070C1"/>
                </a:solidFill>
                <a:latin typeface="Fira Code" pitchFamily="1" charset="0"/>
              </a:rPr>
              <a:t>data</a:t>
            </a:r>
            <a:r>
              <a:rPr lang="en-US" sz="1000" dirty="0">
                <a:solidFill>
                  <a:srgbClr val="000000"/>
                </a:solidFill>
                <a:latin typeface="Fira Code" pitchFamily="1" charset="0"/>
              </a:rPr>
              <a:t> = </a:t>
            </a:r>
            <a:r>
              <a:rPr lang="en-US" sz="1000" dirty="0" err="1">
                <a:solidFill>
                  <a:srgbClr val="267F99"/>
                </a:solidFill>
                <a:latin typeface="Fira Code" pitchFamily="1" charset="0"/>
              </a:rPr>
              <a:t>fs</a:t>
            </a:r>
            <a:r>
              <a:rPr lang="en-US" sz="1000" dirty="0" err="1">
                <a:solidFill>
                  <a:srgbClr val="000000"/>
                </a:solidFill>
                <a:latin typeface="Fira Code" pitchFamily="1" charset="0"/>
              </a:rPr>
              <a:t>.</a:t>
            </a:r>
            <a:r>
              <a:rPr lang="en-US" sz="1000" dirty="0" err="1">
                <a:solidFill>
                  <a:srgbClr val="795E26"/>
                </a:solidFill>
                <a:latin typeface="Fira Code" pitchFamily="1" charset="0"/>
              </a:rPr>
              <a:t>readFileSync</a:t>
            </a:r>
            <a:r>
              <a:rPr lang="en-US" sz="1000" dirty="0">
                <a:solidFill>
                  <a:srgbClr val="000000"/>
                </a:solidFill>
                <a:latin typeface="Fira Code" pitchFamily="1" charset="0"/>
              </a:rPr>
              <a:t>(</a:t>
            </a:r>
            <a:r>
              <a:rPr lang="en-US" sz="1000" dirty="0" err="1">
                <a:solidFill>
                  <a:srgbClr val="0070C1"/>
                </a:solidFill>
                <a:latin typeface="Fira Code" pitchFamily="1" charset="0"/>
              </a:rPr>
              <a:t>filePath</a:t>
            </a:r>
            <a:r>
              <a:rPr lang="en-US" sz="1000" dirty="0">
                <a:solidFill>
                  <a:srgbClr val="000000"/>
                </a:solidFill>
                <a:latin typeface="Fira Code" pitchFamily="1" charset="0"/>
              </a:rPr>
              <a:t>);</a:t>
            </a:r>
          </a:p>
          <a:p>
            <a:r>
              <a:rPr lang="en-US" sz="1000" dirty="0">
                <a:solidFill>
                  <a:srgbClr val="000000"/>
                </a:solidFill>
                <a:latin typeface="Fira Code" pitchFamily="1" charset="0"/>
              </a:rPr>
              <a:t>    </a:t>
            </a:r>
            <a:r>
              <a:rPr lang="en-US" sz="1000" dirty="0">
                <a:solidFill>
                  <a:srgbClr val="001080"/>
                </a:solidFill>
                <a:latin typeface="Fira Code" pitchFamily="1" charset="0"/>
              </a:rPr>
              <a:t>console</a:t>
            </a:r>
            <a:r>
              <a:rPr lang="en-US" sz="1000" dirty="0">
                <a:solidFill>
                  <a:srgbClr val="000000"/>
                </a:solidFill>
                <a:latin typeface="Fira Code" pitchFamily="1" charset="0"/>
              </a:rPr>
              <a:t>.</a:t>
            </a:r>
            <a:r>
              <a:rPr lang="en-US" sz="1000" b="1" dirty="0">
                <a:solidFill>
                  <a:srgbClr val="795E26"/>
                </a:solidFill>
                <a:latin typeface="Fira Code" pitchFamily="1" charset="0"/>
              </a:rPr>
              <a:t>log</a:t>
            </a:r>
            <a:r>
              <a:rPr lang="en-US" sz="1000" dirty="0">
                <a:solidFill>
                  <a:srgbClr val="000000"/>
                </a:solidFill>
                <a:latin typeface="Fira Code" pitchFamily="1" charset="0"/>
              </a:rPr>
              <a:t>(</a:t>
            </a:r>
            <a:r>
              <a:rPr lang="en-US" sz="1000" dirty="0">
                <a:solidFill>
                  <a:srgbClr val="A31515"/>
                </a:solidFill>
                <a:latin typeface="Fira Code" pitchFamily="1" charset="0"/>
              </a:rPr>
              <a:t>'File data is'</a:t>
            </a:r>
            <a:r>
              <a:rPr lang="en-US" sz="1000" dirty="0">
                <a:solidFill>
                  <a:srgbClr val="000000"/>
                </a:solidFill>
                <a:latin typeface="Fira Code" pitchFamily="1" charset="0"/>
              </a:rPr>
              <a:t>, </a:t>
            </a:r>
            <a:r>
              <a:rPr lang="en-US" sz="1000" dirty="0">
                <a:solidFill>
                  <a:srgbClr val="0070C1"/>
                </a:solidFill>
                <a:latin typeface="Fira Code" pitchFamily="1" charset="0"/>
              </a:rPr>
              <a:t>data</a:t>
            </a:r>
            <a:r>
              <a:rPr lang="en-US" sz="1000" dirty="0">
                <a:solidFill>
                  <a:srgbClr val="000000"/>
                </a:solidFill>
                <a:latin typeface="Fira Code" pitchFamily="1" charset="0"/>
              </a:rPr>
              <a:t>);</a:t>
            </a:r>
          </a:p>
          <a:p>
            <a:r>
              <a:rPr lang="en-US" sz="1000" dirty="0">
                <a:solidFill>
                  <a:srgbClr val="000000"/>
                </a:solidFill>
                <a:latin typeface="Fira Code" pitchFamily="1" charset="0"/>
              </a:rPr>
              <a:t>  } </a:t>
            </a:r>
            <a:r>
              <a:rPr lang="en-US" sz="1000" dirty="0">
                <a:solidFill>
                  <a:srgbClr val="AF00DB"/>
                </a:solidFill>
                <a:latin typeface="Fira Code" pitchFamily="1" charset="0"/>
              </a:rPr>
              <a:t>catch</a:t>
            </a:r>
            <a:r>
              <a:rPr lang="en-US" sz="1000" dirty="0">
                <a:solidFill>
                  <a:srgbClr val="000000"/>
                </a:solidFill>
                <a:latin typeface="Fira Code" pitchFamily="1" charset="0"/>
              </a:rPr>
              <a:t> (</a:t>
            </a:r>
            <a:r>
              <a:rPr lang="en-US" sz="1000" dirty="0">
                <a:solidFill>
                  <a:srgbClr val="001080"/>
                </a:solidFill>
                <a:latin typeface="Fira Code" pitchFamily="1" charset="0"/>
              </a:rPr>
              <a:t>err</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a:solidFill>
                  <a:srgbClr val="AF00DB"/>
                </a:solidFill>
                <a:latin typeface="Fira Code" pitchFamily="1" charset="0"/>
              </a:rPr>
              <a:t>if</a:t>
            </a:r>
            <a:r>
              <a:rPr lang="en-US" sz="1000" dirty="0">
                <a:solidFill>
                  <a:srgbClr val="000000"/>
                </a:solidFill>
                <a:latin typeface="Fira Code" pitchFamily="1" charset="0"/>
              </a:rPr>
              <a:t> (</a:t>
            </a:r>
            <a:r>
              <a:rPr lang="en-US" sz="1000" dirty="0" err="1">
                <a:solidFill>
                  <a:srgbClr val="001080"/>
                </a:solidFill>
                <a:latin typeface="Fira Code" pitchFamily="1" charset="0"/>
              </a:rPr>
              <a:t>err</a:t>
            </a:r>
            <a:r>
              <a:rPr lang="en-US" sz="1000" dirty="0" err="1">
                <a:solidFill>
                  <a:srgbClr val="000000"/>
                </a:solidFill>
                <a:latin typeface="Fira Code" pitchFamily="1" charset="0"/>
              </a:rPr>
              <a:t>.</a:t>
            </a:r>
            <a:r>
              <a:rPr lang="en-US" sz="1000" dirty="0" err="1">
                <a:solidFill>
                  <a:srgbClr val="001080"/>
                </a:solidFill>
                <a:latin typeface="Fira Code" pitchFamily="1" charset="0"/>
              </a:rPr>
              <a:t>code</a:t>
            </a:r>
            <a:r>
              <a:rPr lang="en-US" sz="1000" dirty="0">
                <a:solidFill>
                  <a:srgbClr val="000000"/>
                </a:solidFill>
                <a:latin typeface="Fira Code" pitchFamily="1" charset="0"/>
              </a:rPr>
              <a:t> === </a:t>
            </a:r>
            <a:r>
              <a:rPr lang="en-US" sz="1000" dirty="0">
                <a:solidFill>
                  <a:srgbClr val="A31515"/>
                </a:solidFill>
                <a:latin typeface="Fira Code" pitchFamily="1" charset="0"/>
              </a:rPr>
              <a:t>'ENOENT'</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err="1" smtClean="0">
                <a:solidFill>
                  <a:srgbClr val="001080"/>
                </a:solidFill>
                <a:latin typeface="Fira Code" pitchFamily="1" charset="0"/>
              </a:rPr>
              <a:t>console</a:t>
            </a:r>
            <a:r>
              <a:rPr lang="en-US" sz="1000" dirty="0" err="1" smtClean="0">
                <a:solidFill>
                  <a:srgbClr val="000000"/>
                </a:solidFill>
                <a:latin typeface="Fira Code" pitchFamily="1" charset="0"/>
              </a:rPr>
              <a:t>.</a:t>
            </a:r>
            <a:r>
              <a:rPr lang="en-US" sz="1000" b="1" dirty="0" err="1" smtClean="0">
                <a:solidFill>
                  <a:srgbClr val="795E26"/>
                </a:solidFill>
                <a:latin typeface="Fira Code" pitchFamily="1" charset="0"/>
              </a:rPr>
              <a:t>error</a:t>
            </a:r>
            <a:r>
              <a:rPr lang="en-US" sz="1000" dirty="0" smtClean="0">
                <a:solidFill>
                  <a:srgbClr val="000000"/>
                </a:solidFill>
                <a:latin typeface="Fira Code" pitchFamily="1" charset="0"/>
              </a:rPr>
              <a:t>(</a:t>
            </a:r>
            <a:r>
              <a:rPr lang="en-US" sz="1000" dirty="0">
                <a:solidFill>
                  <a:srgbClr val="A31515"/>
                </a:solidFill>
                <a:latin typeface="Fira Code" pitchFamily="1" charset="0"/>
              </a:rPr>
              <a:t>'File not found'</a:t>
            </a:r>
            <a:r>
              <a:rPr lang="en-US" sz="1000" dirty="0">
                <a:solidFill>
                  <a:srgbClr val="000000"/>
                </a:solidFill>
                <a:latin typeface="Fira Code" pitchFamily="1" charset="0"/>
              </a:rPr>
              <a:t>);</a:t>
            </a:r>
          </a:p>
          <a:p>
            <a:r>
              <a:rPr lang="en-US" sz="1000" dirty="0">
                <a:solidFill>
                  <a:srgbClr val="000000"/>
                </a:solidFill>
                <a:latin typeface="Fira Code" pitchFamily="1" charset="0"/>
              </a:rPr>
              <a:t>    } </a:t>
            </a:r>
            <a:r>
              <a:rPr lang="en-US" sz="1000" dirty="0">
                <a:solidFill>
                  <a:srgbClr val="AF00DB"/>
                </a:solidFill>
                <a:latin typeface="Fira Code" pitchFamily="1" charset="0"/>
              </a:rPr>
              <a:t>else</a:t>
            </a:r>
            <a:r>
              <a:rPr lang="en-US" sz="1000" dirty="0">
                <a:solidFill>
                  <a:srgbClr val="000000"/>
                </a:solidFill>
                <a:latin typeface="Fira Code" pitchFamily="1" charset="0"/>
              </a:rPr>
              <a:t> {</a:t>
            </a:r>
          </a:p>
          <a:p>
            <a:r>
              <a:rPr lang="en-US" sz="1000" dirty="0">
                <a:solidFill>
                  <a:srgbClr val="000000"/>
                </a:solidFill>
                <a:latin typeface="Fira Code" pitchFamily="1" charset="0"/>
              </a:rPr>
              <a:t>      </a:t>
            </a:r>
            <a:r>
              <a:rPr lang="en-US" sz="1000" dirty="0">
                <a:solidFill>
                  <a:srgbClr val="AF00DB"/>
                </a:solidFill>
                <a:latin typeface="Fira Code" pitchFamily="1" charset="0"/>
              </a:rPr>
              <a:t>throw</a:t>
            </a:r>
            <a:r>
              <a:rPr lang="en-US" sz="1000" dirty="0">
                <a:solidFill>
                  <a:srgbClr val="000000"/>
                </a:solidFill>
                <a:latin typeface="Fira Code" pitchFamily="1" charset="0"/>
              </a:rPr>
              <a:t> </a:t>
            </a:r>
            <a:r>
              <a:rPr lang="en-US" sz="1000" dirty="0">
                <a:solidFill>
                  <a:srgbClr val="001080"/>
                </a:solidFill>
                <a:latin typeface="Fira Code" pitchFamily="1" charset="0"/>
              </a:rPr>
              <a:t>err</a:t>
            </a:r>
            <a:r>
              <a:rPr lang="en-US" sz="1000" dirty="0">
                <a:solidFill>
                  <a:srgbClr val="000000"/>
                </a:solidFill>
                <a:latin typeface="Fira Code" pitchFamily="1" charset="0"/>
              </a:rPr>
              <a:t>;</a:t>
            </a:r>
          </a:p>
          <a:p>
            <a:r>
              <a:rPr lang="en-US" sz="1000" dirty="0">
                <a:solidFill>
                  <a:srgbClr val="000000"/>
                </a:solidFill>
                <a:latin typeface="Fira Code" pitchFamily="1" charset="0"/>
              </a:rPr>
              <a:t>    }</a:t>
            </a:r>
          </a:p>
          <a:p>
            <a:r>
              <a:rPr lang="en-US" sz="1000" dirty="0">
                <a:solidFill>
                  <a:srgbClr val="000000"/>
                </a:solidFill>
                <a:latin typeface="Fira Code" pitchFamily="1" charset="0"/>
              </a:rPr>
              <a:t>  }</a:t>
            </a:r>
          </a:p>
          <a:p>
            <a:r>
              <a:rPr lang="en-US" sz="1000" dirty="0">
                <a:solidFill>
                  <a:srgbClr val="000000"/>
                </a:solidFill>
                <a:latin typeface="Fira Code" pitchFamily="1" charset="0"/>
              </a:rPr>
              <a:t>});</a:t>
            </a:r>
            <a:endParaRPr lang="en-US" sz="1000" b="0" dirty="0">
              <a:solidFill>
                <a:srgbClr val="000000"/>
              </a:solidFill>
              <a:effectLst/>
              <a:latin typeface="Fira Code" pitchFamily="1" charset="0"/>
            </a:endParaRPr>
          </a:p>
        </p:txBody>
      </p:sp>
      <p:sp>
        <p:nvSpPr>
          <p:cNvPr id="8" name="Rectangle 7"/>
          <p:cNvSpPr/>
          <p:nvPr/>
        </p:nvSpPr>
        <p:spPr>
          <a:xfrm>
            <a:off x="6298471" y="583217"/>
            <a:ext cx="2170787" cy="276999"/>
          </a:xfrm>
          <a:prstGeom prst="rect">
            <a:avLst/>
          </a:prstGeom>
        </p:spPr>
        <p:txBody>
          <a:bodyPr wrap="none">
            <a:spAutoFit/>
          </a:bodyPr>
          <a:lstStyle/>
          <a:p>
            <a:r>
              <a:rPr lang="en-US" sz="1200" u="sng" dirty="0">
                <a:solidFill>
                  <a:srgbClr val="1B1B1B"/>
                </a:solidFill>
                <a:latin typeface="Inter"/>
                <a:hlinkClick r:id="rId4"/>
              </a:rPr>
              <a:t>Handling a specific error type</a:t>
            </a:r>
            <a:endParaRPr lang="en-US" sz="1200" i="0" dirty="0">
              <a:solidFill>
                <a:srgbClr val="1B1B1B"/>
              </a:solidFill>
              <a:effectLst/>
              <a:latin typeface="Inter"/>
            </a:endParaRPr>
          </a:p>
        </p:txBody>
      </p:sp>
      <p:sp>
        <p:nvSpPr>
          <p:cNvPr id="13" name="Rectangle 12"/>
          <p:cNvSpPr/>
          <p:nvPr/>
        </p:nvSpPr>
        <p:spPr>
          <a:xfrm>
            <a:off x="8925375" y="4479129"/>
            <a:ext cx="3321253" cy="861774"/>
          </a:xfrm>
          <a:prstGeom prst="rect">
            <a:avLst/>
          </a:prstGeom>
          <a:ln>
            <a:solidFill>
              <a:schemeClr val="bg2">
                <a:lumMod val="75000"/>
              </a:schemeClr>
            </a:solidFill>
          </a:ln>
        </p:spPr>
        <p:txBody>
          <a:bodyPr wrap="square">
            <a:spAutoFit/>
          </a:bodyPr>
          <a:lstStyle/>
          <a:p>
            <a:r>
              <a:rPr lang="en-US" sz="1000" b="1" dirty="0" smtClean="0">
                <a:solidFill>
                  <a:srgbClr val="4E4E4E"/>
                </a:solidFill>
                <a:latin typeface="Inter"/>
              </a:rPr>
              <a:t>code (</a:t>
            </a:r>
            <a:r>
              <a:rPr lang="en-US" sz="1000" b="1" dirty="0" err="1" smtClean="0">
                <a:solidFill>
                  <a:srgbClr val="4E4E4E"/>
                </a:solidFill>
                <a:latin typeface="Inter"/>
              </a:rPr>
              <a:t>DOMException</a:t>
            </a:r>
            <a:r>
              <a:rPr lang="en-US" sz="1000" b="1" dirty="0" smtClean="0">
                <a:solidFill>
                  <a:srgbClr val="4E4E4E"/>
                </a:solidFill>
                <a:latin typeface="Inter"/>
              </a:rPr>
              <a:t>) - </a:t>
            </a:r>
            <a:r>
              <a:rPr lang="en-US" sz="1000" b="1" dirty="0" smtClean="0">
                <a:solidFill>
                  <a:srgbClr val="4E4E4E"/>
                </a:solidFill>
                <a:latin typeface="Inter"/>
                <a:hlinkClick r:id="rId5"/>
              </a:rPr>
              <a:t>Deprecated</a:t>
            </a:r>
            <a:r>
              <a:rPr lang="en-US" sz="1000" b="1" dirty="0">
                <a:solidFill>
                  <a:srgbClr val="4E4E4E"/>
                </a:solidFill>
                <a:latin typeface="Inter"/>
              </a:rPr>
              <a:t>:</a:t>
            </a:r>
            <a:r>
              <a:rPr lang="en-US" sz="1000" dirty="0">
                <a:solidFill>
                  <a:srgbClr val="4E4E4E"/>
                </a:solidFill>
                <a:latin typeface="Inter"/>
              </a:rPr>
              <a:t> This feature is no longer recommended. Though some browsers might still support it, it may have already been removed from the relevant web </a:t>
            </a:r>
            <a:r>
              <a:rPr lang="en-US" sz="1000" dirty="0" smtClean="0">
                <a:solidFill>
                  <a:srgbClr val="4E4E4E"/>
                </a:solidFill>
                <a:latin typeface="Inter"/>
              </a:rPr>
              <a:t>standards</a:t>
            </a:r>
          </a:p>
          <a:p>
            <a:r>
              <a:rPr lang="en-US" sz="1000" b="1" dirty="0" smtClean="0">
                <a:solidFill>
                  <a:srgbClr val="00B050"/>
                </a:solidFill>
                <a:latin typeface="Inter"/>
              </a:rPr>
              <a:t>BUT</a:t>
            </a:r>
            <a:r>
              <a:rPr lang="en-US" sz="1000" dirty="0" smtClean="0">
                <a:solidFill>
                  <a:srgbClr val="4E4E4E"/>
                </a:solidFill>
                <a:latin typeface="Inter"/>
              </a:rPr>
              <a:t> </a:t>
            </a:r>
            <a:r>
              <a:rPr lang="en-US" sz="1000" dirty="0" smtClean="0">
                <a:solidFill>
                  <a:srgbClr val="4E4E4E"/>
                </a:solidFill>
                <a:latin typeface="Inter"/>
                <a:hlinkClick r:id="rId6"/>
              </a:rPr>
              <a:t>in Node.js deal</a:t>
            </a:r>
            <a:r>
              <a:rPr lang="en-US" sz="1000" dirty="0" smtClean="0">
                <a:solidFill>
                  <a:srgbClr val="4E4E4E"/>
                </a:solidFill>
                <a:latin typeface="Inter"/>
              </a:rPr>
              <a:t> with ‘CODE’, e.g. </a:t>
            </a:r>
            <a:r>
              <a:rPr lang="en-US" sz="1000" dirty="0" smtClean="0">
                <a:solidFill>
                  <a:srgbClr val="4E4E4E"/>
                </a:solidFill>
                <a:latin typeface="Inter"/>
                <a:hlinkClick r:id="rId7"/>
              </a:rPr>
              <a:t>ENOTDIR</a:t>
            </a:r>
            <a:r>
              <a:rPr lang="en-US" sz="1000" dirty="0" smtClean="0">
                <a:solidFill>
                  <a:srgbClr val="4E4E4E"/>
                </a:solidFill>
                <a:latin typeface="Inter"/>
              </a:rPr>
              <a:t>, </a:t>
            </a:r>
            <a:r>
              <a:rPr lang="en-US" sz="1000" dirty="0" err="1" smtClean="0">
                <a:solidFill>
                  <a:srgbClr val="4E4E4E"/>
                </a:solidFill>
                <a:latin typeface="Inter"/>
              </a:rPr>
              <a:t>etc</a:t>
            </a:r>
            <a:endParaRPr lang="en-US" sz="1000" dirty="0"/>
          </a:p>
        </p:txBody>
      </p:sp>
    </p:spTree>
    <p:extLst>
      <p:ext uri="{BB962C8B-B14F-4D97-AF65-F5344CB8AC3E}">
        <p14:creationId xmlns:p14="http://schemas.microsoft.com/office/powerpoint/2010/main" val="90337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2" descr="The Throwable class and its most significant subclass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6899" y="396848"/>
            <a:ext cx="3425101" cy="240549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8" name="TextBox 17"/>
          <p:cNvSpPr txBox="1"/>
          <p:nvPr/>
        </p:nvSpPr>
        <p:spPr>
          <a:xfrm>
            <a:off x="309832" y="820080"/>
            <a:ext cx="11660624" cy="3785652"/>
          </a:xfrm>
          <a:prstGeom prst="rect">
            <a:avLst/>
          </a:prstGeom>
          <a:noFill/>
        </p:spPr>
        <p:txBody>
          <a:bodyPr wrap="square" rtlCol="0">
            <a:spAutoFit/>
          </a:bodyPr>
          <a:lstStyle/>
          <a:p>
            <a:pPr marL="285750" indent="-285750">
              <a:buFontTx/>
              <a:buChar char="-"/>
            </a:pPr>
            <a:r>
              <a:rPr lang="en-US" b="1" dirty="0" smtClean="0"/>
              <a:t>Checked exceptions </a:t>
            </a:r>
            <a:r>
              <a:rPr lang="en-US" dirty="0"/>
              <a:t> </a:t>
            </a:r>
            <a:r>
              <a:rPr lang="en-US" dirty="0" smtClean="0"/>
              <a:t>-  exceptional </a:t>
            </a:r>
            <a:r>
              <a:rPr lang="en-US" dirty="0"/>
              <a:t>conditions </a:t>
            </a:r>
            <a:r>
              <a:rPr lang="en-US" dirty="0" smtClean="0"/>
              <a:t>should anticipate and </a:t>
            </a:r>
            <a:r>
              <a:rPr lang="en-US" dirty="0"/>
              <a:t>recover </a:t>
            </a:r>
            <a:r>
              <a:rPr lang="en-US" dirty="0" smtClean="0"/>
              <a:t>from, and</a:t>
            </a:r>
          </a:p>
          <a:p>
            <a:r>
              <a:rPr lang="en-US" dirty="0" smtClean="0"/>
              <a:t>subject to (compiler forces) </a:t>
            </a:r>
            <a:r>
              <a:rPr lang="en-US" u="sng" dirty="0" smtClean="0"/>
              <a:t>Handle or Declare(Specify) [*]</a:t>
            </a:r>
            <a:r>
              <a:rPr lang="en-US" dirty="0" smtClean="0"/>
              <a:t>. E.g. Path (wrong-file-name)  </a:t>
            </a:r>
          </a:p>
          <a:p>
            <a:pPr marL="285750" indent="-285750">
              <a:buFontTx/>
              <a:buChar char="-"/>
            </a:pPr>
            <a:r>
              <a:rPr lang="en-US" b="1" dirty="0" smtClean="0"/>
              <a:t>Unchecked exceptions (Errors, Runtime Exceptions) </a:t>
            </a:r>
            <a:r>
              <a:rPr lang="en-US" i="1" dirty="0"/>
              <a:t>are not </a:t>
            </a:r>
            <a:r>
              <a:rPr lang="en-US" i="1" dirty="0" smtClean="0"/>
              <a:t>subject to</a:t>
            </a:r>
            <a:r>
              <a:rPr lang="en-US" dirty="0"/>
              <a:t> </a:t>
            </a:r>
            <a:r>
              <a:rPr lang="en-US" dirty="0" smtClean="0"/>
              <a:t>[*])</a:t>
            </a:r>
          </a:p>
          <a:p>
            <a:r>
              <a:rPr lang="en-US" b="1" dirty="0" smtClean="0"/>
              <a:t>Errors</a:t>
            </a:r>
            <a:r>
              <a:rPr lang="en-US" dirty="0"/>
              <a:t> </a:t>
            </a:r>
            <a:r>
              <a:rPr lang="en-US" dirty="0" smtClean="0"/>
              <a:t> - </a:t>
            </a:r>
            <a:r>
              <a:rPr lang="en-US" i="1" dirty="0" smtClean="0"/>
              <a:t> </a:t>
            </a:r>
            <a:r>
              <a:rPr lang="en-US" dirty="0" smtClean="0"/>
              <a:t>external </a:t>
            </a:r>
            <a:r>
              <a:rPr lang="en-US" dirty="0"/>
              <a:t>to the </a:t>
            </a:r>
            <a:r>
              <a:rPr lang="en-US" dirty="0" smtClean="0"/>
              <a:t>app.,  recovery not possible.</a:t>
            </a:r>
            <a:r>
              <a:rPr lang="en-US" dirty="0"/>
              <a:t> </a:t>
            </a:r>
            <a:r>
              <a:rPr lang="en-US" dirty="0" smtClean="0"/>
              <a:t>E.g. Hardware issue</a:t>
            </a:r>
          </a:p>
          <a:p>
            <a:r>
              <a:rPr lang="en-US" b="1" dirty="0" smtClean="0"/>
              <a:t>R</a:t>
            </a:r>
            <a:r>
              <a:rPr lang="en-US" b="1" i="1" dirty="0" smtClean="0"/>
              <a:t>untime exception</a:t>
            </a:r>
            <a:r>
              <a:rPr lang="en-US" dirty="0"/>
              <a:t> </a:t>
            </a:r>
            <a:r>
              <a:rPr lang="en-US" dirty="0" smtClean="0"/>
              <a:t>-  internal </a:t>
            </a:r>
            <a:r>
              <a:rPr lang="en-US" dirty="0"/>
              <a:t>to the </a:t>
            </a:r>
            <a:r>
              <a:rPr lang="en-US" dirty="0" smtClean="0"/>
              <a:t>app., </a:t>
            </a:r>
            <a:r>
              <a:rPr lang="en-US" dirty="0"/>
              <a:t>recovery not </a:t>
            </a:r>
            <a:r>
              <a:rPr lang="en-US" dirty="0" smtClean="0"/>
              <a:t>possible.  E.g. Program err.</a:t>
            </a:r>
          </a:p>
          <a:p>
            <a:endParaRPr lang="en-US" sz="2400" dirty="0" smtClean="0">
              <a:solidFill>
                <a:srgbClr val="00B050"/>
              </a:solidFill>
            </a:endParaRPr>
          </a:p>
          <a:p>
            <a:r>
              <a:rPr lang="en-US" b="1" dirty="0" smtClean="0">
                <a:solidFill>
                  <a:srgbClr val="00B0F0"/>
                </a:solidFill>
              </a:rPr>
              <a:t>Enhanced Features</a:t>
            </a:r>
            <a:r>
              <a:rPr lang="en-US" dirty="0" smtClean="0"/>
              <a:t>: </a:t>
            </a:r>
          </a:p>
          <a:p>
            <a:r>
              <a:rPr lang="en-US" b="1" dirty="0" smtClean="0"/>
              <a:t>Java 7: </a:t>
            </a:r>
            <a:r>
              <a:rPr lang="en-US" dirty="0" smtClean="0"/>
              <a:t>try-with-resource (</a:t>
            </a:r>
            <a:r>
              <a:rPr lang="en-US" dirty="0" err="1" smtClean="0"/>
              <a:t>AutoCloseable</a:t>
            </a:r>
            <a:r>
              <a:rPr lang="en-US" dirty="0" smtClean="0"/>
              <a:t>),</a:t>
            </a:r>
          </a:p>
          <a:p>
            <a:r>
              <a:rPr lang="en-US" dirty="0" smtClean="0"/>
              <a:t>multi-catch examples, Suppressed,</a:t>
            </a:r>
          </a:p>
          <a:p>
            <a:r>
              <a:rPr lang="en-US" b="1" dirty="0" smtClean="0"/>
              <a:t>Java 9</a:t>
            </a:r>
            <a:r>
              <a:rPr lang="en-US" dirty="0" smtClean="0"/>
              <a:t>:  Thread’s |</a:t>
            </a:r>
            <a:r>
              <a:rPr lang="en-US" dirty="0" err="1" smtClean="0"/>
              <a:t>Throwables’s</a:t>
            </a:r>
            <a:r>
              <a:rPr lang="en-US" dirty="0" smtClean="0"/>
              <a:t> </a:t>
            </a:r>
            <a:r>
              <a:rPr lang="en-US" b="1" dirty="0" err="1" smtClean="0"/>
              <a:t>getStackTrace</a:t>
            </a:r>
            <a:r>
              <a:rPr lang="en-US" b="1" dirty="0" smtClean="0"/>
              <a:t>(),[] </a:t>
            </a:r>
            <a:r>
              <a:rPr lang="en-US" dirty="0" smtClean="0"/>
              <a:t>was costly so new lazy-access to stack-trace </a:t>
            </a:r>
            <a:r>
              <a:rPr lang="en-US" altLang="en-US" sz="1600" b="1" dirty="0" err="1" smtClean="0">
                <a:solidFill>
                  <a:srgbClr val="7C1806"/>
                </a:solidFill>
                <a:latin typeface="Courier New" panose="02070309020205020404" pitchFamily="49" charset="0"/>
                <a:cs typeface="Courier New" panose="02070309020205020404" pitchFamily="49" charset="0"/>
              </a:rPr>
              <a:t>java.lang.StackWalker</a:t>
            </a:r>
            <a:r>
              <a:rPr lang="en-US" altLang="en-US" sz="1600" dirty="0">
                <a:solidFill>
                  <a:srgbClr val="4E4242"/>
                </a:solidFill>
                <a:latin typeface="museo-sans"/>
              </a:rPr>
              <a:t> </a:t>
            </a:r>
            <a:r>
              <a:rPr lang="en-US" altLang="en-US" sz="1600" dirty="0"/>
              <a:t> </a:t>
            </a:r>
            <a:endParaRPr lang="en-US" altLang="en-US" sz="1600" dirty="0">
              <a:latin typeface="Arial" panose="020B0604020202020204" pitchFamily="34" charset="0"/>
            </a:endParaRPr>
          </a:p>
          <a:p>
            <a:r>
              <a:rPr lang="en-US" b="1" dirty="0" smtClean="0"/>
              <a:t>Java 10</a:t>
            </a:r>
            <a:r>
              <a:rPr lang="en-US" dirty="0" smtClean="0"/>
              <a:t> (</a:t>
            </a:r>
            <a:r>
              <a:rPr lang="en-US" altLang="en-US" sz="1200" b="1" dirty="0" smtClean="0">
                <a:solidFill>
                  <a:srgbClr val="000088"/>
                </a:solidFill>
                <a:latin typeface="Courier New" panose="02070309020205020404" pitchFamily="49" charset="0"/>
                <a:cs typeface="Courier New" panose="02070309020205020404" pitchFamily="49" charset="0"/>
              </a:rPr>
              <a:t>try</a:t>
            </a:r>
            <a:r>
              <a:rPr lang="en-US" altLang="en-US" sz="1200" dirty="0" smtClean="0">
                <a:solidFill>
                  <a:srgbClr val="000000"/>
                </a:solidFill>
                <a:latin typeface="Courier New" panose="02070309020205020404" pitchFamily="49" charset="0"/>
                <a:cs typeface="Courier New" panose="02070309020205020404" pitchFamily="49" charset="0"/>
              </a:rPr>
              <a:t> </a:t>
            </a:r>
            <a:r>
              <a:rPr lang="en-US" altLang="en-US" sz="1200" dirty="0">
                <a:solidFill>
                  <a:srgbClr val="666600"/>
                </a:solidFill>
                <a:latin typeface="Courier New" panose="02070309020205020404" pitchFamily="49" charset="0"/>
                <a:cs typeface="Courier New" panose="02070309020205020404" pitchFamily="49" charset="0"/>
              </a:rPr>
              <a:t>(</a:t>
            </a:r>
            <a:r>
              <a:rPr lang="en-US" altLang="en-US" sz="1200" b="1" dirty="0" err="1">
                <a:solidFill>
                  <a:srgbClr val="000088"/>
                </a:solidFill>
                <a:latin typeface="Courier New" panose="02070309020205020404" pitchFamily="49" charset="0"/>
                <a:cs typeface="Courier New" panose="02070309020205020404" pitchFamily="49" charset="0"/>
              </a:rPr>
              <a:t>var</a:t>
            </a:r>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dirty="0" err="1">
                <a:solidFill>
                  <a:srgbClr val="000000"/>
                </a:solidFill>
                <a:latin typeface="Courier New" panose="02070309020205020404" pitchFamily="49" charset="0"/>
                <a:cs typeface="Courier New" panose="02070309020205020404" pitchFamily="49" charset="0"/>
              </a:rPr>
              <a:t>fis</a:t>
            </a:r>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dirty="0">
                <a:solidFill>
                  <a:srgbClr val="666600"/>
                </a:solidFill>
                <a:latin typeface="Courier New" panose="02070309020205020404" pitchFamily="49" charset="0"/>
                <a:cs typeface="Courier New" panose="02070309020205020404" pitchFamily="49" charset="0"/>
              </a:rPr>
              <a:t>=</a:t>
            </a:r>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b="1" dirty="0">
                <a:solidFill>
                  <a:srgbClr val="000088"/>
                </a:solidFill>
                <a:latin typeface="Courier New" panose="02070309020205020404" pitchFamily="49" charset="0"/>
                <a:cs typeface="Courier New" panose="02070309020205020404" pitchFamily="49" charset="0"/>
              </a:rPr>
              <a:t>new</a:t>
            </a:r>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b="1" dirty="0" err="1">
                <a:solidFill>
                  <a:srgbClr val="660066"/>
                </a:solidFill>
                <a:latin typeface="Courier New" panose="02070309020205020404" pitchFamily="49" charset="0"/>
                <a:cs typeface="Courier New" panose="02070309020205020404" pitchFamily="49" charset="0"/>
              </a:rPr>
              <a:t>FileInputStream</a:t>
            </a:r>
            <a:r>
              <a:rPr lang="en-US" altLang="en-US" sz="1200" dirty="0">
                <a:solidFill>
                  <a:srgbClr val="666600"/>
                </a:solidFill>
                <a:latin typeface="Courier New" panose="02070309020205020404" pitchFamily="49" charset="0"/>
                <a:cs typeface="Courier New" panose="02070309020205020404" pitchFamily="49" charset="0"/>
              </a:rPr>
              <a:t>(</a:t>
            </a:r>
            <a:r>
              <a:rPr lang="en-US" altLang="en-US" sz="1200" dirty="0">
                <a:solidFill>
                  <a:srgbClr val="008800"/>
                </a:solidFill>
                <a:latin typeface="Courier New" panose="02070309020205020404" pitchFamily="49" charset="0"/>
                <a:cs typeface="Courier New" panose="02070309020205020404" pitchFamily="49" charset="0"/>
              </a:rPr>
              <a:t>"abc.txt"</a:t>
            </a:r>
            <a:r>
              <a:rPr lang="en-US" altLang="en-US" sz="1200" dirty="0">
                <a:solidFill>
                  <a:srgbClr val="666600"/>
                </a:solidFill>
                <a:latin typeface="Courier New" panose="02070309020205020404" pitchFamily="49" charset="0"/>
                <a:cs typeface="Courier New" panose="02070309020205020404" pitchFamily="49" charset="0"/>
              </a:rPr>
              <a:t>)</a:t>
            </a:r>
            <a:r>
              <a:rPr lang="en-US" altLang="en-US" dirty="0">
                <a:solidFill>
                  <a:srgbClr val="666600"/>
                </a:solidFill>
                <a:latin typeface="Courier New" panose="02070309020205020404" pitchFamily="49" charset="0"/>
                <a:cs typeface="Courier New" panose="02070309020205020404" pitchFamily="49" charset="0"/>
              </a:rPr>
              <a:t>)</a:t>
            </a:r>
            <a:r>
              <a:rPr lang="en-US" altLang="en-US" sz="1400" dirty="0"/>
              <a:t> </a:t>
            </a:r>
            <a:endParaRPr lang="en-US" altLang="en-US" sz="4000" dirty="0">
              <a:latin typeface="Arial" panose="020B0604020202020204" pitchFamily="34" charset="0"/>
            </a:endParaRPr>
          </a:p>
          <a:p>
            <a:endParaRPr lang="en-US" dirty="0" smtClean="0"/>
          </a:p>
          <a:p>
            <a:endParaRPr lang="en-US" dirty="0"/>
          </a:p>
        </p:txBody>
      </p:sp>
      <p:sp>
        <p:nvSpPr>
          <p:cNvPr id="26" name="Rectangle 25"/>
          <p:cNvSpPr/>
          <p:nvPr/>
        </p:nvSpPr>
        <p:spPr>
          <a:xfrm>
            <a:off x="316888" y="175403"/>
            <a:ext cx="2839432" cy="584775"/>
          </a:xfrm>
          <a:prstGeom prst="rect">
            <a:avLst/>
          </a:prstGeom>
        </p:spPr>
        <p:txBody>
          <a:bodyPr wrap="none">
            <a:spAutoFit/>
          </a:bodyPr>
          <a:lstStyle/>
          <a:p>
            <a:r>
              <a:rPr lang="en-US" sz="3200" b="1" i="1" dirty="0" smtClean="0">
                <a:solidFill>
                  <a:srgbClr val="00B050"/>
                </a:solidFill>
              </a:rPr>
              <a:t>Java Exceptions</a:t>
            </a:r>
            <a:endParaRPr lang="en-US" sz="3200" b="1" i="1" dirty="0">
              <a:solidFill>
                <a:srgbClr val="00B050"/>
              </a:solidFill>
            </a:endParaRPr>
          </a:p>
        </p:txBody>
      </p:sp>
      <p:pic>
        <p:nvPicPr>
          <p:cNvPr id="35" name="Picture 34"/>
          <p:cNvPicPr>
            <a:picLocks noChangeAspect="1"/>
          </p:cNvPicPr>
          <p:nvPr/>
        </p:nvPicPr>
        <p:blipFill>
          <a:blip r:embed="rId4"/>
          <a:stretch>
            <a:fillRect/>
          </a:stretch>
        </p:blipFill>
        <p:spPr>
          <a:xfrm>
            <a:off x="4684889" y="2467188"/>
            <a:ext cx="5682545" cy="895032"/>
          </a:xfrm>
          <a:prstGeom prst="rect">
            <a:avLst/>
          </a:prstGeom>
        </p:spPr>
      </p:pic>
      <p:sp>
        <p:nvSpPr>
          <p:cNvPr id="39" name="TextBox 38"/>
          <p:cNvSpPr txBox="1"/>
          <p:nvPr/>
        </p:nvSpPr>
        <p:spPr>
          <a:xfrm>
            <a:off x="184731" y="4250649"/>
            <a:ext cx="4883252" cy="2369880"/>
          </a:xfrm>
          <a:prstGeom prst="rect">
            <a:avLst/>
          </a:prstGeom>
          <a:noFill/>
        </p:spPr>
        <p:txBody>
          <a:bodyPr wrap="square" rtlCol="0">
            <a:spAutoFit/>
          </a:bodyPr>
          <a:lstStyle/>
          <a:p>
            <a:r>
              <a:rPr lang="en-US" b="1" dirty="0" smtClean="0">
                <a:solidFill>
                  <a:srgbClr val="00B050"/>
                </a:solidFill>
              </a:rPr>
              <a:t>Suppressed Exceptions </a:t>
            </a:r>
            <a:r>
              <a:rPr lang="en-US" b="1" dirty="0" smtClean="0"/>
              <a:t>-  </a:t>
            </a:r>
            <a:r>
              <a:rPr lang="en-US" sz="1600" b="1" dirty="0" err="1" smtClean="0"/>
              <a:t>demoSuppressException</a:t>
            </a:r>
            <a:r>
              <a:rPr lang="en-US" sz="1600" dirty="0" smtClean="0"/>
              <a:t>  method throws </a:t>
            </a:r>
            <a:r>
              <a:rPr lang="en-US" sz="1600" dirty="0"/>
              <a:t>the exception thrown from  </a:t>
            </a:r>
            <a:r>
              <a:rPr lang="en-US" sz="1600" dirty="0" smtClean="0"/>
              <a:t>the</a:t>
            </a:r>
            <a:r>
              <a:rPr lang="en-US" sz="1600" dirty="0"/>
              <a:t> </a:t>
            </a:r>
            <a:r>
              <a:rPr lang="en-US" sz="1600" b="1" dirty="0"/>
              <a:t>finally block</a:t>
            </a:r>
            <a:r>
              <a:rPr lang="en-US" sz="1600" dirty="0" smtClean="0"/>
              <a:t>;  </a:t>
            </a:r>
            <a:r>
              <a:rPr lang="en-US" sz="1600" dirty="0"/>
              <a:t>the exception thrown from the </a:t>
            </a:r>
            <a:r>
              <a:rPr lang="en-US" sz="1600" b="1" dirty="0" smtClean="0"/>
              <a:t>catch block (or even in try block)</a:t>
            </a:r>
            <a:r>
              <a:rPr lang="en-US" sz="1600" dirty="0" smtClean="0"/>
              <a:t> </a:t>
            </a:r>
            <a:r>
              <a:rPr lang="en-US" sz="1600" dirty="0"/>
              <a:t>is </a:t>
            </a:r>
            <a:r>
              <a:rPr lang="en-US" sz="1600" b="1" dirty="0"/>
              <a:t>suppressed</a:t>
            </a:r>
            <a:r>
              <a:rPr lang="en-US" sz="1600" dirty="0" smtClean="0"/>
              <a:t>. </a:t>
            </a:r>
          </a:p>
          <a:p>
            <a:pPr marL="342900" indent="-342900">
              <a:buAutoNum type="arabicParenR"/>
            </a:pPr>
            <a:r>
              <a:rPr lang="en-US" sz="1600" dirty="0" smtClean="0"/>
              <a:t>Use Java 7 </a:t>
            </a:r>
            <a:r>
              <a:rPr lang="en-US" sz="1600" dirty="0"/>
              <a:t> </a:t>
            </a:r>
            <a:r>
              <a:rPr lang="en-US" sz="1600" b="1" dirty="0" err="1" smtClean="0">
                <a:solidFill>
                  <a:srgbClr val="7030A0"/>
                </a:solidFill>
              </a:rPr>
              <a:t>Throwable</a:t>
            </a:r>
            <a:r>
              <a:rPr lang="en-US" sz="1600" b="1" dirty="0" smtClean="0">
                <a:solidFill>
                  <a:srgbClr val="7030A0"/>
                </a:solidFill>
              </a:rPr>
              <a:t> </a:t>
            </a:r>
            <a:r>
              <a:rPr lang="en-US" sz="1600" b="1" dirty="0" err="1" smtClean="0">
                <a:solidFill>
                  <a:srgbClr val="7030A0"/>
                </a:solidFill>
              </a:rPr>
              <a:t>addSuppressed</a:t>
            </a:r>
            <a:r>
              <a:rPr lang="en-US" sz="1600" b="1" dirty="0" smtClean="0">
                <a:solidFill>
                  <a:srgbClr val="7030A0"/>
                </a:solidFill>
              </a:rPr>
              <a:t> </a:t>
            </a:r>
            <a:r>
              <a:rPr lang="en-US" dirty="0" smtClean="0"/>
              <a:t> and </a:t>
            </a:r>
            <a:r>
              <a:rPr lang="en-US" sz="1600" b="1" dirty="0" err="1" smtClean="0">
                <a:solidFill>
                  <a:srgbClr val="7030A0"/>
                </a:solidFill>
              </a:rPr>
              <a:t>getSuppressed</a:t>
            </a:r>
            <a:r>
              <a:rPr lang="en-US" sz="1600" b="1" dirty="0">
                <a:solidFill>
                  <a:srgbClr val="7030A0"/>
                </a:solidFill>
              </a:rPr>
              <a:t> </a:t>
            </a:r>
            <a:r>
              <a:rPr lang="en-US" sz="1600" dirty="0" smtClean="0"/>
              <a:t>methods to get lost exceptions </a:t>
            </a:r>
          </a:p>
          <a:p>
            <a:pPr marL="342900" indent="-342900">
              <a:buAutoNum type="arabicParenR"/>
            </a:pPr>
            <a:r>
              <a:rPr lang="en-US" sz="1600" dirty="0" smtClean="0"/>
              <a:t>Or use try-with-resource Java approach, then you see original Exception will be thrown </a:t>
            </a:r>
          </a:p>
          <a:p>
            <a:pPr marL="342900" indent="-342900">
              <a:buAutoNum type="arabicParenR"/>
            </a:pPr>
            <a:r>
              <a:rPr lang="en-US" sz="1600" dirty="0" smtClean="0"/>
              <a:t>Or safe code – validation check </a:t>
            </a:r>
            <a:endParaRPr lang="en-US" sz="1600" dirty="0"/>
          </a:p>
        </p:txBody>
      </p:sp>
      <p:pic>
        <p:nvPicPr>
          <p:cNvPr id="44" name="Picture 43"/>
          <p:cNvPicPr>
            <a:picLocks noChangeAspect="1"/>
          </p:cNvPicPr>
          <p:nvPr/>
        </p:nvPicPr>
        <p:blipFill>
          <a:blip r:embed="rId5"/>
          <a:stretch>
            <a:fillRect/>
          </a:stretch>
        </p:blipFill>
        <p:spPr>
          <a:xfrm>
            <a:off x="4876050" y="4500235"/>
            <a:ext cx="7219507" cy="2119107"/>
          </a:xfrm>
          <a:prstGeom prst="rect">
            <a:avLst/>
          </a:prstGeom>
        </p:spPr>
      </p:pic>
    </p:spTree>
    <p:extLst>
      <p:ext uri="{BB962C8B-B14F-4D97-AF65-F5344CB8AC3E}">
        <p14:creationId xmlns:p14="http://schemas.microsoft.com/office/powerpoint/2010/main" val="32443242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8" name="TextBox 17"/>
          <p:cNvSpPr txBox="1"/>
          <p:nvPr/>
        </p:nvSpPr>
        <p:spPr>
          <a:xfrm>
            <a:off x="184731" y="629430"/>
            <a:ext cx="11875112" cy="1200329"/>
          </a:xfrm>
          <a:prstGeom prst="rect">
            <a:avLst/>
          </a:prstGeom>
          <a:noFill/>
        </p:spPr>
        <p:txBody>
          <a:bodyPr wrap="square" rtlCol="0">
            <a:spAutoFit/>
          </a:bodyPr>
          <a:lstStyle/>
          <a:p>
            <a:r>
              <a:rPr lang="en-US" dirty="0" smtClean="0"/>
              <a:t>Java </a:t>
            </a:r>
            <a:r>
              <a:rPr lang="en-US" dirty="0"/>
              <a:t>programming language does not require methods to </a:t>
            </a:r>
            <a:r>
              <a:rPr lang="en-US" b="1" dirty="0"/>
              <a:t>catch or to specify</a:t>
            </a:r>
            <a:r>
              <a:rPr lang="en-US" dirty="0"/>
              <a:t> unchecked </a:t>
            </a:r>
            <a:r>
              <a:rPr lang="en-US" dirty="0" smtClean="0"/>
              <a:t>exceptions (compiler not forces) </a:t>
            </a:r>
            <a:endParaRPr lang="en-US" dirty="0"/>
          </a:p>
          <a:p>
            <a:r>
              <a:rPr lang="en-US" b="1" dirty="0" smtClean="0">
                <a:solidFill>
                  <a:srgbClr val="00B0F0"/>
                </a:solidFill>
              </a:rPr>
              <a:t>Wrap </a:t>
            </a:r>
            <a:r>
              <a:rPr lang="en-US" b="1" dirty="0">
                <a:solidFill>
                  <a:srgbClr val="00B0F0"/>
                </a:solidFill>
              </a:rPr>
              <a:t>the Exception Without Consuming </a:t>
            </a:r>
            <a:r>
              <a:rPr lang="en-US" b="1" dirty="0" smtClean="0">
                <a:solidFill>
                  <a:srgbClr val="00B0F0"/>
                </a:solidFill>
              </a:rPr>
              <a:t>it – </a:t>
            </a:r>
            <a:r>
              <a:rPr lang="en-US" dirty="0" smtClean="0"/>
              <a:t>your </a:t>
            </a:r>
          </a:p>
          <a:p>
            <a:r>
              <a:rPr lang="en-US" dirty="0" smtClean="0"/>
              <a:t>Custom Exceptions to add additional business spec-info. E.g. </a:t>
            </a:r>
          </a:p>
          <a:p>
            <a:r>
              <a:rPr lang="en-US" dirty="0" smtClean="0"/>
              <a:t>Contactless payment Provisioning err. Or Spring </a:t>
            </a:r>
            <a:r>
              <a:rPr lang="en-US" dirty="0"/>
              <a:t> </a:t>
            </a:r>
            <a:r>
              <a:rPr lang="en-US" dirty="0" smtClean="0"/>
              <a:t>exceptions.</a:t>
            </a:r>
          </a:p>
        </p:txBody>
      </p:sp>
      <p:sp>
        <p:nvSpPr>
          <p:cNvPr id="26" name="Rectangle 25"/>
          <p:cNvSpPr/>
          <p:nvPr/>
        </p:nvSpPr>
        <p:spPr>
          <a:xfrm>
            <a:off x="184731" y="96901"/>
            <a:ext cx="7224863" cy="1077218"/>
          </a:xfrm>
          <a:prstGeom prst="rect">
            <a:avLst/>
          </a:prstGeom>
        </p:spPr>
        <p:txBody>
          <a:bodyPr wrap="none">
            <a:spAutoFit/>
          </a:bodyPr>
          <a:lstStyle/>
          <a:p>
            <a:r>
              <a:rPr lang="en-US" sz="3200" b="1" i="1" dirty="0" smtClean="0">
                <a:solidFill>
                  <a:srgbClr val="00B050"/>
                </a:solidFill>
              </a:rPr>
              <a:t>Unchecked </a:t>
            </a:r>
            <a:r>
              <a:rPr lang="en-US" sz="3200" b="1" i="1" dirty="0">
                <a:solidFill>
                  <a:srgbClr val="00B050"/>
                </a:solidFill>
              </a:rPr>
              <a:t>Exceptions — The Controversy</a:t>
            </a:r>
          </a:p>
          <a:p>
            <a:endParaRPr lang="en-US" sz="3200" b="1" i="1" dirty="0">
              <a:solidFill>
                <a:srgbClr val="00B050"/>
              </a:solidFill>
            </a:endParaRPr>
          </a:p>
        </p:txBody>
      </p:sp>
      <p:sp>
        <p:nvSpPr>
          <p:cNvPr id="17" name="Rectangle 16"/>
          <p:cNvSpPr/>
          <p:nvPr/>
        </p:nvSpPr>
        <p:spPr>
          <a:xfrm>
            <a:off x="184731" y="2059713"/>
            <a:ext cx="11589580" cy="1477328"/>
          </a:xfrm>
          <a:prstGeom prst="rect">
            <a:avLst/>
          </a:prstGeom>
        </p:spPr>
        <p:txBody>
          <a:bodyPr wrap="square">
            <a:spAutoFit/>
          </a:bodyPr>
          <a:lstStyle/>
          <a:p>
            <a:r>
              <a:rPr lang="en-US" dirty="0" smtClean="0">
                <a:solidFill>
                  <a:srgbClr val="FF0000"/>
                </a:solidFill>
                <a:latin typeface="Arial" panose="020B0604020202020204" pitchFamily="34" charset="0"/>
              </a:rPr>
              <a:t>Avoid </a:t>
            </a:r>
            <a:r>
              <a:rPr lang="en-US" dirty="0">
                <a:solidFill>
                  <a:srgbClr val="FF0000"/>
                </a:solidFill>
                <a:latin typeface="Arial" panose="020B0604020202020204" pitchFamily="34" charset="0"/>
              </a:rPr>
              <a:t>unnecessary use of Checked </a:t>
            </a:r>
            <a:r>
              <a:rPr lang="en-US" dirty="0" smtClean="0">
                <a:solidFill>
                  <a:srgbClr val="FF0000"/>
                </a:solidFill>
                <a:latin typeface="Arial" panose="020B0604020202020204" pitchFamily="34" charset="0"/>
              </a:rPr>
              <a:t>Exceptions</a:t>
            </a:r>
            <a:r>
              <a:rPr lang="en-US" dirty="0" smtClean="0">
                <a:solidFill>
                  <a:srgbClr val="000000"/>
                </a:solidFill>
                <a:latin typeface="Arial" panose="020B0604020202020204" pitchFamily="34" charset="0"/>
              </a:rPr>
              <a:t> </a:t>
            </a:r>
            <a:r>
              <a:rPr lang="en-US" dirty="0" smtClean="0"/>
              <a:t> </a:t>
            </a:r>
          </a:p>
          <a:p>
            <a:r>
              <a:rPr lang="en-US" dirty="0" smtClean="0"/>
              <a:t>Checked </a:t>
            </a:r>
            <a:r>
              <a:rPr lang="en-US" dirty="0"/>
              <a:t>exceptions can increase </a:t>
            </a:r>
            <a:r>
              <a:rPr lang="en-US" dirty="0" smtClean="0"/>
              <a:t>the reliability </a:t>
            </a:r>
            <a:r>
              <a:rPr lang="en-US" dirty="0"/>
              <a:t>of </a:t>
            </a:r>
            <a:r>
              <a:rPr lang="en-US" dirty="0" smtClean="0"/>
              <a:t>programs [;) see swallowed exception] - when </a:t>
            </a:r>
            <a:r>
              <a:rPr lang="en-US" dirty="0"/>
              <a:t>overused, they make APIs painful to use</a:t>
            </a:r>
            <a:r>
              <a:rPr lang="en-US" dirty="0" smtClean="0"/>
              <a:t>.  Java </a:t>
            </a:r>
            <a:r>
              <a:rPr lang="en-US" dirty="0"/>
              <a:t>8, as </a:t>
            </a:r>
            <a:r>
              <a:rPr lang="en-US" dirty="0" smtClean="0"/>
              <a:t>methods throwing </a:t>
            </a:r>
            <a:r>
              <a:rPr lang="en-US" b="1" dirty="0"/>
              <a:t>checked exceptions can’t be used directly in </a:t>
            </a:r>
            <a:r>
              <a:rPr lang="en-US" b="1" dirty="0" smtClean="0"/>
              <a:t>streams </a:t>
            </a:r>
          </a:p>
          <a:p>
            <a:r>
              <a:rPr lang="en-US" dirty="0" smtClean="0"/>
              <a:t> -  Instead </a:t>
            </a:r>
            <a:r>
              <a:rPr lang="en-US" dirty="0"/>
              <a:t>of throwing a checked exception, </a:t>
            </a:r>
            <a:r>
              <a:rPr lang="en-US" dirty="0" smtClean="0"/>
              <a:t>the method </a:t>
            </a:r>
            <a:r>
              <a:rPr lang="en-US" dirty="0"/>
              <a:t>simply returns an empty optional</a:t>
            </a:r>
            <a:r>
              <a:rPr lang="en-US" dirty="0" smtClean="0"/>
              <a:t>. (can’t return additional info)</a:t>
            </a:r>
          </a:p>
          <a:p>
            <a:r>
              <a:rPr lang="en-US" dirty="0" smtClean="0"/>
              <a:t>-  Turn Checked Exception  into Unchecked </a:t>
            </a:r>
            <a:endParaRPr lang="en-US" dirty="0"/>
          </a:p>
        </p:txBody>
      </p:sp>
      <p:pic>
        <p:nvPicPr>
          <p:cNvPr id="25" name="Picture 24"/>
          <p:cNvPicPr>
            <a:picLocks noChangeAspect="1"/>
          </p:cNvPicPr>
          <p:nvPr/>
        </p:nvPicPr>
        <p:blipFill>
          <a:blip r:embed="rId3"/>
          <a:stretch>
            <a:fillRect/>
          </a:stretch>
        </p:blipFill>
        <p:spPr>
          <a:xfrm>
            <a:off x="668284" y="3689490"/>
            <a:ext cx="3644071" cy="1175776"/>
          </a:xfrm>
          <a:prstGeom prst="rect">
            <a:avLst/>
          </a:prstGeom>
        </p:spPr>
      </p:pic>
      <p:pic>
        <p:nvPicPr>
          <p:cNvPr id="27" name="Picture 26"/>
          <p:cNvPicPr>
            <a:picLocks noChangeAspect="1"/>
          </p:cNvPicPr>
          <p:nvPr/>
        </p:nvPicPr>
        <p:blipFill>
          <a:blip r:embed="rId4"/>
          <a:stretch>
            <a:fillRect/>
          </a:stretch>
        </p:blipFill>
        <p:spPr>
          <a:xfrm>
            <a:off x="5207032" y="3412713"/>
            <a:ext cx="6290273" cy="1614710"/>
          </a:xfrm>
          <a:prstGeom prst="rect">
            <a:avLst/>
          </a:prstGeom>
        </p:spPr>
      </p:pic>
      <p:cxnSp>
        <p:nvCxnSpPr>
          <p:cNvPr id="30" name="Straight Connector 29"/>
          <p:cNvCxnSpPr/>
          <p:nvPr/>
        </p:nvCxnSpPr>
        <p:spPr>
          <a:xfrm>
            <a:off x="4754049" y="3689490"/>
            <a:ext cx="11289" cy="1061156"/>
          </a:xfrm>
          <a:prstGeom prst="line">
            <a:avLst/>
          </a:prstGeom>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184731" y="4826675"/>
            <a:ext cx="11589580" cy="2031325"/>
          </a:xfrm>
          <a:prstGeom prst="rect">
            <a:avLst/>
          </a:prstGeom>
        </p:spPr>
        <p:txBody>
          <a:bodyPr wrap="square">
            <a:spAutoFit/>
          </a:bodyPr>
          <a:lstStyle/>
          <a:p>
            <a:r>
              <a:rPr lang="en-US" dirty="0" err="1" smtClean="0">
                <a:solidFill>
                  <a:srgbClr val="FF0000"/>
                </a:solidFill>
                <a:latin typeface="Arial" panose="020B0604020202020204" pitchFamily="34" charset="0"/>
              </a:rPr>
              <a:t>Antipatterns</a:t>
            </a:r>
            <a:r>
              <a:rPr lang="en-US" dirty="0" smtClean="0">
                <a:solidFill>
                  <a:srgbClr val="FF0000"/>
                </a:solidFill>
                <a:latin typeface="Arial" panose="020B0604020202020204" pitchFamily="34" charset="0"/>
              </a:rPr>
              <a:t> </a:t>
            </a:r>
          </a:p>
          <a:p>
            <a:r>
              <a:rPr lang="en-US" dirty="0" smtClean="0"/>
              <a:t>- </a:t>
            </a:r>
            <a:r>
              <a:rPr lang="en-US" b="1" dirty="0" smtClean="0"/>
              <a:t>   Swallowing Exceptions</a:t>
            </a:r>
            <a:r>
              <a:rPr lang="en-US" dirty="0" smtClean="0"/>
              <a:t>:     </a:t>
            </a:r>
            <a:r>
              <a:rPr lang="en-US" dirty="0"/>
              <a:t>try { // ... } catch (Exception e) {} // &lt;== catch and </a:t>
            </a:r>
            <a:r>
              <a:rPr lang="en-US" dirty="0" smtClean="0"/>
              <a:t>swallow  </a:t>
            </a:r>
          </a:p>
          <a:p>
            <a:pPr marL="285750" indent="-285750">
              <a:buFontTx/>
              <a:buChar char="-"/>
            </a:pPr>
            <a:r>
              <a:rPr lang="en-US" b="1" dirty="0" smtClean="0"/>
              <a:t>Using</a:t>
            </a:r>
            <a:r>
              <a:rPr lang="en-US" b="1" dirty="0"/>
              <a:t> </a:t>
            </a:r>
            <a:r>
              <a:rPr lang="en-US" b="1" i="1" dirty="0" smtClean="0"/>
              <a:t>return</a:t>
            </a:r>
            <a:r>
              <a:rPr lang="en-US" b="1" dirty="0"/>
              <a:t> in a </a:t>
            </a:r>
            <a:r>
              <a:rPr lang="en-US" b="1" i="1" dirty="0"/>
              <a:t>finally </a:t>
            </a:r>
            <a:r>
              <a:rPr lang="en-US" b="1" dirty="0" smtClean="0"/>
              <a:t>Block: </a:t>
            </a:r>
            <a:r>
              <a:rPr lang="en-US" dirty="0" smtClean="0"/>
              <a:t>see </a:t>
            </a:r>
            <a:r>
              <a:rPr lang="en-US" b="1" dirty="0" smtClean="0"/>
              <a:t> </a:t>
            </a:r>
            <a:r>
              <a:rPr lang="en-US" dirty="0" err="1" smtClean="0">
                <a:solidFill>
                  <a:srgbClr val="FF0000"/>
                </a:solidFill>
              </a:rPr>
              <a:t>JavaDemoExceptionsAntipatterns</a:t>
            </a:r>
            <a:r>
              <a:rPr lang="en-US" b="1" dirty="0" smtClean="0">
                <a:solidFill>
                  <a:srgbClr val="FF0000"/>
                </a:solidFill>
              </a:rPr>
              <a:t> </a:t>
            </a:r>
            <a:r>
              <a:rPr lang="en-US" dirty="0"/>
              <a:t>and </a:t>
            </a:r>
            <a:r>
              <a:rPr lang="en-US" dirty="0" smtClean="0"/>
              <a:t>According </a:t>
            </a:r>
            <a:r>
              <a:rPr lang="en-US" dirty="0"/>
              <a:t>to the </a:t>
            </a:r>
            <a:r>
              <a:rPr lang="en-US" dirty="0">
                <a:hlinkClick r:id="rId5"/>
              </a:rPr>
              <a:t>Java Language Specification</a:t>
            </a:r>
            <a:r>
              <a:rPr lang="en-US" dirty="0" smtClean="0"/>
              <a:t>:</a:t>
            </a:r>
          </a:p>
          <a:p>
            <a:pPr marL="285750" indent="-285750">
              <a:buFontTx/>
              <a:buChar char="-"/>
            </a:pPr>
            <a:r>
              <a:rPr lang="en-US" b="1" dirty="0" smtClean="0"/>
              <a:t>Using</a:t>
            </a:r>
            <a:r>
              <a:rPr lang="en-US" b="1" dirty="0"/>
              <a:t> </a:t>
            </a:r>
            <a:r>
              <a:rPr lang="en-US" b="1" dirty="0" smtClean="0"/>
              <a:t>throw in </a:t>
            </a:r>
            <a:r>
              <a:rPr lang="en-US" b="1" dirty="0"/>
              <a:t>a </a:t>
            </a:r>
            <a:r>
              <a:rPr lang="en-US" b="1" i="1" dirty="0"/>
              <a:t>finally </a:t>
            </a:r>
            <a:r>
              <a:rPr lang="en-US" b="1" dirty="0" smtClean="0"/>
              <a:t>Block</a:t>
            </a:r>
            <a:r>
              <a:rPr lang="en-US" b="1" dirty="0"/>
              <a:t> </a:t>
            </a:r>
            <a:endParaRPr lang="en-US" b="1" dirty="0" smtClean="0"/>
          </a:p>
          <a:p>
            <a:pPr marL="285750" indent="-285750">
              <a:buFontTx/>
              <a:buChar char="-"/>
            </a:pPr>
            <a:r>
              <a:rPr lang="en-US" b="1" dirty="0"/>
              <a:t>Using throw </a:t>
            </a:r>
            <a:r>
              <a:rPr lang="en-US" b="1" dirty="0" smtClean="0"/>
              <a:t>as Go To  </a:t>
            </a:r>
          </a:p>
          <a:p>
            <a:pPr marL="285750" indent="-285750">
              <a:buFontTx/>
              <a:buChar char="-"/>
            </a:pPr>
            <a:r>
              <a:rPr lang="en-US" b="1" dirty="0" smtClean="0"/>
              <a:t>Log and Throw</a:t>
            </a:r>
            <a:r>
              <a:rPr lang="en-US" dirty="0" smtClean="0"/>
              <a:t> - </a:t>
            </a:r>
            <a:r>
              <a:rPr lang="en-US" dirty="0"/>
              <a:t>try { // ... } catch (Exception e) </a:t>
            </a:r>
            <a:r>
              <a:rPr lang="en-US" dirty="0" smtClean="0"/>
              <a:t>{ </a:t>
            </a:r>
            <a:r>
              <a:rPr lang="en-US" dirty="0" err="1" smtClean="0"/>
              <a:t>log.error</a:t>
            </a:r>
            <a:r>
              <a:rPr lang="en-US" dirty="0" smtClean="0"/>
              <a:t>(e); throw e};   //It will write multiple err-</a:t>
            </a:r>
            <a:r>
              <a:rPr lang="en-US" dirty="0" err="1" smtClean="0"/>
              <a:t>msg</a:t>
            </a:r>
            <a:r>
              <a:rPr lang="en-US" dirty="0" smtClean="0"/>
              <a:t> for same ex.</a:t>
            </a:r>
          </a:p>
          <a:p>
            <a:pPr marL="285750" indent="-285750">
              <a:buFontTx/>
              <a:buChar char="-"/>
            </a:pPr>
            <a:r>
              <a:rPr lang="en-US" b="1" dirty="0" smtClean="0"/>
              <a:t>Not documenting </a:t>
            </a:r>
            <a:r>
              <a:rPr lang="en-US" b="1" dirty="0" err="1" smtClean="0"/>
              <a:t>Exceptiong</a:t>
            </a:r>
            <a:r>
              <a:rPr lang="en-US" b="1" dirty="0" smtClean="0"/>
              <a:t> in Java doc  - </a:t>
            </a:r>
            <a:r>
              <a:rPr lang="en-US" dirty="0" smtClean="0"/>
              <a:t>@throws</a:t>
            </a:r>
            <a:endParaRPr lang="en-US" dirty="0"/>
          </a:p>
        </p:txBody>
      </p:sp>
      <p:pic>
        <p:nvPicPr>
          <p:cNvPr id="31" name="Picture 30"/>
          <p:cNvPicPr>
            <a:picLocks noChangeAspect="1"/>
          </p:cNvPicPr>
          <p:nvPr/>
        </p:nvPicPr>
        <p:blipFill>
          <a:blip r:embed="rId6"/>
          <a:stretch>
            <a:fillRect/>
          </a:stretch>
        </p:blipFill>
        <p:spPr>
          <a:xfrm>
            <a:off x="6121249" y="1123453"/>
            <a:ext cx="5600700" cy="1276350"/>
          </a:xfrm>
          <a:prstGeom prst="rect">
            <a:avLst/>
          </a:prstGeom>
        </p:spPr>
      </p:pic>
    </p:spTree>
    <p:extLst>
      <p:ext uri="{BB962C8B-B14F-4D97-AF65-F5344CB8AC3E}">
        <p14:creationId xmlns:p14="http://schemas.microsoft.com/office/powerpoint/2010/main" val="4327459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8" name="TextBox 17"/>
          <p:cNvSpPr txBox="1"/>
          <p:nvPr/>
        </p:nvSpPr>
        <p:spPr>
          <a:xfrm>
            <a:off x="215288" y="805673"/>
            <a:ext cx="10852388" cy="923330"/>
          </a:xfrm>
          <a:prstGeom prst="rect">
            <a:avLst/>
          </a:prstGeom>
          <a:noFill/>
        </p:spPr>
        <p:txBody>
          <a:bodyPr wrap="square" rtlCol="0">
            <a:spAutoFit/>
          </a:bodyPr>
          <a:lstStyle/>
          <a:p>
            <a:r>
              <a:rPr lang="en-US" dirty="0"/>
              <a:t>HTTP works as a request-response protocol between a client and server</a:t>
            </a:r>
            <a:r>
              <a:rPr lang="en-US" dirty="0" smtClean="0"/>
              <a:t>.  </a:t>
            </a:r>
          </a:p>
          <a:p>
            <a:r>
              <a:rPr lang="en-US" dirty="0"/>
              <a:t>HTTP Methods:   </a:t>
            </a:r>
            <a:r>
              <a:rPr lang="en-US" dirty="0">
                <a:solidFill>
                  <a:srgbClr val="000000"/>
                </a:solidFill>
                <a:latin typeface="Verdana" panose="020B0604030504040204" pitchFamily="34" charset="0"/>
              </a:rPr>
              <a:t>GET, POST, PUT, HEAD, DELETE, PATCH, </a:t>
            </a:r>
            <a:r>
              <a:rPr lang="en-US" dirty="0" smtClean="0">
                <a:solidFill>
                  <a:srgbClr val="000000"/>
                </a:solidFill>
                <a:latin typeface="Verdana" panose="020B0604030504040204" pitchFamily="34" charset="0"/>
              </a:rPr>
              <a:t>CONNECT, OPTIONS, TRACE</a:t>
            </a:r>
            <a:endParaRPr lang="en-US" dirty="0">
              <a:solidFill>
                <a:srgbClr val="000000"/>
              </a:solidFill>
              <a:latin typeface="Verdana" panose="020B0604030504040204" pitchFamily="34" charset="0"/>
            </a:endParaRPr>
          </a:p>
          <a:p>
            <a:r>
              <a:rPr lang="en-US" dirty="0" smtClean="0"/>
              <a:t> </a:t>
            </a:r>
            <a:endParaRPr lang="en-US" sz="2400" dirty="0" smtClean="0">
              <a:solidFill>
                <a:srgbClr val="00B050"/>
              </a:solidFill>
            </a:endParaRPr>
          </a:p>
        </p:txBody>
      </p:sp>
      <p:sp>
        <p:nvSpPr>
          <p:cNvPr id="26" name="Rectangle 25"/>
          <p:cNvSpPr/>
          <p:nvPr/>
        </p:nvSpPr>
        <p:spPr>
          <a:xfrm>
            <a:off x="215288" y="220898"/>
            <a:ext cx="4505914" cy="584775"/>
          </a:xfrm>
          <a:prstGeom prst="rect">
            <a:avLst/>
          </a:prstGeom>
        </p:spPr>
        <p:txBody>
          <a:bodyPr wrap="none">
            <a:spAutoFit/>
          </a:bodyPr>
          <a:lstStyle/>
          <a:p>
            <a:r>
              <a:rPr lang="en-US" sz="3200" b="1" i="1" dirty="0" smtClean="0">
                <a:solidFill>
                  <a:srgbClr val="00B050"/>
                </a:solidFill>
              </a:rPr>
              <a:t>HTTP</a:t>
            </a:r>
            <a:r>
              <a:rPr lang="en-US" sz="3200" b="1" i="1" dirty="0">
                <a:solidFill>
                  <a:srgbClr val="00B050"/>
                </a:solidFill>
              </a:rPr>
              <a:t> </a:t>
            </a:r>
            <a:r>
              <a:rPr lang="en-US" sz="3200" b="1" i="1" dirty="0" smtClean="0">
                <a:solidFill>
                  <a:srgbClr val="00B050"/>
                </a:solidFill>
              </a:rPr>
              <a:t>Request Methods    </a:t>
            </a:r>
            <a:endParaRPr lang="en-US" sz="3200" b="1" i="1" dirty="0">
              <a:solidFill>
                <a:srgbClr val="00B050"/>
              </a:solidFill>
            </a:endParaRPr>
          </a:p>
        </p:txBody>
      </p:sp>
      <p:cxnSp>
        <p:nvCxnSpPr>
          <p:cNvPr id="42" name="Straight Connector 41"/>
          <p:cNvCxnSpPr/>
          <p:nvPr/>
        </p:nvCxnSpPr>
        <p:spPr>
          <a:xfrm flipV="1">
            <a:off x="2968061" y="5387273"/>
            <a:ext cx="9174825" cy="54451"/>
          </a:xfrm>
          <a:prstGeom prst="line">
            <a:avLst/>
          </a:prstGeom>
          <a:ln>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a:blip r:embed="rId3"/>
          <a:stretch>
            <a:fillRect/>
          </a:stretch>
        </p:blipFill>
        <p:spPr>
          <a:xfrm>
            <a:off x="215288" y="1612119"/>
            <a:ext cx="11817235" cy="5018364"/>
          </a:xfrm>
          <a:prstGeom prst="rect">
            <a:avLst/>
          </a:prstGeom>
        </p:spPr>
      </p:pic>
    </p:spTree>
    <p:extLst>
      <p:ext uri="{BB962C8B-B14F-4D97-AF65-F5344CB8AC3E}">
        <p14:creationId xmlns:p14="http://schemas.microsoft.com/office/powerpoint/2010/main" val="30744728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8" name="TextBox 17"/>
          <p:cNvSpPr txBox="1"/>
          <p:nvPr/>
        </p:nvSpPr>
        <p:spPr>
          <a:xfrm>
            <a:off x="449795" y="858478"/>
            <a:ext cx="11242390" cy="738664"/>
          </a:xfrm>
          <a:prstGeom prst="rect">
            <a:avLst/>
          </a:prstGeom>
          <a:noFill/>
        </p:spPr>
        <p:txBody>
          <a:bodyPr wrap="square" rtlCol="0">
            <a:spAutoFit/>
          </a:bodyPr>
          <a:lstStyle/>
          <a:p>
            <a:r>
              <a:rPr lang="en-US" dirty="0" smtClean="0"/>
              <a:t>When </a:t>
            </a:r>
            <a:r>
              <a:rPr lang="en-US" dirty="0"/>
              <a:t>a browser requests a service from a web server, an error might occur, and the server might return an error </a:t>
            </a:r>
            <a:r>
              <a:rPr lang="en-US" dirty="0" smtClean="0"/>
              <a:t>code (</a:t>
            </a:r>
            <a:r>
              <a:rPr lang="en-US" b="1" dirty="0" smtClean="0"/>
              <a:t>status code</a:t>
            </a:r>
            <a:r>
              <a:rPr lang="en-US" dirty="0" smtClean="0"/>
              <a:t>) </a:t>
            </a:r>
            <a:r>
              <a:rPr lang="en-US" dirty="0"/>
              <a:t>like "404 Not Found</a:t>
            </a:r>
            <a:r>
              <a:rPr lang="en-US" dirty="0" smtClean="0"/>
              <a:t>". </a:t>
            </a:r>
            <a:r>
              <a:rPr lang="en-US" dirty="0"/>
              <a:t>Below is a list of HTTP status messages that might be </a:t>
            </a:r>
            <a:r>
              <a:rPr lang="en-US" dirty="0" smtClean="0"/>
              <a:t>returned.  XX (00-99)</a:t>
            </a:r>
            <a:r>
              <a:rPr lang="en-US" sz="2400" dirty="0" smtClean="0">
                <a:solidFill>
                  <a:srgbClr val="00B050"/>
                </a:solidFill>
              </a:rPr>
              <a:t> </a:t>
            </a:r>
          </a:p>
        </p:txBody>
      </p:sp>
      <p:sp>
        <p:nvSpPr>
          <p:cNvPr id="26" name="Rectangle 25"/>
          <p:cNvSpPr/>
          <p:nvPr/>
        </p:nvSpPr>
        <p:spPr>
          <a:xfrm>
            <a:off x="449795" y="168938"/>
            <a:ext cx="5031314" cy="1077218"/>
          </a:xfrm>
          <a:prstGeom prst="rect">
            <a:avLst/>
          </a:prstGeom>
        </p:spPr>
        <p:txBody>
          <a:bodyPr wrap="none">
            <a:spAutoFit/>
          </a:bodyPr>
          <a:lstStyle/>
          <a:p>
            <a:r>
              <a:rPr lang="en-US" sz="3200" b="1" i="1" dirty="0" smtClean="0">
                <a:solidFill>
                  <a:srgbClr val="00B050"/>
                </a:solidFill>
              </a:rPr>
              <a:t>HTTP Response Status Codes</a:t>
            </a:r>
            <a:endParaRPr lang="en-US" sz="3200" b="1" i="1" dirty="0">
              <a:solidFill>
                <a:srgbClr val="00B050"/>
              </a:solidFill>
            </a:endParaRPr>
          </a:p>
          <a:p>
            <a:r>
              <a:rPr lang="en-US" sz="3200" b="1" i="1" dirty="0" smtClean="0">
                <a:solidFill>
                  <a:srgbClr val="00B050"/>
                </a:solidFill>
              </a:rPr>
              <a:t>   </a:t>
            </a:r>
            <a:endParaRPr lang="en-US" sz="3200" b="1" i="1" dirty="0">
              <a:solidFill>
                <a:srgbClr val="00B050"/>
              </a:solidFill>
            </a:endParaRPr>
          </a:p>
        </p:txBody>
      </p:sp>
      <p:sp>
        <p:nvSpPr>
          <p:cNvPr id="17" name="Rectangle 16"/>
          <p:cNvSpPr/>
          <p:nvPr/>
        </p:nvSpPr>
        <p:spPr>
          <a:xfrm>
            <a:off x="528263" y="1760693"/>
            <a:ext cx="2006383" cy="369332"/>
          </a:xfrm>
          <a:prstGeom prst="rect">
            <a:avLst/>
          </a:prstGeom>
        </p:spPr>
        <p:txBody>
          <a:bodyPr wrap="none">
            <a:spAutoFit/>
          </a:bodyPr>
          <a:lstStyle/>
          <a:p>
            <a:r>
              <a:rPr lang="en-US" b="1" dirty="0">
                <a:solidFill>
                  <a:srgbClr val="000000"/>
                </a:solidFill>
                <a:latin typeface="Segoe UI" panose="020B0502040204020203" pitchFamily="34" charset="0"/>
              </a:rPr>
              <a:t>1xx: Information</a:t>
            </a:r>
            <a:endParaRPr lang="en-US" b="1" i="0" dirty="0">
              <a:solidFill>
                <a:srgbClr val="000000"/>
              </a:solidFill>
              <a:effectLst/>
              <a:latin typeface="Segoe UI" panose="020B0502040204020203" pitchFamily="34" charset="0"/>
            </a:endParaRPr>
          </a:p>
        </p:txBody>
      </p:sp>
      <p:sp>
        <p:nvSpPr>
          <p:cNvPr id="23" name="Rectangle 22"/>
          <p:cNvSpPr/>
          <p:nvPr/>
        </p:nvSpPr>
        <p:spPr>
          <a:xfrm>
            <a:off x="579014" y="2330005"/>
            <a:ext cx="1811714" cy="369332"/>
          </a:xfrm>
          <a:prstGeom prst="rect">
            <a:avLst/>
          </a:prstGeom>
        </p:spPr>
        <p:txBody>
          <a:bodyPr wrap="none">
            <a:spAutoFit/>
          </a:bodyPr>
          <a:lstStyle/>
          <a:p>
            <a:r>
              <a:rPr lang="en-US" b="1" dirty="0">
                <a:solidFill>
                  <a:srgbClr val="000000"/>
                </a:solidFill>
                <a:latin typeface="Segoe UI" panose="020B0502040204020203" pitchFamily="34" charset="0"/>
              </a:rPr>
              <a:t>2xx: Successful</a:t>
            </a:r>
            <a:endParaRPr lang="en-US" b="1" i="0" dirty="0">
              <a:solidFill>
                <a:srgbClr val="000000"/>
              </a:solidFill>
              <a:effectLst/>
              <a:latin typeface="Segoe UI" panose="020B0502040204020203" pitchFamily="34" charset="0"/>
            </a:endParaRPr>
          </a:p>
        </p:txBody>
      </p:sp>
      <p:sp>
        <p:nvSpPr>
          <p:cNvPr id="24" name="Rectangle 23"/>
          <p:cNvSpPr/>
          <p:nvPr/>
        </p:nvSpPr>
        <p:spPr>
          <a:xfrm>
            <a:off x="570358" y="3329436"/>
            <a:ext cx="1941301" cy="369332"/>
          </a:xfrm>
          <a:prstGeom prst="rect">
            <a:avLst/>
          </a:prstGeom>
        </p:spPr>
        <p:txBody>
          <a:bodyPr wrap="none">
            <a:spAutoFit/>
          </a:bodyPr>
          <a:lstStyle/>
          <a:p>
            <a:r>
              <a:rPr lang="en-US" b="1" dirty="0">
                <a:solidFill>
                  <a:srgbClr val="000000"/>
                </a:solidFill>
                <a:latin typeface="Segoe UI" panose="020B0502040204020203" pitchFamily="34" charset="0"/>
              </a:rPr>
              <a:t>3xx: Redirection</a:t>
            </a:r>
            <a:endParaRPr lang="en-US" b="1" i="0" dirty="0">
              <a:solidFill>
                <a:srgbClr val="000000"/>
              </a:solidFill>
              <a:effectLst/>
              <a:latin typeface="Segoe UI" panose="020B0502040204020203" pitchFamily="34" charset="0"/>
            </a:endParaRPr>
          </a:p>
        </p:txBody>
      </p:sp>
      <p:sp>
        <p:nvSpPr>
          <p:cNvPr id="27" name="Rectangle 26"/>
          <p:cNvSpPr/>
          <p:nvPr/>
        </p:nvSpPr>
        <p:spPr>
          <a:xfrm>
            <a:off x="528263" y="4275975"/>
            <a:ext cx="1932645" cy="369332"/>
          </a:xfrm>
          <a:prstGeom prst="rect">
            <a:avLst/>
          </a:prstGeom>
        </p:spPr>
        <p:txBody>
          <a:bodyPr wrap="none">
            <a:spAutoFit/>
          </a:bodyPr>
          <a:lstStyle/>
          <a:p>
            <a:r>
              <a:rPr lang="en-US" b="1" dirty="0">
                <a:solidFill>
                  <a:srgbClr val="000000"/>
                </a:solidFill>
                <a:latin typeface="Segoe UI" panose="020B0502040204020203" pitchFamily="34" charset="0"/>
              </a:rPr>
              <a:t>4xx: Client Error</a:t>
            </a:r>
            <a:endParaRPr lang="en-US" b="1" i="0" dirty="0">
              <a:solidFill>
                <a:srgbClr val="000000"/>
              </a:solidFill>
              <a:effectLst/>
              <a:latin typeface="Segoe UI" panose="020B0502040204020203" pitchFamily="34" charset="0"/>
            </a:endParaRPr>
          </a:p>
        </p:txBody>
      </p:sp>
      <p:sp>
        <p:nvSpPr>
          <p:cNvPr id="28" name="Rectangle 27"/>
          <p:cNvSpPr/>
          <p:nvPr/>
        </p:nvSpPr>
        <p:spPr>
          <a:xfrm>
            <a:off x="537304" y="5389732"/>
            <a:ext cx="1997342" cy="369332"/>
          </a:xfrm>
          <a:prstGeom prst="rect">
            <a:avLst/>
          </a:prstGeom>
        </p:spPr>
        <p:txBody>
          <a:bodyPr wrap="none">
            <a:spAutoFit/>
          </a:bodyPr>
          <a:lstStyle/>
          <a:p>
            <a:r>
              <a:rPr lang="en-US" b="1" dirty="0">
                <a:solidFill>
                  <a:srgbClr val="000000"/>
                </a:solidFill>
                <a:latin typeface="Segoe UI" panose="020B0502040204020203" pitchFamily="34" charset="0"/>
              </a:rPr>
              <a:t>5xx: Server Error</a:t>
            </a:r>
            <a:endParaRPr lang="en-US" b="1" i="0" dirty="0">
              <a:solidFill>
                <a:srgbClr val="000000"/>
              </a:solidFill>
              <a:effectLst/>
              <a:latin typeface="Segoe UI" panose="020B0502040204020203" pitchFamily="34" charset="0"/>
            </a:endParaRPr>
          </a:p>
        </p:txBody>
      </p:sp>
      <p:graphicFrame>
        <p:nvGraphicFramePr>
          <p:cNvPr id="30" name="Table 29"/>
          <p:cNvGraphicFramePr>
            <a:graphicFrameLocks noGrp="1"/>
          </p:cNvGraphicFramePr>
          <p:nvPr>
            <p:extLst>
              <p:ext uri="{D42A27DB-BD31-4B8C-83A1-F6EECF244321}">
                <p14:modId xmlns:p14="http://schemas.microsoft.com/office/powerpoint/2010/main" val="1706776032"/>
              </p:ext>
            </p:extLst>
          </p:nvPr>
        </p:nvGraphicFramePr>
        <p:xfrm>
          <a:off x="2894385" y="1624568"/>
          <a:ext cx="9118491" cy="579120"/>
        </p:xfrm>
        <a:graphic>
          <a:graphicData uri="http://schemas.openxmlformats.org/drawingml/2006/table">
            <a:tbl>
              <a:tblPr firstRow="1" bandRow="1">
                <a:tableStyleId>{5C22544A-7EE6-4342-B048-85BDC9FD1C3A}</a:tableStyleId>
              </a:tblPr>
              <a:tblGrid>
                <a:gridCol w="3039497">
                  <a:extLst>
                    <a:ext uri="{9D8B030D-6E8A-4147-A177-3AD203B41FA5}">
                      <a16:colId xmlns:a16="http://schemas.microsoft.com/office/drawing/2014/main" val="1819105684"/>
                    </a:ext>
                  </a:extLst>
                </a:gridCol>
                <a:gridCol w="2269727">
                  <a:extLst>
                    <a:ext uri="{9D8B030D-6E8A-4147-A177-3AD203B41FA5}">
                      <a16:colId xmlns:a16="http://schemas.microsoft.com/office/drawing/2014/main" val="3110006933"/>
                    </a:ext>
                  </a:extLst>
                </a:gridCol>
                <a:gridCol w="3809267">
                  <a:extLst>
                    <a:ext uri="{9D8B030D-6E8A-4147-A177-3AD203B41FA5}">
                      <a16:colId xmlns:a16="http://schemas.microsoft.com/office/drawing/2014/main" val="3731979845"/>
                    </a:ext>
                  </a:extLst>
                </a:gridCol>
              </a:tblGrid>
              <a:tr h="370840">
                <a:tc>
                  <a:txBody>
                    <a:bodyPr/>
                    <a:lstStyle/>
                    <a:p>
                      <a:r>
                        <a:rPr lang="en-US" sz="1600" b="0" i="0" kern="1200" dirty="0" smtClean="0">
                          <a:solidFill>
                            <a:srgbClr val="0070C0"/>
                          </a:solidFill>
                          <a:effectLst/>
                          <a:latin typeface="+mn-lt"/>
                          <a:ea typeface="+mn-ea"/>
                          <a:cs typeface="+mn-cs"/>
                        </a:rPr>
                        <a:t>100 Continue</a:t>
                      </a:r>
                      <a:endParaRPr lang="en-US" sz="1600" b="0" dirty="0">
                        <a:solidFill>
                          <a:srgbClr val="0070C0"/>
                        </a:solidFill>
                      </a:endParaRPr>
                    </a:p>
                  </a:txBody>
                  <a:tcPr>
                    <a:noFill/>
                  </a:tcPr>
                </a:tc>
                <a:tc>
                  <a:txBody>
                    <a:bodyPr/>
                    <a:lstStyle/>
                    <a:p>
                      <a:r>
                        <a:rPr lang="en-US" sz="1600" b="0" i="0" kern="1200" dirty="0" smtClean="0">
                          <a:solidFill>
                            <a:srgbClr val="0070C0"/>
                          </a:solidFill>
                          <a:effectLst/>
                          <a:latin typeface="+mn-lt"/>
                          <a:ea typeface="+mn-ea"/>
                          <a:cs typeface="+mn-cs"/>
                        </a:rPr>
                        <a:t>101 Switching Protocols</a:t>
                      </a:r>
                      <a:endParaRPr lang="en-US" sz="1600" b="0" dirty="0">
                        <a:solidFill>
                          <a:srgbClr val="0070C0"/>
                        </a:solidFill>
                      </a:endParaRPr>
                    </a:p>
                  </a:txBody>
                  <a:tcPr>
                    <a:noFill/>
                  </a:tcPr>
                </a:tc>
                <a:tc>
                  <a:txBody>
                    <a:bodyPr/>
                    <a:lstStyle/>
                    <a:p>
                      <a:r>
                        <a:rPr lang="en-US" sz="1600" b="0" i="0" kern="1200" dirty="0" smtClean="0">
                          <a:solidFill>
                            <a:srgbClr val="0070C0"/>
                          </a:solidFill>
                          <a:effectLst/>
                          <a:latin typeface="+mn-lt"/>
                          <a:ea typeface="+mn-ea"/>
                          <a:cs typeface="+mn-cs"/>
                        </a:rPr>
                        <a:t>102 Processing</a:t>
                      </a:r>
                      <a:r>
                        <a:rPr lang="en-US" sz="1600" b="0" i="0" kern="1200" dirty="0" smtClean="0">
                          <a:solidFill>
                            <a:schemeClr val="tx1"/>
                          </a:solidFill>
                          <a:effectLst/>
                          <a:latin typeface="+mn-lt"/>
                          <a:ea typeface="+mn-ea"/>
                          <a:cs typeface="+mn-cs"/>
                        </a:rPr>
                        <a:t>(WebDAV)</a:t>
                      </a:r>
                      <a:r>
                        <a:rPr lang="en-US" sz="1600" b="0" i="0" kern="1200" dirty="0" smtClean="0">
                          <a:solidFill>
                            <a:srgbClr val="0070C0"/>
                          </a:solidFill>
                          <a:effectLst/>
                          <a:latin typeface="+mn-lt"/>
                          <a:ea typeface="+mn-ea"/>
                          <a:cs typeface="+mn-cs"/>
                        </a:rPr>
                        <a:t>,  </a:t>
                      </a:r>
                    </a:p>
                    <a:p>
                      <a:r>
                        <a:rPr lang="en-US" sz="1600" b="0" i="0" kern="1200" dirty="0" smtClean="0">
                          <a:solidFill>
                            <a:srgbClr val="0070C0"/>
                          </a:solidFill>
                          <a:effectLst/>
                          <a:latin typeface="+mn-lt"/>
                          <a:ea typeface="+mn-ea"/>
                          <a:cs typeface="+mn-cs"/>
                        </a:rPr>
                        <a:t>103 Checkpoint </a:t>
                      </a:r>
                      <a:r>
                        <a:rPr lang="en-US" sz="1600" b="0" i="0" kern="1200" dirty="0" smtClean="0">
                          <a:solidFill>
                            <a:schemeClr val="tx1"/>
                          </a:solidFill>
                          <a:effectLst/>
                          <a:latin typeface="+mn-lt"/>
                          <a:ea typeface="+mn-ea"/>
                          <a:cs typeface="+mn-cs"/>
                        </a:rPr>
                        <a:t>(early</a:t>
                      </a:r>
                      <a:r>
                        <a:rPr lang="en-US" sz="1600" b="0" i="0" kern="1200" baseline="0" dirty="0" smtClean="0">
                          <a:solidFill>
                            <a:schemeClr val="tx1"/>
                          </a:solidFill>
                          <a:effectLst/>
                          <a:latin typeface="+mn-lt"/>
                          <a:ea typeface="+mn-ea"/>
                          <a:cs typeface="+mn-cs"/>
                        </a:rPr>
                        <a:t> hints, Link Header)</a:t>
                      </a:r>
                      <a:endParaRPr lang="en-US" sz="1600" b="0" dirty="0">
                        <a:solidFill>
                          <a:srgbClr val="0070C0"/>
                        </a:solidFill>
                      </a:endParaRPr>
                    </a:p>
                  </a:txBody>
                  <a:tcPr>
                    <a:noFill/>
                  </a:tcPr>
                </a:tc>
                <a:extLst>
                  <a:ext uri="{0D108BD9-81ED-4DB2-BD59-A6C34878D82A}">
                    <a16:rowId xmlns:a16="http://schemas.microsoft.com/office/drawing/2014/main" val="3180383650"/>
                  </a:ext>
                </a:extLst>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3127381958"/>
              </p:ext>
            </p:extLst>
          </p:nvPr>
        </p:nvGraphicFramePr>
        <p:xfrm>
          <a:off x="2894388" y="2216145"/>
          <a:ext cx="8797797" cy="741680"/>
        </p:xfrm>
        <a:graphic>
          <a:graphicData uri="http://schemas.openxmlformats.org/drawingml/2006/table">
            <a:tbl>
              <a:tblPr firstRow="1" bandRow="1">
                <a:tableStyleId>{5C22544A-7EE6-4342-B048-85BDC9FD1C3A}</a:tableStyleId>
              </a:tblPr>
              <a:tblGrid>
                <a:gridCol w="3380734">
                  <a:extLst>
                    <a:ext uri="{9D8B030D-6E8A-4147-A177-3AD203B41FA5}">
                      <a16:colId xmlns:a16="http://schemas.microsoft.com/office/drawing/2014/main" val="1819105684"/>
                    </a:ext>
                  </a:extLst>
                </a:gridCol>
                <a:gridCol w="2484464">
                  <a:extLst>
                    <a:ext uri="{9D8B030D-6E8A-4147-A177-3AD203B41FA5}">
                      <a16:colId xmlns:a16="http://schemas.microsoft.com/office/drawing/2014/main" val="3110006933"/>
                    </a:ext>
                  </a:extLst>
                </a:gridCol>
                <a:gridCol w="2932599">
                  <a:extLst>
                    <a:ext uri="{9D8B030D-6E8A-4147-A177-3AD203B41FA5}">
                      <a16:colId xmlns:a16="http://schemas.microsoft.com/office/drawing/2014/main" val="3731979845"/>
                    </a:ext>
                  </a:extLst>
                </a:gridCol>
              </a:tblGrid>
              <a:tr h="370840">
                <a:tc>
                  <a:txBody>
                    <a:bodyPr/>
                    <a:lstStyle/>
                    <a:p>
                      <a:r>
                        <a:rPr lang="en-US" sz="1600" b="0" i="0" kern="1200" dirty="0" smtClean="0">
                          <a:solidFill>
                            <a:srgbClr val="0070C0"/>
                          </a:solidFill>
                          <a:effectLst/>
                          <a:latin typeface="+mn-lt"/>
                          <a:ea typeface="+mn-ea"/>
                          <a:cs typeface="+mn-cs"/>
                        </a:rPr>
                        <a:t>200 OK </a:t>
                      </a:r>
                      <a:r>
                        <a:rPr lang="en-US" sz="1600" b="0" i="0" kern="1200" dirty="0" smtClean="0">
                          <a:solidFill>
                            <a:schemeClr val="tx1"/>
                          </a:solidFill>
                          <a:effectLst/>
                          <a:latin typeface="+mn-lt"/>
                          <a:ea typeface="+mn-ea"/>
                          <a:cs typeface="+mn-cs"/>
                        </a:rPr>
                        <a:t>(GET, HEAD, PUT, POST, TRACE)</a:t>
                      </a:r>
                      <a:endParaRPr lang="en-US" sz="1600" b="0" dirty="0">
                        <a:solidFill>
                          <a:schemeClr val="tx1"/>
                        </a:solidFill>
                      </a:endParaRPr>
                    </a:p>
                  </a:txBody>
                  <a:tcPr>
                    <a:noFill/>
                  </a:tcPr>
                </a:tc>
                <a:tc>
                  <a:txBody>
                    <a:bodyPr/>
                    <a:lstStyle/>
                    <a:p>
                      <a:r>
                        <a:rPr lang="en-US" sz="1600" b="0" i="0" kern="1200" dirty="0" smtClean="0">
                          <a:solidFill>
                            <a:srgbClr val="0070C0"/>
                          </a:solidFill>
                          <a:effectLst/>
                          <a:latin typeface="+mn-lt"/>
                          <a:ea typeface="+mn-ea"/>
                          <a:cs typeface="+mn-cs"/>
                        </a:rPr>
                        <a:t>201 Created </a:t>
                      </a:r>
                      <a:r>
                        <a:rPr lang="en-US" sz="1600" b="0" i="0" kern="1200" dirty="0" smtClean="0">
                          <a:solidFill>
                            <a:schemeClr val="tx1"/>
                          </a:solidFill>
                          <a:effectLst/>
                          <a:latin typeface="+mn-lt"/>
                          <a:ea typeface="+mn-ea"/>
                          <a:cs typeface="+mn-cs"/>
                        </a:rPr>
                        <a:t>(POST,</a:t>
                      </a:r>
                      <a:r>
                        <a:rPr lang="en-US" sz="1600" b="0" i="0" kern="1200" baseline="0" dirty="0" smtClean="0">
                          <a:solidFill>
                            <a:schemeClr val="tx1"/>
                          </a:solidFill>
                          <a:effectLst/>
                          <a:latin typeface="+mn-lt"/>
                          <a:ea typeface="+mn-ea"/>
                          <a:cs typeface="+mn-cs"/>
                        </a:rPr>
                        <a:t> PUT</a:t>
                      </a:r>
                      <a:r>
                        <a:rPr lang="en-US" sz="1600" b="0" i="0" kern="1200" dirty="0" smtClean="0">
                          <a:solidFill>
                            <a:schemeClr val="tx1"/>
                          </a:solidFill>
                          <a:effectLst/>
                          <a:latin typeface="+mn-lt"/>
                          <a:ea typeface="+mn-ea"/>
                          <a:cs typeface="+mn-cs"/>
                        </a:rPr>
                        <a:t>)</a:t>
                      </a:r>
                      <a:endParaRPr lang="en-US" sz="1600" b="0" dirty="0">
                        <a:solidFill>
                          <a:schemeClr val="tx1"/>
                        </a:solidFill>
                      </a:endParaRPr>
                    </a:p>
                  </a:txBody>
                  <a:tcPr>
                    <a:noFill/>
                  </a:tcPr>
                </a:tc>
                <a:tc>
                  <a:txBody>
                    <a:bodyPr/>
                    <a:lstStyle/>
                    <a:p>
                      <a:r>
                        <a:rPr lang="en-US" sz="1600" b="0" i="0" kern="1200" dirty="0" smtClean="0">
                          <a:solidFill>
                            <a:srgbClr val="0070C0"/>
                          </a:solidFill>
                          <a:effectLst/>
                          <a:latin typeface="+mn-lt"/>
                          <a:ea typeface="+mn-ea"/>
                          <a:cs typeface="+mn-cs"/>
                        </a:rPr>
                        <a:t>202 Accepted </a:t>
                      </a:r>
                      <a:r>
                        <a:rPr lang="en-US" sz="1600" b="0" i="0" kern="1200" dirty="0" smtClean="0">
                          <a:solidFill>
                            <a:schemeClr val="tx1"/>
                          </a:solidFill>
                          <a:effectLst/>
                          <a:latin typeface="+mn-lt"/>
                          <a:ea typeface="+mn-ea"/>
                          <a:cs typeface="+mn-cs"/>
                        </a:rPr>
                        <a:t>(noncommittal</a:t>
                      </a:r>
                      <a:r>
                        <a:rPr lang="en-US" sz="1600" b="0" i="0" kern="1200" baseline="0" dirty="0" smtClean="0">
                          <a:solidFill>
                            <a:schemeClr val="tx1"/>
                          </a:solidFill>
                          <a:effectLst/>
                          <a:latin typeface="+mn-lt"/>
                          <a:ea typeface="+mn-ea"/>
                          <a:cs typeface="+mn-cs"/>
                        </a:rPr>
                        <a:t>)</a:t>
                      </a:r>
                      <a:endParaRPr lang="en-US" sz="1600" b="0" dirty="0">
                        <a:solidFill>
                          <a:srgbClr val="0070C0"/>
                        </a:solidFill>
                      </a:endParaRPr>
                    </a:p>
                  </a:txBody>
                  <a:tcPr>
                    <a:noFill/>
                  </a:tcPr>
                </a:tc>
                <a:extLst>
                  <a:ext uri="{0D108BD9-81ED-4DB2-BD59-A6C34878D82A}">
                    <a16:rowId xmlns:a16="http://schemas.microsoft.com/office/drawing/2014/main" val="3180383650"/>
                  </a:ext>
                </a:extLst>
              </a:tr>
              <a:tr h="370840">
                <a:tc>
                  <a:txBody>
                    <a:bodyPr/>
                    <a:lstStyle/>
                    <a:p>
                      <a:pPr marL="0" algn="l" defTabSz="914400" rtl="0" eaLnBrk="1" latinLnBrk="0" hangingPunct="1"/>
                      <a:r>
                        <a:rPr lang="en-US" sz="1600" b="0" i="0" kern="1200" dirty="0" smtClean="0">
                          <a:solidFill>
                            <a:srgbClr val="0070C0"/>
                          </a:solidFill>
                          <a:effectLst/>
                          <a:latin typeface="+mn-lt"/>
                          <a:ea typeface="+mn-ea"/>
                          <a:cs typeface="+mn-cs"/>
                        </a:rPr>
                        <a:t>203 Non-Authoritative Information</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204 No Content</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205 Reset Content,    …</a:t>
                      </a:r>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3910791527"/>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3284503842"/>
              </p:ext>
            </p:extLst>
          </p:nvPr>
        </p:nvGraphicFramePr>
        <p:xfrm>
          <a:off x="2894387" y="3137206"/>
          <a:ext cx="8594115" cy="741680"/>
        </p:xfrm>
        <a:graphic>
          <a:graphicData uri="http://schemas.openxmlformats.org/drawingml/2006/table">
            <a:tbl>
              <a:tblPr firstRow="1" bandRow="1">
                <a:tableStyleId>{5C22544A-7EE6-4342-B048-85BDC9FD1C3A}</a:tableStyleId>
              </a:tblPr>
              <a:tblGrid>
                <a:gridCol w="2864705">
                  <a:extLst>
                    <a:ext uri="{9D8B030D-6E8A-4147-A177-3AD203B41FA5}">
                      <a16:colId xmlns:a16="http://schemas.microsoft.com/office/drawing/2014/main" val="1819105684"/>
                    </a:ext>
                  </a:extLst>
                </a:gridCol>
                <a:gridCol w="2864705">
                  <a:extLst>
                    <a:ext uri="{9D8B030D-6E8A-4147-A177-3AD203B41FA5}">
                      <a16:colId xmlns:a16="http://schemas.microsoft.com/office/drawing/2014/main" val="3110006933"/>
                    </a:ext>
                  </a:extLst>
                </a:gridCol>
                <a:gridCol w="2864705">
                  <a:extLst>
                    <a:ext uri="{9D8B030D-6E8A-4147-A177-3AD203B41FA5}">
                      <a16:colId xmlns:a16="http://schemas.microsoft.com/office/drawing/2014/main" val="3731979845"/>
                    </a:ext>
                  </a:extLst>
                </a:gridCol>
              </a:tblGrid>
              <a:tr h="370840">
                <a:tc>
                  <a:txBody>
                    <a:bodyPr/>
                    <a:lstStyle/>
                    <a:p>
                      <a:r>
                        <a:rPr lang="en-US" sz="1600" b="0" i="0" kern="1200" dirty="0" smtClean="0">
                          <a:solidFill>
                            <a:srgbClr val="0070C0"/>
                          </a:solidFill>
                          <a:effectLst/>
                          <a:latin typeface="+mn-lt"/>
                          <a:ea typeface="+mn-ea"/>
                          <a:cs typeface="+mn-cs"/>
                        </a:rPr>
                        <a:t>300 Multiple Choices</a:t>
                      </a:r>
                      <a:endParaRPr lang="en-US" sz="1600" b="0" i="0" kern="1200" dirty="0">
                        <a:solidFill>
                          <a:srgbClr val="0070C0"/>
                        </a:solidFill>
                        <a:effectLst/>
                        <a:latin typeface="+mn-lt"/>
                        <a:ea typeface="+mn-ea"/>
                        <a:cs typeface="+mn-cs"/>
                      </a:endParaRPr>
                    </a:p>
                  </a:txBody>
                  <a:tcPr>
                    <a:noFill/>
                  </a:tcPr>
                </a:tc>
                <a:tc>
                  <a:txBody>
                    <a:bodyPr/>
                    <a:lstStyle/>
                    <a:p>
                      <a:r>
                        <a:rPr lang="en-US" sz="1600" b="0" i="0" kern="1200" dirty="0" smtClean="0">
                          <a:solidFill>
                            <a:srgbClr val="0070C0"/>
                          </a:solidFill>
                          <a:effectLst/>
                          <a:latin typeface="+mn-lt"/>
                          <a:ea typeface="+mn-ea"/>
                          <a:cs typeface="+mn-cs"/>
                        </a:rPr>
                        <a:t>301 Moved Permanently</a:t>
                      </a:r>
                      <a:endParaRPr lang="en-US" sz="1600" b="0" i="0" kern="1200" dirty="0">
                        <a:solidFill>
                          <a:srgbClr val="0070C0"/>
                        </a:solidFill>
                        <a:effectLst/>
                        <a:latin typeface="+mn-lt"/>
                        <a:ea typeface="+mn-ea"/>
                        <a:cs typeface="+mn-cs"/>
                      </a:endParaRPr>
                    </a:p>
                  </a:txBody>
                  <a:tcPr>
                    <a:noFill/>
                  </a:tcPr>
                </a:tc>
                <a:tc>
                  <a:txBody>
                    <a:bodyPr/>
                    <a:lstStyle/>
                    <a:p>
                      <a:r>
                        <a:rPr lang="en-US" sz="1600" b="0" i="0" kern="1200" dirty="0" smtClean="0">
                          <a:solidFill>
                            <a:srgbClr val="0070C0"/>
                          </a:solidFill>
                          <a:effectLst/>
                          <a:latin typeface="+mn-lt"/>
                          <a:ea typeface="+mn-ea"/>
                          <a:cs typeface="+mn-cs"/>
                        </a:rPr>
                        <a:t>302 Found</a:t>
                      </a:r>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3180383650"/>
                  </a:ext>
                </a:extLst>
              </a:tr>
              <a:tr h="370840">
                <a:tc>
                  <a:txBody>
                    <a:bodyPr/>
                    <a:lstStyle/>
                    <a:p>
                      <a:pPr marL="0" algn="l" defTabSz="914400" rtl="0" eaLnBrk="1" latinLnBrk="0" hangingPunct="1"/>
                      <a:r>
                        <a:rPr lang="en-US" sz="1600" b="0" i="0" kern="1200" dirty="0" smtClean="0">
                          <a:solidFill>
                            <a:srgbClr val="0070C0"/>
                          </a:solidFill>
                          <a:effectLst/>
                          <a:latin typeface="+mn-lt"/>
                          <a:ea typeface="+mn-ea"/>
                          <a:cs typeface="+mn-cs"/>
                        </a:rPr>
                        <a:t>303 See Other </a:t>
                      </a:r>
                      <a:r>
                        <a:rPr lang="en-US" sz="1600" b="0" i="0" kern="1200" dirty="0" smtClean="0">
                          <a:solidFill>
                            <a:schemeClr val="tx1"/>
                          </a:solidFill>
                          <a:effectLst/>
                          <a:latin typeface="+mn-lt"/>
                          <a:ea typeface="+mn-ea"/>
                          <a:cs typeface="+mn-cs"/>
                        </a:rPr>
                        <a:t>(GET</a:t>
                      </a:r>
                      <a:r>
                        <a:rPr lang="en-US" sz="1600" b="0" i="0" kern="1200" baseline="0" dirty="0" smtClean="0">
                          <a:solidFill>
                            <a:schemeClr val="tx1"/>
                          </a:solidFill>
                          <a:effectLst/>
                          <a:latin typeface="+mn-lt"/>
                          <a:ea typeface="+mn-ea"/>
                          <a:cs typeface="+mn-cs"/>
                        </a:rPr>
                        <a:t>)</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304 Not Modified</a:t>
                      </a:r>
                      <a:r>
                        <a:rPr lang="en-US" sz="1600" b="0" i="0" kern="1200" dirty="0" smtClean="0">
                          <a:solidFill>
                            <a:schemeClr val="tx1"/>
                          </a:solidFill>
                          <a:effectLst/>
                          <a:latin typeface="+mn-lt"/>
                          <a:ea typeface="+mn-ea"/>
                          <a:cs typeface="+mn-cs"/>
                        </a:rPr>
                        <a:t> (</a:t>
                      </a:r>
                      <a:r>
                        <a:rPr lang="en-US" sz="1600" b="0" i="0" kern="1200" dirty="0" err="1" smtClean="0">
                          <a:solidFill>
                            <a:schemeClr val="tx1"/>
                          </a:solidFill>
                          <a:effectLst/>
                          <a:latin typeface="+mn-lt"/>
                          <a:ea typeface="+mn-ea"/>
                          <a:cs typeface="+mn-cs"/>
                        </a:rPr>
                        <a:t>forcaching</a:t>
                      </a:r>
                      <a:r>
                        <a:rPr lang="en-US" sz="1600" b="0" i="0" kern="1200" baseline="0" dirty="0" smtClean="0">
                          <a:solidFill>
                            <a:schemeClr val="tx1"/>
                          </a:solidFill>
                          <a:effectLst/>
                          <a:latin typeface="+mn-lt"/>
                          <a:ea typeface="+mn-ea"/>
                          <a:cs typeface="+mn-cs"/>
                        </a:rPr>
                        <a:t>)</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306 Switch Proxy,       …  </a:t>
                      </a:r>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3910791527"/>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3443052214"/>
              </p:ext>
            </p:extLst>
          </p:nvPr>
        </p:nvGraphicFramePr>
        <p:xfrm>
          <a:off x="2894387" y="4095613"/>
          <a:ext cx="9263664" cy="1112520"/>
        </p:xfrm>
        <a:graphic>
          <a:graphicData uri="http://schemas.openxmlformats.org/drawingml/2006/table">
            <a:tbl>
              <a:tblPr firstRow="1" bandRow="1">
                <a:tableStyleId>{5C22544A-7EE6-4342-B048-85BDC9FD1C3A}</a:tableStyleId>
              </a:tblPr>
              <a:tblGrid>
                <a:gridCol w="3087888">
                  <a:extLst>
                    <a:ext uri="{9D8B030D-6E8A-4147-A177-3AD203B41FA5}">
                      <a16:colId xmlns:a16="http://schemas.microsoft.com/office/drawing/2014/main" val="1819105684"/>
                    </a:ext>
                  </a:extLst>
                </a:gridCol>
                <a:gridCol w="3001379">
                  <a:extLst>
                    <a:ext uri="{9D8B030D-6E8A-4147-A177-3AD203B41FA5}">
                      <a16:colId xmlns:a16="http://schemas.microsoft.com/office/drawing/2014/main" val="3110006933"/>
                    </a:ext>
                  </a:extLst>
                </a:gridCol>
                <a:gridCol w="3174397">
                  <a:extLst>
                    <a:ext uri="{9D8B030D-6E8A-4147-A177-3AD203B41FA5}">
                      <a16:colId xmlns:a16="http://schemas.microsoft.com/office/drawing/2014/main" val="3731979845"/>
                    </a:ext>
                  </a:extLst>
                </a:gridCol>
              </a:tblGrid>
              <a:tr h="370840">
                <a:tc>
                  <a:txBody>
                    <a:bodyPr/>
                    <a:lstStyle/>
                    <a:p>
                      <a:r>
                        <a:rPr lang="en-US" sz="1600" b="0" i="0" kern="1200" dirty="0" smtClean="0">
                          <a:solidFill>
                            <a:srgbClr val="0070C0"/>
                          </a:solidFill>
                          <a:effectLst/>
                          <a:latin typeface="+mn-lt"/>
                          <a:ea typeface="+mn-ea"/>
                          <a:cs typeface="+mn-cs"/>
                        </a:rPr>
                        <a:t>400 Bad Request</a:t>
                      </a:r>
                      <a:endParaRPr lang="en-US" sz="1600" b="0" i="0" kern="1200" dirty="0">
                        <a:solidFill>
                          <a:srgbClr val="0070C0"/>
                        </a:solidFill>
                        <a:effectLst/>
                        <a:latin typeface="+mn-lt"/>
                        <a:ea typeface="+mn-ea"/>
                        <a:cs typeface="+mn-cs"/>
                      </a:endParaRPr>
                    </a:p>
                  </a:txBody>
                  <a:tcPr>
                    <a:noFill/>
                  </a:tcPr>
                </a:tc>
                <a:tc>
                  <a:txBody>
                    <a:bodyPr/>
                    <a:lstStyle/>
                    <a:p>
                      <a:r>
                        <a:rPr lang="en-US" sz="1600" b="0" i="0" kern="1200" dirty="0" smtClean="0">
                          <a:solidFill>
                            <a:srgbClr val="0070C0"/>
                          </a:solidFill>
                          <a:effectLst/>
                          <a:latin typeface="+mn-lt"/>
                          <a:ea typeface="+mn-ea"/>
                          <a:cs typeface="+mn-cs"/>
                        </a:rPr>
                        <a:t>401 Unauthorized</a:t>
                      </a:r>
                      <a:endParaRPr lang="en-US" sz="1600" b="0" i="0" kern="1200" dirty="0">
                        <a:solidFill>
                          <a:srgbClr val="0070C0"/>
                        </a:solidFill>
                        <a:effectLst/>
                        <a:latin typeface="+mn-lt"/>
                        <a:ea typeface="+mn-ea"/>
                        <a:cs typeface="+mn-cs"/>
                      </a:endParaRPr>
                    </a:p>
                  </a:txBody>
                  <a:tcPr>
                    <a:noFill/>
                  </a:tcPr>
                </a:tc>
                <a:tc>
                  <a:txBody>
                    <a:bodyPr/>
                    <a:lstStyle/>
                    <a:p>
                      <a:r>
                        <a:rPr lang="en-US" sz="1600" b="0" i="0" kern="1200" dirty="0" smtClean="0">
                          <a:solidFill>
                            <a:srgbClr val="0070C0"/>
                          </a:solidFill>
                          <a:effectLst/>
                          <a:latin typeface="+mn-lt"/>
                          <a:ea typeface="+mn-ea"/>
                          <a:cs typeface="+mn-cs"/>
                        </a:rPr>
                        <a:t>402 Payment Required </a:t>
                      </a:r>
                      <a:r>
                        <a:rPr lang="en-US" sz="1600" b="0" i="0" kern="1200" dirty="0" smtClean="0">
                          <a:solidFill>
                            <a:schemeClr val="tx1"/>
                          </a:solidFill>
                          <a:effectLst/>
                          <a:latin typeface="+mn-lt"/>
                          <a:ea typeface="+mn-ea"/>
                          <a:cs typeface="+mn-cs"/>
                        </a:rPr>
                        <a:t>(future)</a:t>
                      </a:r>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3180383650"/>
                  </a:ext>
                </a:extLst>
              </a:tr>
              <a:tr h="370840">
                <a:tc>
                  <a:txBody>
                    <a:bodyPr/>
                    <a:lstStyle/>
                    <a:p>
                      <a:pPr marL="0" algn="l" defTabSz="914400" rtl="0" eaLnBrk="1" latinLnBrk="0" hangingPunct="1"/>
                      <a:r>
                        <a:rPr lang="en-US" sz="1600" b="0" i="0" kern="1200" dirty="0" smtClean="0">
                          <a:solidFill>
                            <a:srgbClr val="0070C0"/>
                          </a:solidFill>
                          <a:effectLst/>
                          <a:latin typeface="+mn-lt"/>
                          <a:ea typeface="+mn-ea"/>
                          <a:cs typeface="+mn-cs"/>
                        </a:rPr>
                        <a:t>403 Forbidden</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1" i="0" kern="1200" dirty="0" smtClean="0">
                          <a:solidFill>
                            <a:srgbClr val="0070C0"/>
                          </a:solidFill>
                          <a:effectLst/>
                          <a:latin typeface="+mn-lt"/>
                          <a:ea typeface="+mn-ea"/>
                          <a:cs typeface="+mn-cs"/>
                        </a:rPr>
                        <a:t>404 Not Found</a:t>
                      </a:r>
                      <a:endParaRPr lang="en-US" sz="1600" b="1"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405 Method Not Allowed </a:t>
                      </a:r>
                      <a:r>
                        <a:rPr lang="en-US" sz="1600" b="0" i="0" kern="1200" dirty="0" smtClean="0">
                          <a:solidFill>
                            <a:schemeClr val="tx1"/>
                          </a:solidFill>
                          <a:effectLst/>
                          <a:latin typeface="+mn-lt"/>
                          <a:ea typeface="+mn-ea"/>
                          <a:cs typeface="+mn-cs"/>
                        </a:rPr>
                        <a:t>(security)</a:t>
                      </a:r>
                      <a:r>
                        <a:rPr lang="en-US" sz="1600" b="0" i="0" kern="1200" dirty="0" smtClean="0">
                          <a:solidFill>
                            <a:srgbClr val="0070C0"/>
                          </a:solidFill>
                          <a:effectLst/>
                          <a:latin typeface="+mn-lt"/>
                          <a:ea typeface="+mn-ea"/>
                          <a:cs typeface="+mn-cs"/>
                        </a:rPr>
                        <a:t> </a:t>
                      </a:r>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3910791527"/>
                  </a:ext>
                </a:extLst>
              </a:tr>
              <a:tr h="370840">
                <a:tc>
                  <a:txBody>
                    <a:bodyPr/>
                    <a:lstStyle/>
                    <a:p>
                      <a:pPr marL="0" algn="l" defTabSz="914400" rtl="0" eaLnBrk="1" latinLnBrk="0" hangingPunct="1"/>
                      <a:r>
                        <a:rPr lang="en-US" sz="1600" b="0" i="0" kern="1200" dirty="0" smtClean="0">
                          <a:solidFill>
                            <a:srgbClr val="0070C0"/>
                          </a:solidFill>
                          <a:effectLst/>
                          <a:latin typeface="+mn-lt"/>
                          <a:ea typeface="+mn-ea"/>
                          <a:cs typeface="+mn-cs"/>
                        </a:rPr>
                        <a:t>406 Not Acceptable</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800" b="0" i="0" kern="1200" dirty="0" smtClean="0">
                          <a:solidFill>
                            <a:srgbClr val="0070C0"/>
                          </a:solidFill>
                          <a:effectLst/>
                          <a:latin typeface="+mn-lt"/>
                          <a:ea typeface="+mn-ea"/>
                          <a:cs typeface="+mn-cs"/>
                        </a:rPr>
                        <a:t>415 Unsupported Media Type </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a:t>
                      </a:r>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717894618"/>
                  </a:ext>
                </a:extLst>
              </a:tr>
            </a:tbl>
          </a:graphicData>
        </a:graphic>
      </p:graphicFrame>
      <p:sp>
        <p:nvSpPr>
          <p:cNvPr id="35" name="Rectangle 34"/>
          <p:cNvSpPr/>
          <p:nvPr/>
        </p:nvSpPr>
        <p:spPr>
          <a:xfrm>
            <a:off x="6179385" y="285069"/>
            <a:ext cx="5596981" cy="369332"/>
          </a:xfrm>
          <a:prstGeom prst="rect">
            <a:avLst/>
          </a:prstGeom>
        </p:spPr>
        <p:txBody>
          <a:bodyPr wrap="none">
            <a:spAutoFit/>
          </a:bodyPr>
          <a:lstStyle/>
          <a:p>
            <a:r>
              <a:rPr lang="en-US" dirty="0">
                <a:solidFill>
                  <a:srgbClr val="00B050"/>
                </a:solidFill>
                <a:hlinkClick r:id="rId3"/>
              </a:rPr>
              <a:t>https://www.w3schools.com/tags/ref_httpmessages.asp</a:t>
            </a:r>
            <a:r>
              <a:rPr lang="en-US" dirty="0">
                <a:solidFill>
                  <a:srgbClr val="00B050"/>
                </a:solidFill>
              </a:rPr>
              <a:t>  </a:t>
            </a:r>
          </a:p>
        </p:txBody>
      </p:sp>
      <p:graphicFrame>
        <p:nvGraphicFramePr>
          <p:cNvPr id="37" name="Table 36"/>
          <p:cNvGraphicFramePr>
            <a:graphicFrameLocks noGrp="1"/>
          </p:cNvGraphicFramePr>
          <p:nvPr>
            <p:extLst>
              <p:ext uri="{D42A27DB-BD31-4B8C-83A1-F6EECF244321}">
                <p14:modId xmlns:p14="http://schemas.microsoft.com/office/powerpoint/2010/main" val="565314040"/>
              </p:ext>
            </p:extLst>
          </p:nvPr>
        </p:nvGraphicFramePr>
        <p:xfrm>
          <a:off x="2903274" y="5311615"/>
          <a:ext cx="9245890" cy="1493520"/>
        </p:xfrm>
        <a:graphic>
          <a:graphicData uri="http://schemas.openxmlformats.org/drawingml/2006/table">
            <a:tbl>
              <a:tblPr firstRow="1" bandRow="1">
                <a:tableStyleId>{5C22544A-7EE6-4342-B048-85BDC9FD1C3A}</a:tableStyleId>
              </a:tblPr>
              <a:tblGrid>
                <a:gridCol w="3802751">
                  <a:extLst>
                    <a:ext uri="{9D8B030D-6E8A-4147-A177-3AD203B41FA5}">
                      <a16:colId xmlns:a16="http://schemas.microsoft.com/office/drawing/2014/main" val="1819105684"/>
                    </a:ext>
                  </a:extLst>
                </a:gridCol>
                <a:gridCol w="2699520">
                  <a:extLst>
                    <a:ext uri="{9D8B030D-6E8A-4147-A177-3AD203B41FA5}">
                      <a16:colId xmlns:a16="http://schemas.microsoft.com/office/drawing/2014/main" val="3110006933"/>
                    </a:ext>
                  </a:extLst>
                </a:gridCol>
                <a:gridCol w="2743619">
                  <a:extLst>
                    <a:ext uri="{9D8B030D-6E8A-4147-A177-3AD203B41FA5}">
                      <a16:colId xmlns:a16="http://schemas.microsoft.com/office/drawing/2014/main" val="3731979845"/>
                    </a:ext>
                  </a:extLst>
                </a:gridCol>
              </a:tblGrid>
              <a:tr h="512273">
                <a:tc>
                  <a:txBody>
                    <a:bodyPr/>
                    <a:lstStyle/>
                    <a:p>
                      <a:r>
                        <a:rPr lang="en-US" sz="1600" b="1" i="0" kern="1200" dirty="0" smtClean="0">
                          <a:solidFill>
                            <a:srgbClr val="0070C0"/>
                          </a:solidFill>
                          <a:effectLst/>
                          <a:latin typeface="+mn-lt"/>
                          <a:ea typeface="+mn-ea"/>
                          <a:cs typeface="+mn-cs"/>
                        </a:rPr>
                        <a:t>500 Internal Server Error</a:t>
                      </a:r>
                      <a:endParaRPr lang="en-US" sz="1600" b="1" i="0" kern="1200" dirty="0">
                        <a:solidFill>
                          <a:srgbClr val="0070C0"/>
                        </a:solidFill>
                        <a:effectLst/>
                        <a:latin typeface="+mn-lt"/>
                        <a:ea typeface="+mn-ea"/>
                        <a:cs typeface="+mn-cs"/>
                      </a:endParaRPr>
                    </a:p>
                  </a:txBody>
                  <a:tcPr>
                    <a:noFill/>
                  </a:tcPr>
                </a:tc>
                <a:tc>
                  <a:txBody>
                    <a:bodyPr/>
                    <a:lstStyle/>
                    <a:p>
                      <a:r>
                        <a:rPr lang="en-US" sz="1600" b="0" i="0" kern="1200" dirty="0" smtClean="0">
                          <a:solidFill>
                            <a:srgbClr val="0070C0"/>
                          </a:solidFill>
                          <a:effectLst/>
                          <a:latin typeface="+mn-lt"/>
                          <a:ea typeface="+mn-ea"/>
                          <a:cs typeface="+mn-cs"/>
                        </a:rPr>
                        <a:t>501 Not Implemented </a:t>
                      </a:r>
                      <a:r>
                        <a:rPr lang="en-US" sz="1600" b="0" i="0" kern="1200" dirty="0" smtClean="0">
                          <a:solidFill>
                            <a:schemeClr val="tx1"/>
                          </a:solidFill>
                          <a:effectLst/>
                          <a:latin typeface="+mn-lt"/>
                          <a:ea typeface="+mn-ea"/>
                          <a:cs typeface="+mn-cs"/>
                        </a:rPr>
                        <a:t>(Server must support GET, HEAD)</a:t>
                      </a:r>
                      <a:endParaRPr lang="en-US" sz="1600" b="0" i="0" kern="1200" dirty="0">
                        <a:solidFill>
                          <a:srgbClr val="0070C0"/>
                        </a:solidFill>
                        <a:effectLst/>
                        <a:latin typeface="+mn-lt"/>
                        <a:ea typeface="+mn-ea"/>
                        <a:cs typeface="+mn-cs"/>
                      </a:endParaRPr>
                    </a:p>
                  </a:txBody>
                  <a:tcPr>
                    <a:noFill/>
                  </a:tcPr>
                </a:tc>
                <a:tc>
                  <a:txBody>
                    <a:bodyPr/>
                    <a:lstStyle/>
                    <a:p>
                      <a:r>
                        <a:rPr lang="en-US" sz="1600" b="0" i="0" kern="1200" dirty="0" smtClean="0">
                          <a:solidFill>
                            <a:srgbClr val="0070C0"/>
                          </a:solidFill>
                          <a:effectLst/>
                          <a:latin typeface="+mn-lt"/>
                          <a:ea typeface="+mn-ea"/>
                          <a:cs typeface="+mn-cs"/>
                        </a:rPr>
                        <a:t>502 Bad Gateway</a:t>
                      </a:r>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3180383650"/>
                  </a:ext>
                </a:extLst>
              </a:tr>
              <a:tr h="512273">
                <a:tc>
                  <a:txBody>
                    <a:bodyPr/>
                    <a:lstStyle/>
                    <a:p>
                      <a:pPr marL="0" algn="l" defTabSz="914400" rtl="0" eaLnBrk="1" latinLnBrk="0" hangingPunct="1"/>
                      <a:r>
                        <a:rPr lang="en-US" sz="1600" b="0" i="0" kern="1200" dirty="0" smtClean="0">
                          <a:solidFill>
                            <a:srgbClr val="0070C0"/>
                          </a:solidFill>
                          <a:effectLst/>
                          <a:latin typeface="+mn-lt"/>
                          <a:ea typeface="+mn-ea"/>
                          <a:cs typeface="+mn-cs"/>
                        </a:rPr>
                        <a:t>503 Service Unavailable</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504 Gateway Timeout </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505 HTTP Version Not Supported</a:t>
                      </a:r>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3910791527"/>
                  </a:ext>
                </a:extLst>
              </a:tr>
              <a:tr h="328035">
                <a:tc>
                  <a:txBody>
                    <a:bodyPr/>
                    <a:lstStyle/>
                    <a:p>
                      <a:pPr marL="0" algn="l" defTabSz="914400" rtl="0" eaLnBrk="1" latinLnBrk="0" hangingPunct="1"/>
                      <a:r>
                        <a:rPr lang="en-US" sz="1600" b="0" i="0" kern="1200" dirty="0" smtClean="0">
                          <a:solidFill>
                            <a:srgbClr val="0070C0"/>
                          </a:solidFill>
                          <a:effectLst/>
                          <a:latin typeface="+mn-lt"/>
                          <a:ea typeface="+mn-ea"/>
                          <a:cs typeface="+mn-cs"/>
                        </a:rPr>
                        <a:t>511 Network Authentication Required</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r>
                        <a:rPr lang="en-US" sz="1600" b="0" i="0" kern="1200" dirty="0" smtClean="0">
                          <a:solidFill>
                            <a:srgbClr val="0070C0"/>
                          </a:solidFill>
                          <a:effectLst/>
                          <a:latin typeface="+mn-lt"/>
                          <a:ea typeface="+mn-ea"/>
                          <a:cs typeface="+mn-cs"/>
                        </a:rPr>
                        <a:t>… </a:t>
                      </a:r>
                      <a:endParaRPr lang="en-US" sz="1600" b="0" i="0" kern="1200" dirty="0">
                        <a:solidFill>
                          <a:srgbClr val="0070C0"/>
                        </a:solidFill>
                        <a:effectLst/>
                        <a:latin typeface="+mn-lt"/>
                        <a:ea typeface="+mn-ea"/>
                        <a:cs typeface="+mn-cs"/>
                      </a:endParaRPr>
                    </a:p>
                  </a:txBody>
                  <a:tcPr>
                    <a:noFill/>
                  </a:tcPr>
                </a:tc>
                <a:tc>
                  <a:txBody>
                    <a:bodyPr/>
                    <a:lstStyle/>
                    <a:p>
                      <a:pPr marL="0" algn="l" defTabSz="914400" rtl="0" eaLnBrk="1" latinLnBrk="0" hangingPunct="1"/>
                      <a:endParaRPr lang="en-US" sz="1600" b="0" i="0" kern="1200" dirty="0">
                        <a:solidFill>
                          <a:srgbClr val="0070C0"/>
                        </a:solidFill>
                        <a:effectLst/>
                        <a:latin typeface="+mn-lt"/>
                        <a:ea typeface="+mn-ea"/>
                        <a:cs typeface="+mn-cs"/>
                      </a:endParaRPr>
                    </a:p>
                  </a:txBody>
                  <a:tcPr>
                    <a:noFill/>
                  </a:tcPr>
                </a:tc>
                <a:extLst>
                  <a:ext uri="{0D108BD9-81ED-4DB2-BD59-A6C34878D82A}">
                    <a16:rowId xmlns:a16="http://schemas.microsoft.com/office/drawing/2014/main" val="362061333"/>
                  </a:ext>
                </a:extLst>
              </a:tr>
            </a:tbl>
          </a:graphicData>
        </a:graphic>
      </p:graphicFrame>
      <p:cxnSp>
        <p:nvCxnSpPr>
          <p:cNvPr id="40" name="Straight Connector 39"/>
          <p:cNvCxnSpPr/>
          <p:nvPr/>
        </p:nvCxnSpPr>
        <p:spPr>
          <a:xfrm flipV="1">
            <a:off x="2938807" y="2940305"/>
            <a:ext cx="9174825" cy="54451"/>
          </a:xfrm>
          <a:prstGeom prst="line">
            <a:avLst/>
          </a:prstGeom>
          <a:ln>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2965452" y="3888870"/>
            <a:ext cx="9174825" cy="54451"/>
          </a:xfrm>
          <a:prstGeom prst="line">
            <a:avLst/>
          </a:prstGeom>
          <a:ln>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3002401" y="5162050"/>
            <a:ext cx="9174825" cy="54451"/>
          </a:xfrm>
          <a:prstGeom prst="line">
            <a:avLst/>
          </a:prstGeom>
          <a:ln>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6761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8" name="TextBox 17"/>
          <p:cNvSpPr txBox="1"/>
          <p:nvPr/>
        </p:nvSpPr>
        <p:spPr>
          <a:xfrm>
            <a:off x="449795" y="1048166"/>
            <a:ext cx="10852388" cy="830997"/>
          </a:xfrm>
          <a:prstGeom prst="rect">
            <a:avLst/>
          </a:prstGeom>
          <a:noFill/>
        </p:spPr>
        <p:txBody>
          <a:bodyPr wrap="square" rtlCol="0">
            <a:spAutoFit/>
          </a:bodyPr>
          <a:lstStyle/>
          <a:p>
            <a:r>
              <a:rPr lang="en-US" sz="2400" dirty="0">
                <a:solidFill>
                  <a:srgbClr val="00B050"/>
                </a:solidFill>
              </a:rPr>
              <a:t>No matter what </a:t>
            </a:r>
            <a:r>
              <a:rPr lang="en-US" sz="2400" dirty="0" smtClean="0">
                <a:solidFill>
                  <a:srgbClr val="00B050"/>
                </a:solidFill>
              </a:rPr>
              <a:t>happens</a:t>
            </a:r>
            <a:r>
              <a:rPr lang="en-US" sz="2400" dirty="0">
                <a:solidFill>
                  <a:srgbClr val="00B050"/>
                </a:solidFill>
              </a:rPr>
              <a:t> </a:t>
            </a:r>
            <a:r>
              <a:rPr lang="en-US" sz="2400" dirty="0" smtClean="0">
                <a:solidFill>
                  <a:srgbClr val="00B050"/>
                </a:solidFill>
              </a:rPr>
              <a:t>(positive or negative  output),  the </a:t>
            </a:r>
            <a:r>
              <a:rPr lang="en-US" sz="2400" dirty="0">
                <a:solidFill>
                  <a:srgbClr val="00B050"/>
                </a:solidFill>
              </a:rPr>
              <a:t>outcome of a servlet request is a </a:t>
            </a:r>
            <a:r>
              <a:rPr lang="en-US" sz="2400" dirty="0" smtClean="0">
                <a:solidFill>
                  <a:srgbClr val="00B050"/>
                </a:solidFill>
              </a:rPr>
              <a:t>servlet response !!!  </a:t>
            </a:r>
            <a:endParaRPr lang="en-US" sz="2400" dirty="0">
              <a:solidFill>
                <a:srgbClr val="00B050"/>
              </a:solidFill>
            </a:endParaRPr>
          </a:p>
        </p:txBody>
      </p:sp>
      <p:sp>
        <p:nvSpPr>
          <p:cNvPr id="25" name="TextBox 24"/>
          <p:cNvSpPr txBox="1"/>
          <p:nvPr/>
        </p:nvSpPr>
        <p:spPr>
          <a:xfrm>
            <a:off x="449795" y="2404533"/>
            <a:ext cx="11595450" cy="2677656"/>
          </a:xfrm>
          <a:prstGeom prst="rect">
            <a:avLst/>
          </a:prstGeom>
          <a:noFill/>
        </p:spPr>
        <p:txBody>
          <a:bodyPr wrap="square" rtlCol="0">
            <a:spAutoFit/>
          </a:bodyPr>
          <a:lstStyle/>
          <a:p>
            <a:r>
              <a:rPr lang="en-US" sz="2400" b="1" dirty="0">
                <a:solidFill>
                  <a:srgbClr val="C00000"/>
                </a:solidFill>
              </a:rPr>
              <a:t>Spring offers a handful of ways to translate exceptions to responses</a:t>
            </a:r>
            <a:r>
              <a:rPr lang="en-US" sz="2400" b="1" dirty="0" smtClean="0">
                <a:solidFill>
                  <a:srgbClr val="C00000"/>
                </a:solidFill>
              </a:rPr>
              <a:t>:</a:t>
            </a:r>
          </a:p>
          <a:p>
            <a:endParaRPr lang="en-US" sz="2400" dirty="0"/>
          </a:p>
          <a:p>
            <a:pPr marL="285750" indent="-285750">
              <a:buFont typeface="Wingdings" panose="05000000000000000000" pitchFamily="2" charset="2"/>
              <a:buChar char="§"/>
            </a:pPr>
            <a:r>
              <a:rPr lang="en-US" sz="2400" dirty="0" smtClean="0"/>
              <a:t>Certain </a:t>
            </a:r>
            <a:r>
              <a:rPr lang="en-US" sz="2400" dirty="0"/>
              <a:t>Spring exceptions are automatically mapped to specific HTTP </a:t>
            </a:r>
            <a:r>
              <a:rPr lang="en-US" sz="2400" dirty="0" smtClean="0"/>
              <a:t>status codes.</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smtClean="0"/>
              <a:t>An </a:t>
            </a:r>
            <a:r>
              <a:rPr lang="en-US" sz="2400" dirty="0"/>
              <a:t>exception can be annotated with </a:t>
            </a:r>
            <a:r>
              <a:rPr lang="en-US" sz="2400" b="1" dirty="0"/>
              <a:t>@</a:t>
            </a:r>
            <a:r>
              <a:rPr lang="en-US" sz="2400" b="1" dirty="0" err="1"/>
              <a:t>ResponseStatus</a:t>
            </a:r>
            <a:r>
              <a:rPr lang="en-US" sz="2400" b="1" dirty="0"/>
              <a:t> </a:t>
            </a:r>
            <a:r>
              <a:rPr lang="en-US" sz="2400" dirty="0"/>
              <a:t>to map it to an HTTP </a:t>
            </a:r>
            <a:r>
              <a:rPr lang="en-US" sz="2400" dirty="0" smtClean="0"/>
              <a:t>status code.</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smtClean="0"/>
              <a:t>A </a:t>
            </a:r>
            <a:r>
              <a:rPr lang="en-US" sz="2400" dirty="0"/>
              <a:t>method can be annotated with </a:t>
            </a:r>
            <a:r>
              <a:rPr lang="en-US" sz="2400" b="1" dirty="0"/>
              <a:t>@</a:t>
            </a:r>
            <a:r>
              <a:rPr lang="en-US" sz="2400" b="1" dirty="0" err="1"/>
              <a:t>ExceptionHandler</a:t>
            </a:r>
            <a:r>
              <a:rPr lang="en-US" sz="2400" dirty="0"/>
              <a:t> to handle the exception.</a:t>
            </a:r>
          </a:p>
        </p:txBody>
      </p:sp>
      <p:sp>
        <p:nvSpPr>
          <p:cNvPr id="26" name="Rectangle 25"/>
          <p:cNvSpPr/>
          <p:nvPr/>
        </p:nvSpPr>
        <p:spPr>
          <a:xfrm>
            <a:off x="449795" y="319824"/>
            <a:ext cx="3613874" cy="584775"/>
          </a:xfrm>
          <a:prstGeom prst="rect">
            <a:avLst/>
          </a:prstGeom>
        </p:spPr>
        <p:txBody>
          <a:bodyPr wrap="none">
            <a:spAutoFit/>
          </a:bodyPr>
          <a:lstStyle/>
          <a:p>
            <a:r>
              <a:rPr lang="en-US" sz="3200" b="1" i="1" dirty="0">
                <a:solidFill>
                  <a:srgbClr val="00B050"/>
                </a:solidFill>
              </a:rPr>
              <a:t>Handling exceptions</a:t>
            </a:r>
          </a:p>
        </p:txBody>
      </p:sp>
    </p:spTree>
    <p:extLst>
      <p:ext uri="{BB962C8B-B14F-4D97-AF65-F5344CB8AC3E}">
        <p14:creationId xmlns:p14="http://schemas.microsoft.com/office/powerpoint/2010/main" val="13304431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4" name="Rectangle 23"/>
          <p:cNvSpPr/>
          <p:nvPr/>
        </p:nvSpPr>
        <p:spPr>
          <a:xfrm>
            <a:off x="427277" y="46756"/>
            <a:ext cx="7361887" cy="830997"/>
          </a:xfrm>
          <a:prstGeom prst="rect">
            <a:avLst/>
          </a:prstGeom>
        </p:spPr>
        <p:txBody>
          <a:bodyPr wrap="none">
            <a:spAutoFit/>
          </a:bodyPr>
          <a:lstStyle/>
          <a:p>
            <a:r>
              <a:rPr lang="en-US" sz="3200" b="1" i="1" dirty="0">
                <a:solidFill>
                  <a:srgbClr val="C00000"/>
                </a:solidFill>
              </a:rPr>
              <a:t>Mapping exceptions to HTTP status codes</a:t>
            </a:r>
            <a:r>
              <a:rPr lang="en-US" sz="4800" dirty="0">
                <a:solidFill>
                  <a:srgbClr val="C00000"/>
                </a:solidFill>
              </a:rPr>
              <a:t> </a:t>
            </a:r>
            <a:endParaRPr lang="en-US" sz="4800" b="1" i="1" dirty="0">
              <a:solidFill>
                <a:srgbClr val="C00000"/>
              </a:solidFill>
            </a:endParaRPr>
          </a:p>
        </p:txBody>
      </p:sp>
      <p:pic>
        <p:nvPicPr>
          <p:cNvPr id="17" name="Picture 16"/>
          <p:cNvPicPr>
            <a:picLocks noChangeAspect="1"/>
          </p:cNvPicPr>
          <p:nvPr/>
        </p:nvPicPr>
        <p:blipFill>
          <a:blip r:embed="rId3"/>
          <a:stretch>
            <a:fillRect/>
          </a:stretch>
        </p:blipFill>
        <p:spPr>
          <a:xfrm>
            <a:off x="4720127" y="982114"/>
            <a:ext cx="7429500" cy="5238750"/>
          </a:xfrm>
          <a:prstGeom prst="rect">
            <a:avLst/>
          </a:prstGeom>
        </p:spPr>
      </p:pic>
      <p:sp>
        <p:nvSpPr>
          <p:cNvPr id="18" name="Rectangle 17"/>
          <p:cNvSpPr/>
          <p:nvPr/>
        </p:nvSpPr>
        <p:spPr>
          <a:xfrm>
            <a:off x="184731" y="1129459"/>
            <a:ext cx="4489660" cy="1077218"/>
          </a:xfrm>
          <a:prstGeom prst="rect">
            <a:avLst/>
          </a:prstGeom>
        </p:spPr>
        <p:txBody>
          <a:bodyPr wrap="square">
            <a:spAutoFit/>
          </a:bodyPr>
          <a:lstStyle/>
          <a:p>
            <a:r>
              <a:rPr lang="en-US" sz="1600" dirty="0" smtClean="0">
                <a:latin typeface="NewBaskerville-Roman"/>
              </a:rPr>
              <a:t>Spring automatically (built-in) </a:t>
            </a:r>
            <a:r>
              <a:rPr lang="en-US" sz="1600" dirty="0">
                <a:latin typeface="NewBaskerville-Roman"/>
              </a:rPr>
              <a:t>maps a dozen of its own </a:t>
            </a:r>
            <a:r>
              <a:rPr lang="en-US" sz="1600" dirty="0" smtClean="0">
                <a:latin typeface="NewBaskerville-Roman"/>
              </a:rPr>
              <a:t>exceptions (</a:t>
            </a:r>
            <a:r>
              <a:rPr lang="en-US" sz="1600" dirty="0">
                <a:latin typeface="NewBaskerville-Roman"/>
              </a:rPr>
              <a:t>result of </a:t>
            </a:r>
            <a:r>
              <a:rPr lang="en-US" sz="1600" dirty="0" smtClean="0">
                <a:latin typeface="NewBaskerville-Roman"/>
              </a:rPr>
              <a:t>something going </a:t>
            </a:r>
            <a:r>
              <a:rPr lang="en-US" sz="1600" dirty="0">
                <a:latin typeface="NewBaskerville-Roman"/>
              </a:rPr>
              <a:t>wrong in </a:t>
            </a:r>
            <a:r>
              <a:rPr lang="en-US" sz="1600" dirty="0" err="1" smtClean="0">
                <a:latin typeface="NewBaskerville-Roman"/>
              </a:rPr>
              <a:t>DispatcherServlet</a:t>
            </a:r>
            <a:r>
              <a:rPr lang="en-US" sz="1600" dirty="0" smtClean="0">
                <a:latin typeface="NewBaskerville-Roman"/>
              </a:rPr>
              <a:t> </a:t>
            </a:r>
            <a:r>
              <a:rPr lang="en-US" sz="1600" dirty="0">
                <a:latin typeface="NewBaskerville-Roman"/>
              </a:rPr>
              <a:t>or while performing </a:t>
            </a:r>
            <a:r>
              <a:rPr lang="en-US" sz="1600" dirty="0" smtClean="0">
                <a:latin typeface="NewBaskerville-Roman"/>
              </a:rPr>
              <a:t>validation) </a:t>
            </a:r>
            <a:r>
              <a:rPr lang="en-US" sz="1600" dirty="0">
                <a:latin typeface="NewBaskerville-Roman"/>
              </a:rPr>
              <a:t>to appropriate status </a:t>
            </a:r>
            <a:r>
              <a:rPr lang="en-US" sz="1600" dirty="0" smtClean="0">
                <a:latin typeface="NewBaskerville-Roman"/>
              </a:rPr>
              <a:t>codes. </a:t>
            </a:r>
            <a:endParaRPr lang="en-US" sz="1600" dirty="0">
              <a:latin typeface="NewBaskerville-Roman"/>
            </a:endParaRPr>
          </a:p>
        </p:txBody>
      </p:sp>
      <p:sp>
        <p:nvSpPr>
          <p:cNvPr id="23" name="Rectangle 22"/>
          <p:cNvSpPr/>
          <p:nvPr/>
        </p:nvSpPr>
        <p:spPr>
          <a:xfrm>
            <a:off x="222289" y="2461205"/>
            <a:ext cx="4414544" cy="923330"/>
          </a:xfrm>
          <a:prstGeom prst="rect">
            <a:avLst/>
          </a:prstGeom>
        </p:spPr>
        <p:txBody>
          <a:bodyPr wrap="square">
            <a:spAutoFit/>
          </a:bodyPr>
          <a:lstStyle/>
          <a:p>
            <a:r>
              <a:rPr lang="en-US" dirty="0"/>
              <a:t>Although these built-in mappings are helpful, they do no good for any</a:t>
            </a:r>
            <a:r>
              <a:rPr lang="en-US" b="1" dirty="0"/>
              <a:t> application</a:t>
            </a:r>
          </a:p>
          <a:p>
            <a:r>
              <a:rPr lang="en-US" b="1" dirty="0"/>
              <a:t>exceptions</a:t>
            </a:r>
            <a:r>
              <a:rPr lang="en-US" dirty="0"/>
              <a:t> that may be thrown. </a:t>
            </a:r>
          </a:p>
        </p:txBody>
      </p:sp>
      <p:sp>
        <p:nvSpPr>
          <p:cNvPr id="25" name="Rectangle 24"/>
          <p:cNvSpPr/>
          <p:nvPr/>
        </p:nvSpPr>
        <p:spPr>
          <a:xfrm>
            <a:off x="328073" y="5250247"/>
            <a:ext cx="2516822" cy="461665"/>
          </a:xfrm>
          <a:prstGeom prst="rect">
            <a:avLst/>
          </a:prstGeom>
        </p:spPr>
        <p:txBody>
          <a:bodyPr wrap="square">
            <a:spAutoFit/>
          </a:bodyPr>
          <a:lstStyle/>
          <a:p>
            <a:r>
              <a:rPr lang="en-US" sz="2400" b="1" dirty="0" smtClean="0">
                <a:solidFill>
                  <a:srgbClr val="FF0000"/>
                </a:solidFill>
              </a:rPr>
              <a:t>How?</a:t>
            </a:r>
            <a:endParaRPr lang="en-US" sz="2400" b="1" dirty="0">
              <a:solidFill>
                <a:srgbClr val="FF0000"/>
              </a:solidFill>
            </a:endParaRPr>
          </a:p>
        </p:txBody>
      </p:sp>
      <p:pic>
        <p:nvPicPr>
          <p:cNvPr id="27" name="Picture 26"/>
          <p:cNvPicPr>
            <a:picLocks noChangeAspect="1"/>
          </p:cNvPicPr>
          <p:nvPr/>
        </p:nvPicPr>
        <p:blipFill>
          <a:blip r:embed="rId4"/>
          <a:stretch>
            <a:fillRect/>
          </a:stretch>
        </p:blipFill>
        <p:spPr>
          <a:xfrm>
            <a:off x="1627019" y="4727780"/>
            <a:ext cx="2527224" cy="1593452"/>
          </a:xfrm>
          <a:prstGeom prst="rect">
            <a:avLst/>
          </a:prstGeom>
        </p:spPr>
      </p:pic>
      <p:sp>
        <p:nvSpPr>
          <p:cNvPr id="29" name="Rectangle 28"/>
          <p:cNvSpPr/>
          <p:nvPr/>
        </p:nvSpPr>
        <p:spPr>
          <a:xfrm>
            <a:off x="291627" y="3658597"/>
            <a:ext cx="4660289" cy="1169551"/>
          </a:xfrm>
          <a:prstGeom prst="rect">
            <a:avLst/>
          </a:prstGeom>
        </p:spPr>
        <p:txBody>
          <a:bodyPr wrap="square">
            <a:spAutoFit/>
          </a:bodyPr>
          <a:lstStyle/>
          <a:p>
            <a:r>
              <a:rPr lang="en-US" sz="1400" b="1" dirty="0" smtClean="0">
                <a:solidFill>
                  <a:srgbClr val="7F0055"/>
                </a:solidFill>
                <a:latin typeface="Consolas" panose="020B0609020204030204" pitchFamily="49" charset="0"/>
              </a:rPr>
              <a:t>public</a:t>
            </a:r>
            <a:r>
              <a:rPr lang="en-US" sz="1400" b="1" dirty="0" smtClean="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class</a:t>
            </a:r>
            <a:r>
              <a:rPr lang="en-US" sz="1400" b="1" dirty="0">
                <a:solidFill>
                  <a:srgbClr val="000000"/>
                </a:solidFill>
                <a:latin typeface="Consolas" panose="020B0609020204030204" pitchFamily="49" charset="0"/>
              </a:rPr>
              <a:t> </a:t>
            </a:r>
            <a:r>
              <a:rPr lang="en-US" sz="1400" b="1" dirty="0" err="1" smtClean="0">
                <a:solidFill>
                  <a:srgbClr val="000000"/>
                </a:solidFill>
                <a:latin typeface="Consolas" panose="020B0609020204030204" pitchFamily="49" charset="0"/>
              </a:rPr>
              <a:t>RateNotFoundException</a:t>
            </a:r>
            <a:r>
              <a:rPr lang="en-US" sz="1400" b="1" dirty="0" smtClean="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extends</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RuntimeException</a:t>
            </a:r>
            <a:r>
              <a:rPr lang="en-US" sz="1400" b="1" dirty="0">
                <a:solidFill>
                  <a:srgbClr val="000000"/>
                </a:solidFill>
                <a:latin typeface="Consolas" panose="020B0609020204030204" pitchFamily="49" charset="0"/>
              </a:rPr>
              <a:t> </a:t>
            </a:r>
            <a:r>
              <a:rPr lang="en-US" sz="1400" b="1" dirty="0" smtClean="0">
                <a:solidFill>
                  <a:srgbClr val="000000"/>
                </a:solidFill>
                <a:latin typeface="Consolas" panose="020B0609020204030204" pitchFamily="49" charset="0"/>
              </a:rPr>
              <a:t>{ </a:t>
            </a:r>
            <a:endParaRPr lang="en-US" sz="1400" dirty="0">
              <a:latin typeface="Consolas" panose="020B0609020204030204" pitchFamily="49" charset="0"/>
            </a:endParaRPr>
          </a:p>
          <a:p>
            <a:r>
              <a:rPr lang="en-US" sz="1400" b="1" dirty="0">
                <a:solidFill>
                  <a:srgbClr val="7F0055"/>
                </a:solidFill>
                <a:latin typeface="Consolas" panose="020B0609020204030204" pitchFamily="49" charset="0"/>
              </a:rPr>
              <a:t>public</a:t>
            </a:r>
            <a:r>
              <a:rPr lang="en-US" sz="1400" b="1" dirty="0">
                <a:solidFill>
                  <a:srgbClr val="000000"/>
                </a:solidFill>
                <a:latin typeface="Consolas" panose="020B0609020204030204" pitchFamily="49" charset="0"/>
              </a:rPr>
              <a:t> </a:t>
            </a:r>
            <a:r>
              <a:rPr lang="en-US" sz="1400" b="1" dirty="0" err="1" smtClean="0">
                <a:solidFill>
                  <a:srgbClr val="000000"/>
                </a:solidFill>
                <a:latin typeface="Consolas" panose="020B0609020204030204" pitchFamily="49" charset="0"/>
              </a:rPr>
              <a:t>RateNotFoundException</a:t>
            </a:r>
            <a:r>
              <a:rPr lang="en-US" sz="1400" b="1" dirty="0" smtClean="0">
                <a:solidFill>
                  <a:srgbClr val="000000"/>
                </a:solidFill>
                <a:latin typeface="Consolas" panose="020B0609020204030204" pitchFamily="49" charset="0"/>
              </a:rPr>
              <a:t>(String </a:t>
            </a:r>
            <a:r>
              <a:rPr lang="en-US" sz="1400" b="1" dirty="0" err="1">
                <a:solidFill>
                  <a:srgbClr val="6A3E3E"/>
                </a:solidFill>
                <a:latin typeface="Consolas" panose="020B0609020204030204" pitchFamily="49" charset="0"/>
              </a:rPr>
              <a:t>msg</a:t>
            </a:r>
            <a:r>
              <a:rPr lang="en-US" sz="1400" b="1" dirty="0">
                <a:solidFill>
                  <a:srgbClr val="000000"/>
                </a:solidFill>
                <a:latin typeface="Consolas" panose="020B0609020204030204" pitchFamily="49" charset="0"/>
              </a:rPr>
              <a:t>) {</a:t>
            </a:r>
          </a:p>
          <a:p>
            <a:r>
              <a:rPr lang="en-US" sz="1400" b="1" dirty="0">
                <a:solidFill>
                  <a:srgbClr val="7F0055"/>
                </a:solidFill>
                <a:latin typeface="Consolas" panose="020B0609020204030204" pitchFamily="49" charset="0"/>
              </a:rPr>
              <a:t>super</a:t>
            </a:r>
            <a:r>
              <a:rPr lang="en-US" sz="1400" b="1" dirty="0">
                <a:solidFill>
                  <a:srgbClr val="000000"/>
                </a:solidFill>
                <a:latin typeface="Consolas" panose="020B0609020204030204" pitchFamily="49" charset="0"/>
              </a:rPr>
              <a:t>(</a:t>
            </a:r>
            <a:r>
              <a:rPr lang="en-US" sz="1400" b="1" dirty="0" err="1">
                <a:solidFill>
                  <a:srgbClr val="6A3E3E"/>
                </a:solidFill>
                <a:latin typeface="Consolas" panose="020B0609020204030204" pitchFamily="49" charset="0"/>
              </a:rPr>
              <a:t>msg</a:t>
            </a:r>
            <a:r>
              <a:rPr lang="en-US" sz="1400" b="1"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endParaRPr lang="en-US" sz="1400" dirty="0"/>
          </a:p>
        </p:txBody>
      </p:sp>
      <p:sp>
        <p:nvSpPr>
          <p:cNvPr id="30" name="Rectangle 29"/>
          <p:cNvSpPr/>
          <p:nvPr/>
        </p:nvSpPr>
        <p:spPr>
          <a:xfrm>
            <a:off x="291626" y="6396335"/>
            <a:ext cx="11448229" cy="369332"/>
          </a:xfrm>
          <a:prstGeom prst="rect">
            <a:avLst/>
          </a:prstGeom>
        </p:spPr>
        <p:txBody>
          <a:bodyPr wrap="square">
            <a:spAutoFit/>
          </a:bodyPr>
          <a:lstStyle/>
          <a:p>
            <a:r>
              <a:rPr lang="en-US" dirty="0" smtClean="0">
                <a:solidFill>
                  <a:srgbClr val="FF0000"/>
                </a:solidFill>
              </a:rPr>
              <a:t>What if some engine processes your data and makes a decision based on your STATUS Code? E.g. games, rates, …  </a:t>
            </a:r>
            <a:endParaRPr lang="en-US" dirty="0">
              <a:solidFill>
                <a:srgbClr val="FF0000"/>
              </a:solidFill>
            </a:endParaRPr>
          </a:p>
        </p:txBody>
      </p:sp>
    </p:spTree>
    <p:extLst>
      <p:ext uri="{BB962C8B-B14F-4D97-AF65-F5344CB8AC3E}">
        <p14:creationId xmlns:p14="http://schemas.microsoft.com/office/powerpoint/2010/main" val="19731123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4" name="Rectangle 23"/>
          <p:cNvSpPr/>
          <p:nvPr/>
        </p:nvSpPr>
        <p:spPr>
          <a:xfrm>
            <a:off x="427277" y="46756"/>
            <a:ext cx="7361887" cy="830997"/>
          </a:xfrm>
          <a:prstGeom prst="rect">
            <a:avLst/>
          </a:prstGeom>
        </p:spPr>
        <p:txBody>
          <a:bodyPr wrap="none">
            <a:spAutoFit/>
          </a:bodyPr>
          <a:lstStyle/>
          <a:p>
            <a:r>
              <a:rPr lang="en-US" sz="3200" b="1" i="1" dirty="0">
                <a:solidFill>
                  <a:srgbClr val="C00000"/>
                </a:solidFill>
              </a:rPr>
              <a:t>Mapping exceptions to HTTP status codes</a:t>
            </a:r>
            <a:r>
              <a:rPr lang="en-US" sz="4800" dirty="0">
                <a:solidFill>
                  <a:srgbClr val="C00000"/>
                </a:solidFill>
              </a:rPr>
              <a:t> </a:t>
            </a:r>
            <a:endParaRPr lang="en-US" sz="4800" b="1" i="1" dirty="0">
              <a:solidFill>
                <a:srgbClr val="C00000"/>
              </a:solidFill>
            </a:endParaRPr>
          </a:p>
        </p:txBody>
      </p:sp>
      <p:sp>
        <p:nvSpPr>
          <p:cNvPr id="26" name="Rectangle 25"/>
          <p:cNvSpPr/>
          <p:nvPr/>
        </p:nvSpPr>
        <p:spPr>
          <a:xfrm>
            <a:off x="375273" y="975097"/>
            <a:ext cx="11165235" cy="646331"/>
          </a:xfrm>
          <a:prstGeom prst="rect">
            <a:avLst/>
          </a:prstGeom>
        </p:spPr>
        <p:txBody>
          <a:bodyPr wrap="square">
            <a:spAutoFit/>
          </a:bodyPr>
          <a:lstStyle/>
          <a:p>
            <a:r>
              <a:rPr lang="en-US" dirty="0" smtClean="0"/>
              <a:t>E.g.  You search item by ID or by some criteria, and data is not found, but you receive “Not FOUND” </a:t>
            </a:r>
          </a:p>
          <a:p>
            <a:r>
              <a:rPr lang="en-US" dirty="0" smtClean="0"/>
              <a:t>error message with status code </a:t>
            </a:r>
            <a:r>
              <a:rPr lang="en-US" dirty="0" smtClean="0">
                <a:solidFill>
                  <a:srgbClr val="FF0000"/>
                </a:solidFill>
              </a:rPr>
              <a:t>500 ;(    (Internal Server Error)</a:t>
            </a:r>
            <a:endParaRPr lang="en-US" dirty="0">
              <a:solidFill>
                <a:srgbClr val="FF0000"/>
              </a:solidFill>
            </a:endParaRPr>
          </a:p>
        </p:txBody>
      </p:sp>
      <p:pic>
        <p:nvPicPr>
          <p:cNvPr id="29" name="Picture 28"/>
          <p:cNvPicPr>
            <a:picLocks noChangeAspect="1"/>
          </p:cNvPicPr>
          <p:nvPr/>
        </p:nvPicPr>
        <p:blipFill>
          <a:blip r:embed="rId3"/>
          <a:stretch>
            <a:fillRect/>
          </a:stretch>
        </p:blipFill>
        <p:spPr>
          <a:xfrm rot="346235">
            <a:off x="335271" y="2143644"/>
            <a:ext cx="8658225" cy="4105275"/>
          </a:xfrm>
          <a:prstGeom prst="rect">
            <a:avLst/>
          </a:prstGeom>
        </p:spPr>
      </p:pic>
      <p:pic>
        <p:nvPicPr>
          <p:cNvPr id="30" name="Picture 29"/>
          <p:cNvPicPr>
            <a:picLocks noChangeAspect="1"/>
          </p:cNvPicPr>
          <p:nvPr/>
        </p:nvPicPr>
        <p:blipFill>
          <a:blip r:embed="rId4"/>
          <a:stretch>
            <a:fillRect/>
          </a:stretch>
        </p:blipFill>
        <p:spPr>
          <a:xfrm rot="20925799">
            <a:off x="5767054" y="1575393"/>
            <a:ext cx="5943600" cy="3019425"/>
          </a:xfrm>
          <a:prstGeom prst="rect">
            <a:avLst/>
          </a:prstGeom>
        </p:spPr>
      </p:pic>
      <p:pic>
        <p:nvPicPr>
          <p:cNvPr id="31" name="Picture 30"/>
          <p:cNvPicPr>
            <a:picLocks noChangeAspect="1"/>
          </p:cNvPicPr>
          <p:nvPr/>
        </p:nvPicPr>
        <p:blipFill>
          <a:blip r:embed="rId5"/>
          <a:stretch>
            <a:fillRect/>
          </a:stretch>
        </p:blipFill>
        <p:spPr>
          <a:xfrm>
            <a:off x="335271" y="2125475"/>
            <a:ext cx="895350" cy="276225"/>
          </a:xfrm>
          <a:prstGeom prst="rect">
            <a:avLst/>
          </a:prstGeom>
        </p:spPr>
      </p:pic>
    </p:spTree>
    <p:extLst>
      <p:ext uri="{BB962C8B-B14F-4D97-AF65-F5344CB8AC3E}">
        <p14:creationId xmlns:p14="http://schemas.microsoft.com/office/powerpoint/2010/main" val="32348488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4" name="Rectangle 23"/>
          <p:cNvSpPr/>
          <p:nvPr/>
        </p:nvSpPr>
        <p:spPr>
          <a:xfrm>
            <a:off x="184731" y="-72575"/>
            <a:ext cx="7361887" cy="830997"/>
          </a:xfrm>
          <a:prstGeom prst="rect">
            <a:avLst/>
          </a:prstGeom>
        </p:spPr>
        <p:txBody>
          <a:bodyPr wrap="none">
            <a:spAutoFit/>
          </a:bodyPr>
          <a:lstStyle/>
          <a:p>
            <a:r>
              <a:rPr lang="en-US" sz="3200" b="1" i="1" dirty="0">
                <a:solidFill>
                  <a:srgbClr val="C00000"/>
                </a:solidFill>
              </a:rPr>
              <a:t>Mapping exceptions to HTTP status codes</a:t>
            </a:r>
            <a:r>
              <a:rPr lang="en-US" sz="4800" dirty="0">
                <a:solidFill>
                  <a:srgbClr val="C00000"/>
                </a:solidFill>
              </a:rPr>
              <a:t> </a:t>
            </a:r>
            <a:endParaRPr lang="en-US" sz="4800" b="1" i="1" dirty="0">
              <a:solidFill>
                <a:srgbClr val="C00000"/>
              </a:solidFill>
            </a:endParaRPr>
          </a:p>
        </p:txBody>
      </p:sp>
      <p:sp>
        <p:nvSpPr>
          <p:cNvPr id="26" name="Rectangle 25"/>
          <p:cNvSpPr/>
          <p:nvPr/>
        </p:nvSpPr>
        <p:spPr>
          <a:xfrm>
            <a:off x="331936" y="862355"/>
            <a:ext cx="5517227" cy="1200329"/>
          </a:xfrm>
          <a:prstGeom prst="rect">
            <a:avLst/>
          </a:prstGeom>
        </p:spPr>
        <p:txBody>
          <a:bodyPr wrap="square">
            <a:spAutoFit/>
          </a:bodyPr>
          <a:lstStyle/>
          <a:p>
            <a:r>
              <a:rPr lang="en-US" dirty="0"/>
              <a:t>The HTTP status code of </a:t>
            </a:r>
            <a:r>
              <a:rPr lang="en-US" dirty="0">
                <a:solidFill>
                  <a:srgbClr val="00B050"/>
                </a:solidFill>
              </a:rPr>
              <a:t>404</a:t>
            </a:r>
            <a:r>
              <a:rPr lang="en-US" dirty="0"/>
              <a:t> is precisely the </a:t>
            </a:r>
            <a:r>
              <a:rPr lang="en-US" dirty="0" smtClean="0"/>
              <a:t>appropriate response </a:t>
            </a:r>
            <a:r>
              <a:rPr lang="en-US" dirty="0"/>
              <a:t>status code </a:t>
            </a:r>
            <a:r>
              <a:rPr lang="en-US" b="1" dirty="0"/>
              <a:t>when a resource isn’t found</a:t>
            </a:r>
            <a:r>
              <a:rPr lang="en-US" dirty="0"/>
              <a:t>. So, let’s use </a:t>
            </a:r>
            <a:r>
              <a:rPr lang="en-US" dirty="0">
                <a:solidFill>
                  <a:srgbClr val="00B050"/>
                </a:solidFill>
              </a:rPr>
              <a:t>@</a:t>
            </a:r>
            <a:r>
              <a:rPr lang="en-US" dirty="0" err="1">
                <a:solidFill>
                  <a:srgbClr val="00B050"/>
                </a:solidFill>
              </a:rPr>
              <a:t>ResponseStatus</a:t>
            </a:r>
            <a:r>
              <a:rPr lang="en-US" dirty="0">
                <a:solidFill>
                  <a:srgbClr val="00B050"/>
                </a:solidFill>
              </a:rPr>
              <a:t> </a:t>
            </a:r>
            <a:r>
              <a:rPr lang="en-US" dirty="0" smtClean="0"/>
              <a:t>to map </a:t>
            </a:r>
            <a:r>
              <a:rPr lang="en-US" dirty="0" err="1" smtClean="0"/>
              <a:t>RateNotFoundException</a:t>
            </a:r>
            <a:r>
              <a:rPr lang="en-US" dirty="0" smtClean="0"/>
              <a:t> to </a:t>
            </a:r>
            <a:r>
              <a:rPr lang="en-US" dirty="0"/>
              <a:t>HTTP status code </a:t>
            </a:r>
            <a:r>
              <a:rPr lang="en-US" dirty="0" smtClean="0"/>
              <a:t>404</a:t>
            </a:r>
            <a:endParaRPr lang="en-US" dirty="0">
              <a:solidFill>
                <a:srgbClr val="FF0000"/>
              </a:solidFill>
            </a:endParaRPr>
          </a:p>
        </p:txBody>
      </p:sp>
      <p:sp>
        <p:nvSpPr>
          <p:cNvPr id="17" name="Rectangle 16"/>
          <p:cNvSpPr/>
          <p:nvPr/>
        </p:nvSpPr>
        <p:spPr>
          <a:xfrm>
            <a:off x="7031759" y="1267418"/>
            <a:ext cx="5249494" cy="1815882"/>
          </a:xfrm>
          <a:prstGeom prst="rect">
            <a:avLst/>
          </a:prstGeom>
        </p:spPr>
        <p:txBody>
          <a:bodyPr wrap="square">
            <a:spAutoFit/>
          </a:bodyPr>
          <a:lstStyle/>
          <a:p>
            <a:r>
              <a:rPr lang="en-US" sz="1600" dirty="0">
                <a:solidFill>
                  <a:srgbClr val="646464"/>
                </a:solidFill>
                <a:latin typeface="Consolas" panose="020B0609020204030204" pitchFamily="49" charset="0"/>
              </a:rPr>
              <a:t>@</a:t>
            </a:r>
            <a:r>
              <a:rPr lang="en-US" sz="1600" dirty="0" err="1">
                <a:solidFill>
                  <a:srgbClr val="646464"/>
                </a:solidFill>
                <a:latin typeface="Consolas" panose="020B0609020204030204" pitchFamily="49" charset="0"/>
              </a:rPr>
              <a:t>ResponseStatus</a:t>
            </a:r>
            <a:r>
              <a:rPr lang="en-US" sz="1600" dirty="0">
                <a:solidFill>
                  <a:srgbClr val="000000"/>
                </a:solidFill>
                <a:latin typeface="Consolas" panose="020B0609020204030204" pitchFamily="49" charset="0"/>
              </a:rPr>
              <a:t>(value = </a:t>
            </a:r>
            <a:r>
              <a:rPr lang="en-US" sz="1600" dirty="0" err="1">
                <a:solidFill>
                  <a:srgbClr val="000000"/>
                </a:solidFill>
                <a:latin typeface="Consolas" panose="020B0609020204030204" pitchFamily="49" charset="0"/>
              </a:rPr>
              <a:t>HttpStatus.</a:t>
            </a:r>
            <a:r>
              <a:rPr lang="en-US" sz="1600" b="1" i="1" dirty="0" err="1">
                <a:solidFill>
                  <a:srgbClr val="0000C0"/>
                </a:solidFill>
                <a:latin typeface="Consolas" panose="020B0609020204030204" pitchFamily="49" charset="0"/>
              </a:rPr>
              <a:t>NOT_FOUND</a:t>
            </a:r>
            <a:r>
              <a:rPr lang="en-US" sz="1600" b="1" i="1" dirty="0">
                <a:solidFill>
                  <a:srgbClr val="000000"/>
                </a:solidFill>
                <a:latin typeface="Consolas" panose="020B0609020204030204" pitchFamily="49" charset="0"/>
              </a:rPr>
              <a:t>, reason = </a:t>
            </a:r>
            <a:r>
              <a:rPr lang="en-US" sz="1600" b="1" i="1" dirty="0">
                <a:solidFill>
                  <a:srgbClr val="2A00FF"/>
                </a:solidFill>
                <a:latin typeface="Consolas" panose="020B0609020204030204" pitchFamily="49" charset="0"/>
              </a:rPr>
              <a:t>"No Vat Rates found"</a:t>
            </a:r>
            <a:r>
              <a:rPr lang="en-US" sz="1600" b="1" i="1" dirty="0">
                <a:solidFill>
                  <a:srgbClr val="000000"/>
                </a:solidFill>
                <a:latin typeface="Consolas" panose="020B0609020204030204" pitchFamily="49" charset="0"/>
              </a:rPr>
              <a:t>)</a:t>
            </a:r>
          </a:p>
          <a:p>
            <a:r>
              <a:rPr lang="en-US" sz="1600" b="1" dirty="0">
                <a:solidFill>
                  <a:srgbClr val="7F0055"/>
                </a:solidFill>
                <a:latin typeface="Consolas" panose="020B0609020204030204" pitchFamily="49" charset="0"/>
              </a:rPr>
              <a:t>public</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class</a:t>
            </a:r>
            <a:r>
              <a:rPr lang="en-US" sz="1600" b="1" dirty="0">
                <a:solidFill>
                  <a:srgbClr val="000000"/>
                </a:solidFill>
                <a:latin typeface="Consolas" panose="020B0609020204030204" pitchFamily="49" charset="0"/>
              </a:rPr>
              <a:t> RateNotFoundException2 </a:t>
            </a:r>
            <a:r>
              <a:rPr lang="en-US" sz="1600" b="1" dirty="0">
                <a:solidFill>
                  <a:srgbClr val="7F0055"/>
                </a:solidFill>
                <a:latin typeface="Consolas" panose="020B0609020204030204" pitchFamily="49" charset="0"/>
              </a:rPr>
              <a:t>extends</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RuntimeException</a:t>
            </a:r>
            <a:r>
              <a:rPr lang="en-US" sz="1600" b="1" dirty="0">
                <a:solidFill>
                  <a:srgbClr val="000000"/>
                </a:solidFill>
                <a:latin typeface="Consolas" panose="020B0609020204030204" pitchFamily="49" charset="0"/>
              </a:rPr>
              <a:t> </a:t>
            </a:r>
            <a:r>
              <a:rPr lang="en-US" sz="1600" b="1" dirty="0" smtClean="0">
                <a:solidFill>
                  <a:srgbClr val="000000"/>
                </a:solidFill>
                <a:latin typeface="Consolas" panose="020B0609020204030204" pitchFamily="49" charset="0"/>
              </a:rPr>
              <a:t>{ </a:t>
            </a:r>
            <a:endParaRPr lang="en-US" sz="1600" dirty="0">
              <a:latin typeface="Consolas" panose="020B0609020204030204" pitchFamily="49" charset="0"/>
            </a:endParaRPr>
          </a:p>
          <a:p>
            <a:r>
              <a:rPr lang="en-US" sz="1600" b="1" dirty="0">
                <a:solidFill>
                  <a:srgbClr val="7F0055"/>
                </a:solidFill>
                <a:latin typeface="Consolas" panose="020B0609020204030204" pitchFamily="49" charset="0"/>
              </a:rPr>
              <a:t>public</a:t>
            </a:r>
            <a:r>
              <a:rPr lang="en-US" sz="1600" b="1" dirty="0">
                <a:solidFill>
                  <a:srgbClr val="000000"/>
                </a:solidFill>
                <a:latin typeface="Consolas" panose="020B0609020204030204" pitchFamily="49" charset="0"/>
              </a:rPr>
              <a:t> RateNotFoundException2(String </a:t>
            </a:r>
            <a:r>
              <a:rPr lang="en-US" sz="1600" b="1" dirty="0" err="1">
                <a:solidFill>
                  <a:srgbClr val="6A3E3E"/>
                </a:solidFill>
                <a:latin typeface="Consolas" panose="020B0609020204030204" pitchFamily="49" charset="0"/>
              </a:rPr>
              <a:t>msg</a:t>
            </a:r>
            <a:r>
              <a:rPr lang="en-US" sz="1600" b="1" dirty="0">
                <a:solidFill>
                  <a:srgbClr val="000000"/>
                </a:solidFill>
                <a:latin typeface="Consolas" panose="020B0609020204030204" pitchFamily="49" charset="0"/>
              </a:rPr>
              <a:t>) {</a:t>
            </a:r>
          </a:p>
          <a:p>
            <a:r>
              <a:rPr lang="en-US" sz="1600" b="1" dirty="0">
                <a:solidFill>
                  <a:srgbClr val="7F0055"/>
                </a:solidFill>
                <a:latin typeface="Consolas" panose="020B0609020204030204" pitchFamily="49" charset="0"/>
              </a:rPr>
              <a:t>super</a:t>
            </a:r>
            <a:r>
              <a:rPr lang="en-US" sz="1600" b="1" dirty="0">
                <a:solidFill>
                  <a:srgbClr val="000000"/>
                </a:solidFill>
                <a:latin typeface="Consolas" panose="020B0609020204030204" pitchFamily="49" charset="0"/>
              </a:rPr>
              <a:t>(</a:t>
            </a:r>
            <a:r>
              <a:rPr lang="en-US" sz="1600" b="1" dirty="0" err="1">
                <a:solidFill>
                  <a:srgbClr val="6A3E3E"/>
                </a:solidFill>
                <a:latin typeface="Consolas" panose="020B0609020204030204" pitchFamily="49" charset="0"/>
              </a:rPr>
              <a:t>msg</a:t>
            </a:r>
            <a:r>
              <a:rPr lang="en-US" sz="1600" b="1"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dirty="0"/>
          </a:p>
        </p:txBody>
      </p:sp>
      <p:pic>
        <p:nvPicPr>
          <p:cNvPr id="18" name="Picture 17"/>
          <p:cNvPicPr>
            <a:picLocks noChangeAspect="1"/>
          </p:cNvPicPr>
          <p:nvPr/>
        </p:nvPicPr>
        <p:blipFill>
          <a:blip r:embed="rId3"/>
          <a:stretch>
            <a:fillRect/>
          </a:stretch>
        </p:blipFill>
        <p:spPr>
          <a:xfrm rot="371431">
            <a:off x="374714" y="2375009"/>
            <a:ext cx="6000750" cy="3848100"/>
          </a:xfrm>
          <a:prstGeom prst="rect">
            <a:avLst/>
          </a:prstGeom>
        </p:spPr>
      </p:pic>
      <p:pic>
        <p:nvPicPr>
          <p:cNvPr id="23" name="Picture 22"/>
          <p:cNvPicPr>
            <a:picLocks noChangeAspect="1"/>
          </p:cNvPicPr>
          <p:nvPr/>
        </p:nvPicPr>
        <p:blipFill>
          <a:blip r:embed="rId4"/>
          <a:stretch>
            <a:fillRect/>
          </a:stretch>
        </p:blipFill>
        <p:spPr>
          <a:xfrm rot="20808950">
            <a:off x="6555895" y="3318162"/>
            <a:ext cx="5143500" cy="2905125"/>
          </a:xfrm>
          <a:prstGeom prst="rect">
            <a:avLst/>
          </a:prstGeom>
        </p:spPr>
      </p:pic>
      <p:sp>
        <p:nvSpPr>
          <p:cNvPr id="32" name="Rectangle 31"/>
          <p:cNvSpPr/>
          <p:nvPr/>
        </p:nvSpPr>
        <p:spPr>
          <a:xfrm>
            <a:off x="7015869" y="720533"/>
            <a:ext cx="5265384" cy="584775"/>
          </a:xfrm>
          <a:prstGeom prst="rect">
            <a:avLst/>
          </a:prstGeom>
        </p:spPr>
        <p:txBody>
          <a:bodyPr wrap="square">
            <a:spAutoFit/>
          </a:bodyPr>
          <a:lstStyle/>
          <a:p>
            <a:r>
              <a:rPr lang="en-US" sz="1600" dirty="0" smtClean="0"/>
              <a:t>/** An exception can be annotated with @ </a:t>
            </a:r>
            <a:r>
              <a:rPr lang="en-US" sz="1600" dirty="0" err="1" smtClean="0"/>
              <a:t>ResponseStatus</a:t>
            </a:r>
            <a:r>
              <a:rPr lang="en-US" sz="1600" dirty="0" smtClean="0"/>
              <a:t> </a:t>
            </a:r>
          </a:p>
          <a:p>
            <a:r>
              <a:rPr lang="en-US" sz="1600" dirty="0" smtClean="0"/>
              <a:t>to map it to an HTTP status code*/</a:t>
            </a:r>
            <a:endParaRPr lang="en-US" sz="1600" b="1" i="1" dirty="0"/>
          </a:p>
        </p:txBody>
      </p:sp>
    </p:spTree>
    <p:extLst>
      <p:ext uri="{BB962C8B-B14F-4D97-AF65-F5344CB8AC3E}">
        <p14:creationId xmlns:p14="http://schemas.microsoft.com/office/powerpoint/2010/main" val="20194686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p:nvPr/>
        </p:nvSpPr>
        <p:spPr>
          <a:xfrm>
            <a:off x="302344" y="276999"/>
            <a:ext cx="7276928" cy="584775"/>
          </a:xfrm>
          <a:prstGeom prst="rect">
            <a:avLst/>
          </a:prstGeom>
        </p:spPr>
        <p:txBody>
          <a:bodyPr wrap="none">
            <a:spAutoFit/>
          </a:bodyPr>
          <a:lstStyle/>
          <a:p>
            <a:r>
              <a:rPr lang="en-US" sz="3200" b="1" i="1" dirty="0">
                <a:solidFill>
                  <a:srgbClr val="C00000"/>
                </a:solidFill>
                <a:latin typeface="FranklinGothic-DemiItal"/>
              </a:rPr>
              <a:t>Writing exception-handling methods</a:t>
            </a:r>
            <a:endParaRPr lang="en-US" sz="3200" dirty="0">
              <a:solidFill>
                <a:srgbClr val="C00000"/>
              </a:solidFill>
            </a:endParaRPr>
          </a:p>
        </p:txBody>
      </p:sp>
      <p:sp>
        <p:nvSpPr>
          <p:cNvPr id="18" name="Rectangle 17"/>
          <p:cNvSpPr/>
          <p:nvPr/>
        </p:nvSpPr>
        <p:spPr>
          <a:xfrm>
            <a:off x="429464" y="947931"/>
            <a:ext cx="11485182" cy="646331"/>
          </a:xfrm>
          <a:prstGeom prst="rect">
            <a:avLst/>
          </a:prstGeom>
        </p:spPr>
        <p:txBody>
          <a:bodyPr wrap="square">
            <a:spAutoFit/>
          </a:bodyPr>
          <a:lstStyle/>
          <a:p>
            <a:r>
              <a:rPr lang="en-US" dirty="0">
                <a:latin typeface="NewBaskerville-Roman"/>
              </a:rPr>
              <a:t>Mapping exceptions to status codes is simple and sufficient for many cases. But what if </a:t>
            </a:r>
            <a:r>
              <a:rPr lang="en-US" dirty="0" smtClean="0">
                <a:latin typeface="NewBaskerville-Roman"/>
              </a:rPr>
              <a:t>you </a:t>
            </a:r>
            <a:r>
              <a:rPr lang="en-US" dirty="0">
                <a:latin typeface="NewBaskerville-Roman"/>
              </a:rPr>
              <a:t>want the response to carry more than just a status code that represents the error that occurred?</a:t>
            </a:r>
          </a:p>
        </p:txBody>
      </p:sp>
      <p:sp>
        <p:nvSpPr>
          <p:cNvPr id="23" name="Rectangle 22"/>
          <p:cNvSpPr/>
          <p:nvPr/>
        </p:nvSpPr>
        <p:spPr>
          <a:xfrm>
            <a:off x="429464" y="1680419"/>
            <a:ext cx="11674418" cy="646331"/>
          </a:xfrm>
          <a:prstGeom prst="rect">
            <a:avLst/>
          </a:prstGeom>
        </p:spPr>
        <p:txBody>
          <a:bodyPr wrap="square">
            <a:spAutoFit/>
          </a:bodyPr>
          <a:lstStyle/>
          <a:p>
            <a:r>
              <a:rPr lang="en-US" dirty="0">
                <a:solidFill>
                  <a:srgbClr val="00B050"/>
                </a:solidFill>
                <a:latin typeface="NewBaskerville-Roman"/>
              </a:rPr>
              <a:t>Rather than treat the exception generically as some </a:t>
            </a:r>
            <a:r>
              <a:rPr lang="en-US" sz="1600" dirty="0">
                <a:solidFill>
                  <a:srgbClr val="00B050"/>
                </a:solidFill>
                <a:latin typeface="NewBaskerville-Roman"/>
              </a:rPr>
              <a:t>HTTP </a:t>
            </a:r>
            <a:r>
              <a:rPr lang="en-US" dirty="0">
                <a:solidFill>
                  <a:srgbClr val="00B050"/>
                </a:solidFill>
                <a:latin typeface="NewBaskerville-Roman"/>
              </a:rPr>
              <a:t>error, </a:t>
            </a:r>
            <a:r>
              <a:rPr lang="en-US" dirty="0" smtClean="0">
                <a:solidFill>
                  <a:srgbClr val="00B050"/>
                </a:solidFill>
                <a:latin typeface="NewBaskerville-Roman"/>
              </a:rPr>
              <a:t>maybe you’d </a:t>
            </a:r>
            <a:r>
              <a:rPr lang="en-US" dirty="0">
                <a:solidFill>
                  <a:srgbClr val="00B050"/>
                </a:solidFill>
                <a:latin typeface="NewBaskerville-Roman"/>
              </a:rPr>
              <a:t>like to handle the exception the same way you might handle the request </a:t>
            </a:r>
            <a:r>
              <a:rPr lang="en-US" dirty="0" smtClean="0">
                <a:solidFill>
                  <a:srgbClr val="00B050"/>
                </a:solidFill>
                <a:latin typeface="NewBaskerville-Roman"/>
              </a:rPr>
              <a:t>itself ??? </a:t>
            </a:r>
            <a:r>
              <a:rPr lang="en-US" dirty="0">
                <a:latin typeface="NewBaskerville-Roman"/>
              </a:rPr>
              <a:t>E.g. </a:t>
            </a:r>
            <a:r>
              <a:rPr lang="en-US" dirty="0" smtClean="0">
                <a:latin typeface="NewBaskerville-Roman"/>
              </a:rPr>
              <a:t>create user with existing ID and save.. duplication ex. .. </a:t>
            </a:r>
            <a:endParaRPr lang="en-US" dirty="0">
              <a:latin typeface="NewBaskerville-Roman"/>
            </a:endParaRPr>
          </a:p>
        </p:txBody>
      </p:sp>
      <p:pic>
        <p:nvPicPr>
          <p:cNvPr id="24" name="Picture 23"/>
          <p:cNvPicPr>
            <a:picLocks noChangeAspect="1"/>
          </p:cNvPicPr>
          <p:nvPr/>
        </p:nvPicPr>
        <p:blipFill>
          <a:blip r:embed="rId3"/>
          <a:stretch>
            <a:fillRect/>
          </a:stretch>
        </p:blipFill>
        <p:spPr>
          <a:xfrm>
            <a:off x="1469106" y="2522656"/>
            <a:ext cx="8186489" cy="2906695"/>
          </a:xfrm>
          <a:prstGeom prst="rect">
            <a:avLst/>
          </a:prstGeom>
        </p:spPr>
      </p:pic>
      <p:sp>
        <p:nvSpPr>
          <p:cNvPr id="25" name="Rectangle 24"/>
          <p:cNvSpPr/>
          <p:nvPr/>
        </p:nvSpPr>
        <p:spPr>
          <a:xfrm>
            <a:off x="139109" y="5511542"/>
            <a:ext cx="12151120" cy="1200329"/>
          </a:xfrm>
          <a:prstGeom prst="rect">
            <a:avLst/>
          </a:prstGeom>
        </p:spPr>
        <p:txBody>
          <a:bodyPr wrap="square">
            <a:spAutoFit/>
          </a:bodyPr>
          <a:lstStyle/>
          <a:p>
            <a:r>
              <a:rPr lang="en-US" dirty="0" smtClean="0">
                <a:latin typeface="NewBaskerville-Roman"/>
              </a:rPr>
              <a:t>Here it </a:t>
            </a:r>
            <a:r>
              <a:rPr lang="en-US" dirty="0">
                <a:latin typeface="NewBaskerville-Roman"/>
              </a:rPr>
              <a:t>works fine, </a:t>
            </a:r>
            <a:r>
              <a:rPr lang="en-US" dirty="0" smtClean="0">
                <a:latin typeface="NewBaskerville-Roman"/>
              </a:rPr>
              <a:t>just only adds a bit complexity. As we see </a:t>
            </a:r>
            <a:r>
              <a:rPr lang="en-US" b="1" dirty="0" smtClean="0">
                <a:latin typeface="NewBaskerville-Roman"/>
              </a:rPr>
              <a:t>two paths </a:t>
            </a:r>
            <a:r>
              <a:rPr lang="en-US" b="1" dirty="0" smtClean="0">
                <a:solidFill>
                  <a:srgbClr val="00B0F0"/>
                </a:solidFill>
                <a:latin typeface="NewBaskerville-Roman"/>
              </a:rPr>
              <a:t>(happy[success] and negative case[fail])</a:t>
            </a:r>
            <a:r>
              <a:rPr lang="en-US" dirty="0" smtClean="0">
                <a:latin typeface="NewBaskerville-Roman"/>
              </a:rPr>
              <a:t>, </a:t>
            </a:r>
            <a:r>
              <a:rPr lang="en-US" dirty="0">
                <a:latin typeface="NewBaskerville-Roman"/>
              </a:rPr>
              <a:t>each with </a:t>
            </a:r>
            <a:r>
              <a:rPr lang="en-US" dirty="0" smtClean="0">
                <a:latin typeface="NewBaskerville-Roman"/>
              </a:rPr>
              <a:t>a different </a:t>
            </a:r>
            <a:r>
              <a:rPr lang="en-US" dirty="0">
                <a:latin typeface="NewBaskerville-Roman"/>
              </a:rPr>
              <a:t>outcome. </a:t>
            </a:r>
            <a:endParaRPr lang="en-US" dirty="0" smtClean="0">
              <a:latin typeface="NewBaskerville-Roman"/>
            </a:endParaRPr>
          </a:p>
          <a:p>
            <a:r>
              <a:rPr lang="en-US" dirty="0" smtClean="0">
                <a:latin typeface="NewBaskerville-Roman"/>
              </a:rPr>
              <a:t>BUT, much </a:t>
            </a:r>
            <a:r>
              <a:rPr lang="en-US" dirty="0" smtClean="0">
                <a:solidFill>
                  <a:srgbClr val="00B050"/>
                </a:solidFill>
                <a:latin typeface="NewBaskerville-Roman"/>
              </a:rPr>
              <a:t>BETTER approach</a:t>
            </a:r>
            <a:r>
              <a:rPr lang="en-US" dirty="0" smtClean="0">
                <a:latin typeface="NewBaskerville-Roman"/>
              </a:rPr>
              <a:t> is,  your method should focus only on HAPPY scenario and let the SPRING take care of negative cases (Exception Handling) for you. </a:t>
            </a:r>
            <a:endParaRPr lang="en-US" dirty="0"/>
          </a:p>
        </p:txBody>
      </p:sp>
    </p:spTree>
    <p:extLst>
      <p:ext uri="{BB962C8B-B14F-4D97-AF65-F5344CB8AC3E}">
        <p14:creationId xmlns:p14="http://schemas.microsoft.com/office/powerpoint/2010/main" val="24535011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p:nvPr/>
        </p:nvSpPr>
        <p:spPr>
          <a:xfrm>
            <a:off x="302344" y="276999"/>
            <a:ext cx="7276928" cy="584775"/>
          </a:xfrm>
          <a:prstGeom prst="rect">
            <a:avLst/>
          </a:prstGeom>
        </p:spPr>
        <p:txBody>
          <a:bodyPr wrap="none">
            <a:spAutoFit/>
          </a:bodyPr>
          <a:lstStyle/>
          <a:p>
            <a:r>
              <a:rPr lang="en-US" sz="3200" b="1" i="1" dirty="0">
                <a:solidFill>
                  <a:srgbClr val="C00000"/>
                </a:solidFill>
                <a:latin typeface="FranklinGothic-DemiItal"/>
              </a:rPr>
              <a:t>Writing exception-handling methods</a:t>
            </a:r>
            <a:endParaRPr lang="en-US" sz="3200" dirty="0">
              <a:solidFill>
                <a:srgbClr val="C00000"/>
              </a:solidFill>
            </a:endParaRPr>
          </a:p>
        </p:txBody>
      </p:sp>
      <p:sp>
        <p:nvSpPr>
          <p:cNvPr id="26" name="Rectangle 25"/>
          <p:cNvSpPr/>
          <p:nvPr/>
        </p:nvSpPr>
        <p:spPr>
          <a:xfrm>
            <a:off x="365396" y="961469"/>
            <a:ext cx="10802894" cy="369332"/>
          </a:xfrm>
          <a:prstGeom prst="rect">
            <a:avLst/>
          </a:prstGeom>
        </p:spPr>
        <p:txBody>
          <a:bodyPr wrap="none">
            <a:spAutoFit/>
          </a:bodyPr>
          <a:lstStyle/>
          <a:p>
            <a:r>
              <a:rPr lang="en-US" dirty="0">
                <a:solidFill>
                  <a:srgbClr val="00B0F0"/>
                </a:solidFill>
              </a:rPr>
              <a:t>L</a:t>
            </a:r>
            <a:r>
              <a:rPr lang="en-US" dirty="0" smtClean="0">
                <a:solidFill>
                  <a:srgbClr val="00B0F0"/>
                </a:solidFill>
              </a:rPr>
              <a:t>et’s divide code into happy scenario (much simpler) and exception-handling code, both contains only one path </a:t>
            </a:r>
            <a:r>
              <a:rPr lang="en-US" dirty="0" smtClean="0">
                <a:solidFill>
                  <a:srgbClr val="00B050"/>
                </a:solidFill>
                <a:sym typeface="Wingdings" panose="05000000000000000000" pitchFamily="2" charset="2"/>
              </a:rPr>
              <a:t></a:t>
            </a:r>
            <a:endParaRPr lang="en-US" dirty="0">
              <a:solidFill>
                <a:srgbClr val="00B050"/>
              </a:solidFill>
            </a:endParaRPr>
          </a:p>
        </p:txBody>
      </p:sp>
      <p:pic>
        <p:nvPicPr>
          <p:cNvPr id="28" name="Picture 27"/>
          <p:cNvPicPr>
            <a:picLocks noChangeAspect="1"/>
          </p:cNvPicPr>
          <p:nvPr/>
        </p:nvPicPr>
        <p:blipFill>
          <a:blip r:embed="rId3"/>
          <a:stretch>
            <a:fillRect/>
          </a:stretch>
        </p:blipFill>
        <p:spPr>
          <a:xfrm>
            <a:off x="469881" y="1492388"/>
            <a:ext cx="8334375" cy="2095500"/>
          </a:xfrm>
          <a:prstGeom prst="rect">
            <a:avLst/>
          </a:prstGeom>
        </p:spPr>
      </p:pic>
      <p:pic>
        <p:nvPicPr>
          <p:cNvPr id="29" name="Picture 28"/>
          <p:cNvPicPr>
            <a:picLocks noChangeAspect="1"/>
          </p:cNvPicPr>
          <p:nvPr/>
        </p:nvPicPr>
        <p:blipFill>
          <a:blip r:embed="rId4"/>
          <a:stretch>
            <a:fillRect/>
          </a:stretch>
        </p:blipFill>
        <p:spPr>
          <a:xfrm>
            <a:off x="874682" y="4349880"/>
            <a:ext cx="7686675" cy="1362075"/>
          </a:xfrm>
          <a:prstGeom prst="rect">
            <a:avLst/>
          </a:prstGeom>
        </p:spPr>
      </p:pic>
      <p:sp>
        <p:nvSpPr>
          <p:cNvPr id="30" name="Rectangle 29"/>
          <p:cNvSpPr/>
          <p:nvPr/>
        </p:nvSpPr>
        <p:spPr>
          <a:xfrm>
            <a:off x="365396" y="3878308"/>
            <a:ext cx="11657516" cy="338554"/>
          </a:xfrm>
          <a:prstGeom prst="rect">
            <a:avLst/>
          </a:prstGeom>
        </p:spPr>
        <p:txBody>
          <a:bodyPr wrap="square">
            <a:spAutoFit/>
          </a:bodyPr>
          <a:lstStyle/>
          <a:p>
            <a:r>
              <a:rPr lang="en-US" sz="1600" dirty="0" smtClean="0">
                <a:latin typeface="NewBaskerville-Roman"/>
              </a:rPr>
              <a:t>//methods annotated with </a:t>
            </a:r>
            <a:r>
              <a:rPr lang="en-US" sz="1600" dirty="0" smtClean="0">
                <a:solidFill>
                  <a:srgbClr val="00B050"/>
                </a:solidFill>
                <a:latin typeface="Courier"/>
              </a:rPr>
              <a:t>@</a:t>
            </a:r>
            <a:r>
              <a:rPr lang="en-US" sz="1600" dirty="0" err="1" smtClean="0">
                <a:solidFill>
                  <a:srgbClr val="00B050"/>
                </a:solidFill>
                <a:latin typeface="Courier"/>
              </a:rPr>
              <a:t>ExceptionHandler</a:t>
            </a:r>
            <a:r>
              <a:rPr lang="en-US" sz="1600" dirty="0" smtClean="0">
                <a:solidFill>
                  <a:srgbClr val="00B050"/>
                </a:solidFill>
                <a:latin typeface="Courier"/>
              </a:rPr>
              <a:t> </a:t>
            </a:r>
            <a:r>
              <a:rPr lang="en-US" sz="1600" dirty="0" smtClean="0"/>
              <a:t>will </a:t>
            </a:r>
            <a:r>
              <a:rPr lang="en-US" sz="1600" dirty="0"/>
              <a:t>handle a </a:t>
            </a:r>
            <a:r>
              <a:rPr lang="en-US" sz="1600" dirty="0" err="1"/>
              <a:t>DuplicateSpittleException</a:t>
            </a:r>
            <a:r>
              <a:rPr lang="en-US" sz="1600" dirty="0"/>
              <a:t> thrown from </a:t>
            </a:r>
            <a:r>
              <a:rPr lang="en-US" sz="1600" dirty="0" smtClean="0"/>
              <a:t>any method </a:t>
            </a:r>
            <a:r>
              <a:rPr lang="en-US" sz="1600" dirty="0"/>
              <a:t>in </a:t>
            </a:r>
            <a:r>
              <a:rPr lang="en-US" sz="1600" dirty="0" smtClean="0"/>
              <a:t>same controller  </a:t>
            </a:r>
            <a:endParaRPr lang="en-US" sz="1600" dirty="0"/>
          </a:p>
        </p:txBody>
      </p:sp>
      <p:sp>
        <p:nvSpPr>
          <p:cNvPr id="32" name="Rectangle 31"/>
          <p:cNvSpPr/>
          <p:nvPr/>
        </p:nvSpPr>
        <p:spPr>
          <a:xfrm>
            <a:off x="184731" y="5844974"/>
            <a:ext cx="12254116" cy="923330"/>
          </a:xfrm>
          <a:prstGeom prst="rect">
            <a:avLst/>
          </a:prstGeom>
        </p:spPr>
        <p:txBody>
          <a:bodyPr wrap="square">
            <a:spAutoFit/>
          </a:bodyPr>
          <a:lstStyle/>
          <a:p>
            <a:r>
              <a:rPr lang="en-US" dirty="0" smtClean="0">
                <a:latin typeface="NewBaskerville-Roman"/>
              </a:rPr>
              <a:t>Perfect, so negative-scenario can be even re-used by other methods. </a:t>
            </a:r>
          </a:p>
          <a:p>
            <a:r>
              <a:rPr lang="en-US" dirty="0" smtClean="0">
                <a:solidFill>
                  <a:srgbClr val="FF0000"/>
                </a:solidFill>
                <a:latin typeface="NewBaskerville-Roman"/>
              </a:rPr>
              <a:t>If </a:t>
            </a:r>
            <a:r>
              <a:rPr lang="en-US" sz="1600" dirty="0">
                <a:solidFill>
                  <a:srgbClr val="FF0000"/>
                </a:solidFill>
                <a:latin typeface="Courier"/>
              </a:rPr>
              <a:t>@</a:t>
            </a:r>
            <a:r>
              <a:rPr lang="en-US" sz="1600" dirty="0" err="1">
                <a:solidFill>
                  <a:srgbClr val="FF0000"/>
                </a:solidFill>
                <a:latin typeface="Courier"/>
              </a:rPr>
              <a:t>ExceptionHandler</a:t>
            </a:r>
            <a:r>
              <a:rPr lang="en-US" sz="1600" dirty="0">
                <a:solidFill>
                  <a:srgbClr val="FF0000"/>
                </a:solidFill>
                <a:latin typeface="Courier"/>
              </a:rPr>
              <a:t> </a:t>
            </a:r>
            <a:r>
              <a:rPr lang="en-US" dirty="0">
                <a:solidFill>
                  <a:srgbClr val="FF0000"/>
                </a:solidFill>
                <a:latin typeface="NewBaskerville-Roman"/>
              </a:rPr>
              <a:t>methods can handle exceptions thrown from any </a:t>
            </a:r>
            <a:r>
              <a:rPr lang="en-US" dirty="0" smtClean="0">
                <a:solidFill>
                  <a:srgbClr val="FF0000"/>
                </a:solidFill>
                <a:latin typeface="NewBaskerville-Roman"/>
              </a:rPr>
              <a:t>handler is it possible to make it  global?</a:t>
            </a:r>
            <a:endParaRPr lang="en-US" dirty="0">
              <a:solidFill>
                <a:srgbClr val="FF0000"/>
              </a:solidFill>
              <a:latin typeface="NewBaskerville-Roman"/>
            </a:endParaRPr>
          </a:p>
          <a:p>
            <a:r>
              <a:rPr lang="en-US" dirty="0" smtClean="0">
                <a:solidFill>
                  <a:srgbClr val="00B050"/>
                </a:solidFill>
                <a:latin typeface="NewBaskerville-Roman"/>
              </a:rPr>
              <a:t>Which means, simply handle </a:t>
            </a:r>
            <a:r>
              <a:rPr lang="en-US" dirty="0">
                <a:solidFill>
                  <a:srgbClr val="00B050"/>
                </a:solidFill>
                <a:latin typeface="NewBaskerville-Roman"/>
              </a:rPr>
              <a:t>exceptions thrown from handler methods in </a:t>
            </a:r>
            <a:r>
              <a:rPr lang="en-US" i="1" dirty="0">
                <a:solidFill>
                  <a:srgbClr val="00B050"/>
                </a:solidFill>
                <a:latin typeface="NewBaskerville-Italic"/>
              </a:rPr>
              <a:t>any </a:t>
            </a:r>
            <a:r>
              <a:rPr lang="en-US" dirty="0">
                <a:solidFill>
                  <a:srgbClr val="00B050"/>
                </a:solidFill>
                <a:latin typeface="NewBaskerville-Roman"/>
              </a:rPr>
              <a:t>controller.</a:t>
            </a:r>
            <a:endParaRPr lang="en-US" dirty="0">
              <a:solidFill>
                <a:srgbClr val="00B050"/>
              </a:solidFill>
            </a:endParaRPr>
          </a:p>
        </p:txBody>
      </p:sp>
    </p:spTree>
    <p:extLst>
      <p:ext uri="{BB962C8B-B14F-4D97-AF65-F5344CB8AC3E}">
        <p14:creationId xmlns:p14="http://schemas.microsoft.com/office/powerpoint/2010/main" val="1840692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p:nvPr/>
        </p:nvSpPr>
        <p:spPr>
          <a:xfrm>
            <a:off x="229565" y="176657"/>
            <a:ext cx="4145687" cy="584775"/>
          </a:xfrm>
          <a:prstGeom prst="rect">
            <a:avLst/>
          </a:prstGeom>
        </p:spPr>
        <p:txBody>
          <a:bodyPr wrap="none">
            <a:spAutoFit/>
          </a:bodyPr>
          <a:lstStyle/>
          <a:p>
            <a:r>
              <a:rPr lang="en-US" sz="3200" b="1" i="1" dirty="0">
                <a:solidFill>
                  <a:srgbClr val="C00000"/>
                </a:solidFill>
                <a:latin typeface="FranklinGothic-DemiItal"/>
              </a:rPr>
              <a:t>Advising controllers</a:t>
            </a:r>
            <a:endParaRPr lang="en-US" sz="3200" dirty="0">
              <a:solidFill>
                <a:srgbClr val="C00000"/>
              </a:solidFill>
            </a:endParaRPr>
          </a:p>
        </p:txBody>
      </p:sp>
      <p:sp>
        <p:nvSpPr>
          <p:cNvPr id="18" name="Rectangle 17"/>
          <p:cNvSpPr/>
          <p:nvPr/>
        </p:nvSpPr>
        <p:spPr>
          <a:xfrm>
            <a:off x="184731" y="807151"/>
            <a:ext cx="11887199" cy="646331"/>
          </a:xfrm>
          <a:prstGeom prst="rect">
            <a:avLst/>
          </a:prstGeom>
        </p:spPr>
        <p:txBody>
          <a:bodyPr wrap="square">
            <a:spAutoFit/>
          </a:bodyPr>
          <a:lstStyle/>
          <a:p>
            <a:r>
              <a:rPr lang="en-US" dirty="0">
                <a:latin typeface="NewBaskerville-Roman"/>
              </a:rPr>
              <a:t>Certain aspects of controller classes might be handier if they could be </a:t>
            </a:r>
            <a:r>
              <a:rPr lang="en-US" b="1" dirty="0">
                <a:latin typeface="NewBaskerville-Roman"/>
              </a:rPr>
              <a:t>applied </a:t>
            </a:r>
            <a:r>
              <a:rPr lang="en-US" b="1" dirty="0" smtClean="0">
                <a:latin typeface="NewBaskerville-Roman"/>
              </a:rPr>
              <a:t>broadly across </a:t>
            </a:r>
            <a:r>
              <a:rPr lang="en-US" b="1" dirty="0">
                <a:latin typeface="NewBaskerville-Roman"/>
              </a:rPr>
              <a:t>all controllers </a:t>
            </a:r>
            <a:r>
              <a:rPr lang="en-US" dirty="0">
                <a:latin typeface="NewBaskerville-Roman"/>
              </a:rPr>
              <a:t>in </a:t>
            </a:r>
            <a:r>
              <a:rPr lang="en-US" dirty="0" smtClean="0">
                <a:latin typeface="NewBaskerville-Roman"/>
              </a:rPr>
              <a:t>an app. One option to avoid code duplication is use base Controller class to keep @</a:t>
            </a:r>
            <a:r>
              <a:rPr lang="en-US" dirty="0" err="1" smtClean="0">
                <a:latin typeface="NewBaskerville-Roman"/>
              </a:rPr>
              <a:t>ExceptonHandler</a:t>
            </a:r>
            <a:r>
              <a:rPr lang="en-US" dirty="0" smtClean="0">
                <a:latin typeface="NewBaskerville-Roman"/>
              </a:rPr>
              <a:t> methods. </a:t>
            </a:r>
            <a:endParaRPr lang="en-US" dirty="0"/>
          </a:p>
        </p:txBody>
      </p:sp>
      <p:sp>
        <p:nvSpPr>
          <p:cNvPr id="24" name="Rectangle 23"/>
          <p:cNvSpPr/>
          <p:nvPr/>
        </p:nvSpPr>
        <p:spPr>
          <a:xfrm>
            <a:off x="184730" y="1585195"/>
            <a:ext cx="11945538" cy="2554545"/>
          </a:xfrm>
          <a:prstGeom prst="rect">
            <a:avLst/>
          </a:prstGeom>
        </p:spPr>
        <p:txBody>
          <a:bodyPr wrap="square">
            <a:spAutoFit/>
          </a:bodyPr>
          <a:lstStyle/>
          <a:p>
            <a:r>
              <a:rPr lang="en-US" sz="2000" dirty="0" smtClean="0">
                <a:latin typeface="NewBaskerville-Roman"/>
              </a:rPr>
              <a:t>BUT there is </a:t>
            </a:r>
            <a:r>
              <a:rPr lang="en-US" sz="2000" dirty="0" smtClean="0">
                <a:solidFill>
                  <a:srgbClr val="00B050"/>
                </a:solidFill>
                <a:latin typeface="NewBaskerville-Roman"/>
              </a:rPr>
              <a:t>more elegant option </a:t>
            </a:r>
            <a:r>
              <a:rPr lang="en-US" sz="2000" dirty="0" smtClean="0">
                <a:latin typeface="NewBaskerville-Roman"/>
              </a:rPr>
              <a:t>which Spring </a:t>
            </a:r>
            <a:r>
              <a:rPr lang="en-US" sz="2000" dirty="0">
                <a:latin typeface="NewBaskerville-Roman"/>
              </a:rPr>
              <a:t>introduces. A </a:t>
            </a:r>
            <a:r>
              <a:rPr lang="en-US" sz="2000" dirty="0">
                <a:solidFill>
                  <a:srgbClr val="00B050"/>
                </a:solidFill>
                <a:latin typeface="NewBaskerville-Roman"/>
              </a:rPr>
              <a:t>controller advice</a:t>
            </a:r>
            <a:r>
              <a:rPr lang="en-US" sz="2000" dirty="0">
                <a:latin typeface="NewBaskerville-Roman"/>
              </a:rPr>
              <a:t> is any class that’s annotated with </a:t>
            </a:r>
            <a:r>
              <a:rPr lang="en-US" sz="2000" b="1" dirty="0">
                <a:solidFill>
                  <a:srgbClr val="00B050"/>
                </a:solidFill>
                <a:latin typeface="NewBaskerville-Roman"/>
              </a:rPr>
              <a:t>@</a:t>
            </a:r>
            <a:r>
              <a:rPr lang="en-US" sz="2000" b="1" dirty="0" err="1">
                <a:solidFill>
                  <a:srgbClr val="00B050"/>
                </a:solidFill>
                <a:latin typeface="NewBaskerville-Roman"/>
              </a:rPr>
              <a:t>ControllerAdvice</a:t>
            </a:r>
            <a:r>
              <a:rPr lang="en-US" sz="2000" b="1" dirty="0">
                <a:solidFill>
                  <a:srgbClr val="00B050"/>
                </a:solidFill>
                <a:latin typeface="NewBaskerville-Roman"/>
              </a:rPr>
              <a:t> </a:t>
            </a:r>
            <a:r>
              <a:rPr lang="en-US" sz="2000" dirty="0">
                <a:latin typeface="NewBaskerville-Roman"/>
              </a:rPr>
              <a:t>and has one or more of the following kinds of methods:</a:t>
            </a:r>
          </a:p>
          <a:p>
            <a:r>
              <a:rPr lang="en-US" sz="2000" b="1" dirty="0"/>
              <a:t> </a:t>
            </a:r>
            <a:r>
              <a:rPr lang="en-US" sz="2000" b="1" dirty="0" smtClean="0"/>
              <a:t>   </a:t>
            </a:r>
            <a:r>
              <a:rPr lang="en-US" sz="2000" b="1" dirty="0" smtClean="0">
                <a:solidFill>
                  <a:srgbClr val="7030A0"/>
                </a:solidFill>
              </a:rPr>
              <a:t>@</a:t>
            </a:r>
            <a:r>
              <a:rPr lang="en-US" sz="2000" b="1" dirty="0" err="1" smtClean="0">
                <a:solidFill>
                  <a:srgbClr val="7030A0"/>
                </a:solidFill>
              </a:rPr>
              <a:t>ExceptionHandler</a:t>
            </a:r>
            <a:r>
              <a:rPr lang="en-US" sz="2000" b="1" dirty="0" smtClean="0">
                <a:solidFill>
                  <a:srgbClr val="7030A0"/>
                </a:solidFill>
              </a:rPr>
              <a:t>-annotated  (1) ,   </a:t>
            </a:r>
            <a:r>
              <a:rPr lang="en-US" sz="2000" b="1" dirty="0">
                <a:solidFill>
                  <a:srgbClr val="7030A0"/>
                </a:solidFill>
              </a:rPr>
              <a:t>@</a:t>
            </a:r>
            <a:r>
              <a:rPr lang="en-US" sz="2000" b="1" dirty="0" err="1" smtClean="0">
                <a:solidFill>
                  <a:srgbClr val="7030A0"/>
                </a:solidFill>
              </a:rPr>
              <a:t>InitBinder</a:t>
            </a:r>
            <a:r>
              <a:rPr lang="en-US" sz="2000" b="1" dirty="0" smtClean="0">
                <a:solidFill>
                  <a:srgbClr val="7030A0"/>
                </a:solidFill>
              </a:rPr>
              <a:t>-annotated,   </a:t>
            </a:r>
            <a:r>
              <a:rPr lang="en-US" sz="2000" b="1" dirty="0">
                <a:solidFill>
                  <a:srgbClr val="7030A0"/>
                </a:solidFill>
              </a:rPr>
              <a:t>@</a:t>
            </a:r>
            <a:r>
              <a:rPr lang="en-US" sz="2000" b="1" dirty="0" err="1">
                <a:solidFill>
                  <a:srgbClr val="7030A0"/>
                </a:solidFill>
              </a:rPr>
              <a:t>ModelAttribute</a:t>
            </a:r>
            <a:r>
              <a:rPr lang="en-US" sz="2000" b="1" dirty="0">
                <a:solidFill>
                  <a:srgbClr val="7030A0"/>
                </a:solidFill>
              </a:rPr>
              <a:t>-annotated</a:t>
            </a:r>
            <a:r>
              <a:rPr lang="en-US" sz="2000" b="1" dirty="0" smtClean="0">
                <a:solidFill>
                  <a:srgbClr val="7030A0"/>
                </a:solidFill>
                <a:latin typeface="NewBaskerville-Roman"/>
              </a:rPr>
              <a:t> </a:t>
            </a:r>
          </a:p>
          <a:p>
            <a:pPr marL="285750" indent="-285750">
              <a:buFont typeface="Courier New" panose="02070309020205020404" pitchFamily="49" charset="0"/>
              <a:buChar char="o"/>
            </a:pPr>
            <a:endParaRPr lang="en-US" sz="2000" b="1" dirty="0">
              <a:latin typeface="NewBaskerville-Roman"/>
            </a:endParaRPr>
          </a:p>
          <a:p>
            <a:r>
              <a:rPr lang="en-US" sz="2000" dirty="0"/>
              <a:t>Those methods in an @</a:t>
            </a:r>
            <a:r>
              <a:rPr lang="en-US" sz="2000" dirty="0" err="1" smtClean="0"/>
              <a:t>ControllerAdvice</a:t>
            </a:r>
            <a:r>
              <a:rPr lang="en-US" sz="2000" dirty="0" smtClean="0"/>
              <a:t>-annotated class </a:t>
            </a:r>
            <a:r>
              <a:rPr lang="en-US" sz="2000" b="1" dirty="0"/>
              <a:t>are applied globally</a:t>
            </a:r>
            <a:r>
              <a:rPr lang="en-US" sz="2000" dirty="0"/>
              <a:t> </a:t>
            </a:r>
            <a:r>
              <a:rPr lang="en-US" sz="2000" dirty="0" smtClean="0"/>
              <a:t>across all (1) annotated </a:t>
            </a:r>
            <a:r>
              <a:rPr lang="en-US" sz="2000" dirty="0"/>
              <a:t>methods on all controllers in an application. One of the </a:t>
            </a:r>
            <a:r>
              <a:rPr lang="en-US" sz="2000" b="1" dirty="0"/>
              <a:t>most practical uses </a:t>
            </a:r>
            <a:r>
              <a:rPr lang="en-US" sz="2000" dirty="0"/>
              <a:t>is to gather all </a:t>
            </a:r>
            <a:r>
              <a:rPr lang="en-US" sz="2000" dirty="0">
                <a:solidFill>
                  <a:srgbClr val="7030A0"/>
                </a:solidFill>
              </a:rPr>
              <a:t>@</a:t>
            </a:r>
            <a:r>
              <a:rPr lang="en-US" sz="2000" dirty="0" err="1">
                <a:solidFill>
                  <a:srgbClr val="7030A0"/>
                </a:solidFill>
              </a:rPr>
              <a:t>ExceptionHandler</a:t>
            </a:r>
            <a:r>
              <a:rPr lang="en-US" sz="2000" dirty="0">
                <a:solidFill>
                  <a:srgbClr val="7030A0"/>
                </a:solidFill>
              </a:rPr>
              <a:t> </a:t>
            </a:r>
            <a:r>
              <a:rPr lang="en-US" sz="2000" dirty="0"/>
              <a:t>methods in a single class so that exceptions from all controllers are handled consistently in one place.</a:t>
            </a:r>
          </a:p>
          <a:p>
            <a:endParaRPr lang="en-US" sz="2000" b="1" dirty="0"/>
          </a:p>
        </p:txBody>
      </p:sp>
      <p:sp>
        <p:nvSpPr>
          <p:cNvPr id="28" name="Rectangle 27"/>
          <p:cNvSpPr/>
          <p:nvPr/>
        </p:nvSpPr>
        <p:spPr>
          <a:xfrm>
            <a:off x="1167114" y="3859147"/>
            <a:ext cx="10100840" cy="2893100"/>
          </a:xfrm>
          <a:prstGeom prst="rect">
            <a:avLst/>
          </a:prstGeom>
        </p:spPr>
        <p:txBody>
          <a:bodyPr wrap="square">
            <a:spAutoFit/>
          </a:bodyPr>
          <a:lstStyle/>
          <a:p>
            <a:r>
              <a:rPr lang="en-US" sz="1400" dirty="0">
                <a:solidFill>
                  <a:srgbClr val="646464"/>
                </a:solidFill>
                <a:latin typeface="Consolas" panose="020B0609020204030204" pitchFamily="49" charset="0"/>
              </a:rPr>
              <a:t>@</a:t>
            </a:r>
            <a:r>
              <a:rPr lang="en-US" sz="1400" dirty="0" err="1">
                <a:solidFill>
                  <a:srgbClr val="646464"/>
                </a:solidFill>
                <a:latin typeface="Consolas" panose="020B0609020204030204" pitchFamily="49" charset="0"/>
              </a:rPr>
              <a:t>ControllerAdvice</a:t>
            </a:r>
            <a:r>
              <a:rPr lang="en-US" sz="1400" dirty="0">
                <a:solidFill>
                  <a:srgbClr val="000000"/>
                </a:solidFill>
                <a:latin typeface="Consolas" panose="020B0609020204030204" pitchFamily="49" charset="0"/>
              </a:rPr>
              <a:t> </a:t>
            </a:r>
          </a:p>
          <a:p>
            <a:r>
              <a:rPr lang="en-US" sz="1400" b="1" dirty="0">
                <a:solidFill>
                  <a:srgbClr val="7F0055"/>
                </a:solidFill>
                <a:latin typeface="Consolas" panose="020B0609020204030204" pitchFamily="49" charset="0"/>
              </a:rPr>
              <a:t>public</a:t>
            </a:r>
            <a:r>
              <a:rPr lang="en-US" sz="1400" b="1" dirty="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class</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VatRateExceptionAdwise</a:t>
            </a:r>
            <a:r>
              <a:rPr lang="en-US" sz="1400" b="1" dirty="0">
                <a:solidFill>
                  <a:srgbClr val="000000"/>
                </a:solidFill>
                <a:latin typeface="Consolas" panose="020B0609020204030204" pitchFamily="49" charset="0"/>
              </a:rPr>
              <a:t> {</a:t>
            </a:r>
          </a:p>
          <a:p>
            <a:endParaRPr lang="en-US" sz="1400" dirty="0">
              <a:latin typeface="Consolas" panose="020B0609020204030204" pitchFamily="49" charset="0"/>
            </a:endParaRPr>
          </a:p>
          <a:p>
            <a:pPr lvl="1"/>
            <a:r>
              <a:rPr lang="en-US" sz="1400" dirty="0">
                <a:solidFill>
                  <a:srgbClr val="646464"/>
                </a:solidFill>
                <a:latin typeface="Consolas" panose="020B0609020204030204" pitchFamily="49" charset="0"/>
              </a:rPr>
              <a:t>@</a:t>
            </a:r>
            <a:r>
              <a:rPr lang="en-US" sz="1400" dirty="0" err="1">
                <a:solidFill>
                  <a:srgbClr val="646464"/>
                </a:solidFill>
                <a:latin typeface="Consolas" panose="020B0609020204030204" pitchFamily="49" charset="0"/>
              </a:rPr>
              <a:t>ExceptionHandler</a:t>
            </a:r>
            <a:r>
              <a:rPr lang="en-US" sz="1400" dirty="0">
                <a:solidFill>
                  <a:srgbClr val="000000"/>
                </a:solidFill>
                <a:latin typeface="Consolas" panose="020B0609020204030204" pitchFamily="49" charset="0"/>
              </a:rPr>
              <a:t>(value = </a:t>
            </a:r>
            <a:r>
              <a:rPr lang="en-US" sz="1400" dirty="0" err="1">
                <a:solidFill>
                  <a:srgbClr val="000000"/>
                </a:solidFill>
                <a:latin typeface="Consolas" panose="020B0609020204030204" pitchFamily="49" charset="0"/>
              </a:rPr>
              <a:t>VatRateNotFoundException.</a:t>
            </a:r>
            <a:r>
              <a:rPr lang="en-US" sz="1400" b="1" dirty="0" err="1">
                <a:solidFill>
                  <a:srgbClr val="7F0055"/>
                </a:solidFill>
                <a:latin typeface="Consolas" panose="020B0609020204030204" pitchFamily="49" charset="0"/>
              </a:rPr>
              <a:t>class</a:t>
            </a:r>
            <a:r>
              <a:rPr lang="en-US" sz="1400" b="1" dirty="0">
                <a:solidFill>
                  <a:srgbClr val="000000"/>
                </a:solidFill>
                <a:latin typeface="Consolas" panose="020B0609020204030204" pitchFamily="49" charset="0"/>
              </a:rPr>
              <a:t>)</a:t>
            </a:r>
          </a:p>
          <a:p>
            <a:pPr lvl="1"/>
            <a:r>
              <a:rPr lang="en-US" sz="1400" b="1" dirty="0">
                <a:solidFill>
                  <a:srgbClr val="7F0055"/>
                </a:solidFill>
                <a:latin typeface="Consolas" panose="020B0609020204030204" pitchFamily="49" charset="0"/>
              </a:rPr>
              <a:t>public</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ResponseEntity</a:t>
            </a:r>
            <a:r>
              <a:rPr lang="en-US" sz="1400" b="1" dirty="0">
                <a:solidFill>
                  <a:srgbClr val="000000"/>
                </a:solidFill>
                <a:latin typeface="Consolas" panose="020B0609020204030204" pitchFamily="49" charset="0"/>
              </a:rPr>
              <a:t>&lt;Object&gt; exception(</a:t>
            </a:r>
            <a:r>
              <a:rPr lang="en-US" sz="1400" b="1" dirty="0" err="1">
                <a:solidFill>
                  <a:srgbClr val="000000"/>
                </a:solidFill>
                <a:latin typeface="Consolas" panose="020B0609020204030204" pitchFamily="49" charset="0"/>
              </a:rPr>
              <a:t>VatRateNotFoundException</a:t>
            </a:r>
            <a:r>
              <a:rPr lang="en-US" sz="1400" b="1" dirty="0">
                <a:solidFill>
                  <a:srgbClr val="000000"/>
                </a:solidFill>
                <a:latin typeface="Consolas" panose="020B0609020204030204" pitchFamily="49" charset="0"/>
              </a:rPr>
              <a:t> </a:t>
            </a:r>
            <a:r>
              <a:rPr lang="en-US" sz="1400" b="1" dirty="0">
                <a:solidFill>
                  <a:srgbClr val="6A3E3E"/>
                </a:solidFill>
                <a:latin typeface="Consolas" panose="020B0609020204030204" pitchFamily="49" charset="0"/>
              </a:rPr>
              <a:t>exception</a:t>
            </a:r>
            <a:r>
              <a:rPr lang="en-US" sz="1400" b="1" dirty="0">
                <a:solidFill>
                  <a:srgbClr val="000000"/>
                </a:solidFill>
                <a:latin typeface="Consolas" panose="020B0609020204030204" pitchFamily="49" charset="0"/>
              </a:rPr>
              <a:t>) {</a:t>
            </a:r>
          </a:p>
          <a:p>
            <a:pPr lvl="1"/>
            <a:r>
              <a:rPr lang="en-US" sz="1400" b="1" dirty="0">
                <a:solidFill>
                  <a:srgbClr val="7F0055"/>
                </a:solidFill>
                <a:latin typeface="Consolas" panose="020B0609020204030204" pitchFamily="49" charset="0"/>
              </a:rPr>
              <a:t>return</a:t>
            </a:r>
            <a:r>
              <a:rPr lang="en-US" sz="1400" b="1" dirty="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new</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ResponseEntity</a:t>
            </a:r>
            <a:r>
              <a:rPr lang="en-US" sz="1400" b="1" dirty="0">
                <a:solidFill>
                  <a:srgbClr val="000000"/>
                </a:solidFill>
                <a:latin typeface="Consolas" panose="020B0609020204030204" pitchFamily="49" charset="0"/>
              </a:rPr>
              <a:t>&lt;&gt;(</a:t>
            </a:r>
            <a:r>
              <a:rPr lang="en-US" sz="1400" b="1" dirty="0">
                <a:solidFill>
                  <a:srgbClr val="2A00FF"/>
                </a:solidFill>
                <a:latin typeface="Consolas" panose="020B0609020204030204" pitchFamily="49" charset="0"/>
              </a:rPr>
              <a:t>"</a:t>
            </a:r>
            <a:r>
              <a:rPr lang="en-US" sz="1400" b="1" dirty="0" err="1">
                <a:solidFill>
                  <a:srgbClr val="2A00FF"/>
                </a:solidFill>
                <a:latin typeface="Consolas" panose="020B0609020204030204" pitchFamily="49" charset="0"/>
              </a:rPr>
              <a:t>VatRate</a:t>
            </a:r>
            <a:r>
              <a:rPr lang="en-US" sz="1400" b="1" dirty="0">
                <a:solidFill>
                  <a:srgbClr val="2A00FF"/>
                </a:solidFill>
                <a:latin typeface="Consolas" panose="020B0609020204030204" pitchFamily="49" charset="0"/>
              </a:rPr>
              <a:t> not found"</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HttpStatus.</a:t>
            </a:r>
            <a:r>
              <a:rPr lang="en-US" sz="1400" b="1" i="1" dirty="0" err="1">
                <a:solidFill>
                  <a:srgbClr val="0000C0"/>
                </a:solidFill>
                <a:latin typeface="Consolas" panose="020B0609020204030204" pitchFamily="49" charset="0"/>
              </a:rPr>
              <a:t>NOT_FOUND</a:t>
            </a:r>
            <a:r>
              <a:rPr lang="en-US" sz="1400" b="1" i="1"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a:t>
            </a:r>
          </a:p>
          <a:p>
            <a:pPr lvl="1"/>
            <a:endParaRPr lang="en-US" sz="1400" dirty="0">
              <a:latin typeface="Consolas" panose="020B0609020204030204" pitchFamily="49" charset="0"/>
            </a:endParaRPr>
          </a:p>
          <a:p>
            <a:pPr lvl="1"/>
            <a:r>
              <a:rPr lang="en-US" sz="1400" dirty="0">
                <a:solidFill>
                  <a:srgbClr val="646464"/>
                </a:solidFill>
                <a:latin typeface="Consolas" panose="020B0609020204030204" pitchFamily="49" charset="0"/>
              </a:rPr>
              <a:t>@</a:t>
            </a:r>
            <a:r>
              <a:rPr lang="en-US" sz="1400" dirty="0" err="1">
                <a:solidFill>
                  <a:srgbClr val="646464"/>
                </a:solidFill>
                <a:latin typeface="Consolas" panose="020B0609020204030204" pitchFamily="49" charset="0"/>
              </a:rPr>
              <a:t>ExceptionHandler</a:t>
            </a:r>
            <a:r>
              <a:rPr lang="en-US" sz="1400" dirty="0">
                <a:solidFill>
                  <a:srgbClr val="000000"/>
                </a:solidFill>
                <a:latin typeface="Consolas" panose="020B0609020204030204" pitchFamily="49" charset="0"/>
              </a:rPr>
              <a:t>(value = </a:t>
            </a:r>
            <a:r>
              <a:rPr lang="en-US" sz="1400" dirty="0" err="1">
                <a:solidFill>
                  <a:srgbClr val="000000"/>
                </a:solidFill>
                <a:latin typeface="Consolas" panose="020B0609020204030204" pitchFamily="49" charset="0"/>
              </a:rPr>
              <a:t>DuplicateRateException.</a:t>
            </a:r>
            <a:r>
              <a:rPr lang="en-US" sz="1400" b="1" dirty="0" err="1">
                <a:solidFill>
                  <a:srgbClr val="7F0055"/>
                </a:solidFill>
                <a:latin typeface="Consolas" panose="020B0609020204030204" pitchFamily="49" charset="0"/>
              </a:rPr>
              <a:t>class</a:t>
            </a:r>
            <a:r>
              <a:rPr lang="en-US" sz="1400" b="1" dirty="0">
                <a:solidFill>
                  <a:srgbClr val="000000"/>
                </a:solidFill>
                <a:latin typeface="Consolas" panose="020B0609020204030204" pitchFamily="49" charset="0"/>
              </a:rPr>
              <a:t>)</a:t>
            </a:r>
          </a:p>
          <a:p>
            <a:pPr lvl="1"/>
            <a:r>
              <a:rPr lang="en-US" sz="1400" b="1" dirty="0">
                <a:solidFill>
                  <a:srgbClr val="7F0055"/>
                </a:solidFill>
                <a:latin typeface="Consolas" panose="020B0609020204030204" pitchFamily="49" charset="0"/>
              </a:rPr>
              <a:t>public</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ResponseEntity</a:t>
            </a:r>
            <a:r>
              <a:rPr lang="en-US" sz="1400" b="1" dirty="0">
                <a:solidFill>
                  <a:srgbClr val="000000"/>
                </a:solidFill>
                <a:latin typeface="Consolas" panose="020B0609020204030204" pitchFamily="49" charset="0"/>
              </a:rPr>
              <a:t>&lt;Object&gt; exception2(</a:t>
            </a:r>
            <a:r>
              <a:rPr lang="en-US" sz="1400" b="1" dirty="0" err="1">
                <a:solidFill>
                  <a:srgbClr val="000000"/>
                </a:solidFill>
                <a:latin typeface="Consolas" panose="020B0609020204030204" pitchFamily="49" charset="0"/>
              </a:rPr>
              <a:t>DuplicateRateException</a:t>
            </a:r>
            <a:r>
              <a:rPr lang="en-US" sz="1400" b="1" dirty="0">
                <a:solidFill>
                  <a:srgbClr val="000000"/>
                </a:solidFill>
                <a:latin typeface="Consolas" panose="020B0609020204030204" pitchFamily="49" charset="0"/>
              </a:rPr>
              <a:t> </a:t>
            </a:r>
            <a:r>
              <a:rPr lang="en-US" sz="1400" b="1" dirty="0">
                <a:solidFill>
                  <a:srgbClr val="6A3E3E"/>
                </a:solidFill>
                <a:latin typeface="Consolas" panose="020B0609020204030204" pitchFamily="49" charset="0"/>
              </a:rPr>
              <a:t>exception</a:t>
            </a:r>
            <a:r>
              <a:rPr lang="en-US" sz="1400" b="1" dirty="0">
                <a:solidFill>
                  <a:srgbClr val="000000"/>
                </a:solidFill>
                <a:latin typeface="Consolas" panose="020B0609020204030204" pitchFamily="49" charset="0"/>
              </a:rPr>
              <a:t>) {</a:t>
            </a:r>
          </a:p>
          <a:p>
            <a:pPr lvl="1"/>
            <a:r>
              <a:rPr lang="en-US" sz="1400" b="1" dirty="0">
                <a:solidFill>
                  <a:srgbClr val="7F0055"/>
                </a:solidFill>
                <a:latin typeface="Consolas" panose="020B0609020204030204" pitchFamily="49" charset="0"/>
              </a:rPr>
              <a:t>return</a:t>
            </a:r>
            <a:r>
              <a:rPr lang="en-US" sz="1400" b="1" dirty="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new</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ResponseEntity</a:t>
            </a:r>
            <a:r>
              <a:rPr lang="en-US" sz="1400" b="1" dirty="0">
                <a:solidFill>
                  <a:srgbClr val="000000"/>
                </a:solidFill>
                <a:latin typeface="Consolas" panose="020B0609020204030204" pitchFamily="49" charset="0"/>
              </a:rPr>
              <a:t>&lt;&gt;(</a:t>
            </a:r>
            <a:r>
              <a:rPr lang="en-US" sz="1400" b="1" dirty="0">
                <a:solidFill>
                  <a:srgbClr val="2A00FF"/>
                </a:solidFill>
                <a:latin typeface="Consolas" panose="020B0609020204030204" pitchFamily="49" charset="0"/>
              </a:rPr>
              <a:t>"Rate Duplication"</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HttpStatus.</a:t>
            </a:r>
            <a:r>
              <a:rPr lang="en-US" sz="1400" b="1" i="1" dirty="0" err="1">
                <a:solidFill>
                  <a:srgbClr val="0000C0"/>
                </a:solidFill>
                <a:latin typeface="Consolas" panose="020B0609020204030204" pitchFamily="49" charset="0"/>
              </a:rPr>
              <a:t>CONFLICT</a:t>
            </a:r>
            <a:r>
              <a:rPr lang="en-US" sz="1400" b="1" i="1"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5807448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p:nvPr/>
        </p:nvSpPr>
        <p:spPr>
          <a:xfrm>
            <a:off x="229565" y="176657"/>
            <a:ext cx="4145687" cy="584775"/>
          </a:xfrm>
          <a:prstGeom prst="rect">
            <a:avLst/>
          </a:prstGeom>
        </p:spPr>
        <p:txBody>
          <a:bodyPr wrap="none">
            <a:spAutoFit/>
          </a:bodyPr>
          <a:lstStyle/>
          <a:p>
            <a:r>
              <a:rPr lang="en-US" sz="3200" b="1" i="1" dirty="0">
                <a:solidFill>
                  <a:srgbClr val="C00000"/>
                </a:solidFill>
                <a:latin typeface="FranklinGothic-DemiItal"/>
              </a:rPr>
              <a:t>Advising controllers</a:t>
            </a:r>
            <a:endParaRPr lang="en-US" sz="3200" dirty="0">
              <a:solidFill>
                <a:srgbClr val="C00000"/>
              </a:solidFill>
            </a:endParaRPr>
          </a:p>
        </p:txBody>
      </p:sp>
      <p:sp>
        <p:nvSpPr>
          <p:cNvPr id="18" name="Rectangle 17"/>
          <p:cNvSpPr/>
          <p:nvPr/>
        </p:nvSpPr>
        <p:spPr>
          <a:xfrm>
            <a:off x="304801" y="823457"/>
            <a:ext cx="10089265" cy="369332"/>
          </a:xfrm>
          <a:prstGeom prst="rect">
            <a:avLst/>
          </a:prstGeom>
        </p:spPr>
        <p:txBody>
          <a:bodyPr wrap="square">
            <a:spAutoFit/>
          </a:bodyPr>
          <a:lstStyle/>
          <a:p>
            <a:r>
              <a:rPr lang="en-US" dirty="0" smtClean="0">
                <a:latin typeface="NewBaskerville-Roman"/>
              </a:rPr>
              <a:t>Both </a:t>
            </a:r>
            <a:r>
              <a:rPr lang="en-US" dirty="0" smtClean="0">
                <a:solidFill>
                  <a:srgbClr val="00B050"/>
                </a:solidFill>
                <a:latin typeface="NewBaskerville-Roman"/>
              </a:rPr>
              <a:t>HAPPY</a:t>
            </a:r>
            <a:r>
              <a:rPr lang="en-US" dirty="0" smtClean="0">
                <a:latin typeface="NewBaskerville-Roman"/>
              </a:rPr>
              <a:t> and </a:t>
            </a:r>
            <a:r>
              <a:rPr lang="en-US" dirty="0" smtClean="0">
                <a:solidFill>
                  <a:srgbClr val="C00000"/>
                </a:solidFill>
                <a:latin typeface="NewBaskerville-Roman"/>
              </a:rPr>
              <a:t>FAIL (</a:t>
            </a:r>
            <a:r>
              <a:rPr lang="en-US" dirty="0" err="1" smtClean="0">
                <a:solidFill>
                  <a:srgbClr val="C00000"/>
                </a:solidFill>
                <a:latin typeface="NewBaskerville-Roman"/>
              </a:rPr>
              <a:t>VatRate</a:t>
            </a:r>
            <a:r>
              <a:rPr lang="en-US" dirty="0" smtClean="0">
                <a:solidFill>
                  <a:srgbClr val="C00000"/>
                </a:solidFill>
                <a:latin typeface="NewBaskerville-Roman"/>
              </a:rPr>
              <a:t> not found)</a:t>
            </a:r>
            <a:r>
              <a:rPr lang="en-US" dirty="0" smtClean="0">
                <a:latin typeface="NewBaskerville-Roman"/>
              </a:rPr>
              <a:t> scenarios are  with pretty OBJECT form </a:t>
            </a:r>
            <a:r>
              <a:rPr lang="en-US" dirty="0" smtClean="0">
                <a:solidFill>
                  <a:srgbClr val="00B050"/>
                </a:solidFill>
                <a:latin typeface="NewBaskerville-Roman"/>
                <a:sym typeface="Wingdings" panose="05000000000000000000" pitchFamily="2" charset="2"/>
              </a:rPr>
              <a:t></a:t>
            </a:r>
            <a:r>
              <a:rPr lang="en-US" dirty="0" smtClean="0">
                <a:latin typeface="NewBaskerville-Roman"/>
                <a:sym typeface="Wingdings" panose="05000000000000000000" pitchFamily="2" charset="2"/>
              </a:rPr>
              <a:t> </a:t>
            </a:r>
            <a:r>
              <a:rPr lang="en-US" dirty="0" smtClean="0">
                <a:latin typeface="NewBaskerville-Roman"/>
              </a:rPr>
              <a:t> </a:t>
            </a:r>
            <a:endParaRPr lang="en-US" dirty="0"/>
          </a:p>
        </p:txBody>
      </p:sp>
      <p:pic>
        <p:nvPicPr>
          <p:cNvPr id="23" name="Picture 22"/>
          <p:cNvPicPr>
            <a:picLocks noChangeAspect="1"/>
          </p:cNvPicPr>
          <p:nvPr/>
        </p:nvPicPr>
        <p:blipFill>
          <a:blip r:embed="rId3"/>
          <a:stretch>
            <a:fillRect/>
          </a:stretch>
        </p:blipFill>
        <p:spPr>
          <a:xfrm rot="21225916">
            <a:off x="6371864" y="4192689"/>
            <a:ext cx="5245019" cy="2318613"/>
          </a:xfrm>
          <a:prstGeom prst="rect">
            <a:avLst/>
          </a:prstGeom>
        </p:spPr>
      </p:pic>
      <p:pic>
        <p:nvPicPr>
          <p:cNvPr id="26" name="Picture 25"/>
          <p:cNvPicPr>
            <a:picLocks noChangeAspect="1"/>
          </p:cNvPicPr>
          <p:nvPr/>
        </p:nvPicPr>
        <p:blipFill>
          <a:blip r:embed="rId4"/>
          <a:stretch>
            <a:fillRect/>
          </a:stretch>
        </p:blipFill>
        <p:spPr>
          <a:xfrm>
            <a:off x="694482" y="1361098"/>
            <a:ext cx="3378788" cy="3606099"/>
          </a:xfrm>
          <a:prstGeom prst="rect">
            <a:avLst/>
          </a:prstGeom>
        </p:spPr>
      </p:pic>
      <p:pic>
        <p:nvPicPr>
          <p:cNvPr id="25" name="Picture 24"/>
          <p:cNvPicPr>
            <a:picLocks noChangeAspect="1"/>
          </p:cNvPicPr>
          <p:nvPr/>
        </p:nvPicPr>
        <p:blipFill>
          <a:blip r:embed="rId5"/>
          <a:stretch>
            <a:fillRect/>
          </a:stretch>
        </p:blipFill>
        <p:spPr>
          <a:xfrm rot="537472">
            <a:off x="344920" y="4045679"/>
            <a:ext cx="4927861" cy="2443568"/>
          </a:xfrm>
          <a:prstGeom prst="rect">
            <a:avLst/>
          </a:prstGeom>
        </p:spPr>
      </p:pic>
      <p:pic>
        <p:nvPicPr>
          <p:cNvPr id="27" name="Picture 26"/>
          <p:cNvPicPr>
            <a:picLocks noChangeAspect="1"/>
          </p:cNvPicPr>
          <p:nvPr/>
        </p:nvPicPr>
        <p:blipFill>
          <a:blip r:embed="rId6"/>
          <a:stretch>
            <a:fillRect/>
          </a:stretch>
        </p:blipFill>
        <p:spPr>
          <a:xfrm>
            <a:off x="5081286" y="1481112"/>
            <a:ext cx="6472237" cy="1722826"/>
          </a:xfrm>
          <a:prstGeom prst="rect">
            <a:avLst/>
          </a:prstGeom>
        </p:spPr>
      </p:pic>
    </p:spTree>
    <p:extLst>
      <p:ext uri="{BB962C8B-B14F-4D97-AF65-F5344CB8AC3E}">
        <p14:creationId xmlns:p14="http://schemas.microsoft.com/office/powerpoint/2010/main" val="13069378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p:nvPr/>
        </p:nvSpPr>
        <p:spPr>
          <a:xfrm>
            <a:off x="229565" y="176657"/>
            <a:ext cx="3962944" cy="584775"/>
          </a:xfrm>
          <a:prstGeom prst="rect">
            <a:avLst/>
          </a:prstGeom>
        </p:spPr>
        <p:txBody>
          <a:bodyPr wrap="none">
            <a:spAutoFit/>
          </a:bodyPr>
          <a:lstStyle/>
          <a:p>
            <a:r>
              <a:rPr lang="en-US" sz="3200" b="1" i="1" dirty="0" smtClean="0">
                <a:solidFill>
                  <a:srgbClr val="C00000"/>
                </a:solidFill>
                <a:latin typeface="FranklinGothic-DemiItal"/>
              </a:rPr>
              <a:t>Spring 5 and above</a:t>
            </a:r>
            <a:endParaRPr lang="en-US" sz="3200" dirty="0">
              <a:solidFill>
                <a:srgbClr val="C00000"/>
              </a:solidFill>
            </a:endParaRPr>
          </a:p>
        </p:txBody>
      </p:sp>
      <p:sp>
        <p:nvSpPr>
          <p:cNvPr id="18" name="Rectangle 17"/>
          <p:cNvSpPr/>
          <p:nvPr/>
        </p:nvSpPr>
        <p:spPr>
          <a:xfrm>
            <a:off x="184731" y="807151"/>
            <a:ext cx="11887199" cy="369332"/>
          </a:xfrm>
          <a:prstGeom prst="rect">
            <a:avLst/>
          </a:prstGeom>
        </p:spPr>
        <p:txBody>
          <a:bodyPr wrap="square">
            <a:spAutoFit/>
          </a:bodyPr>
          <a:lstStyle/>
          <a:p>
            <a:r>
              <a:rPr lang="en-US" dirty="0"/>
              <a:t> </a:t>
            </a:r>
            <a:r>
              <a:rPr lang="en-US" b="1" dirty="0"/>
              <a:t>Spring 5 introduces the </a:t>
            </a:r>
            <a:r>
              <a:rPr lang="en-US" b="1" i="1" dirty="0" err="1"/>
              <a:t>ResponseStatusException</a:t>
            </a:r>
            <a:r>
              <a:rPr lang="en-US" b="1" i="1" dirty="0"/>
              <a:t> </a:t>
            </a:r>
            <a:r>
              <a:rPr lang="en-US" b="1" dirty="0"/>
              <a:t>class</a:t>
            </a:r>
            <a:r>
              <a:rPr lang="en-US" dirty="0"/>
              <a:t> — a fast way for basic error handling in our REST APIs.</a:t>
            </a:r>
          </a:p>
        </p:txBody>
      </p:sp>
      <p:pic>
        <p:nvPicPr>
          <p:cNvPr id="25" name="Picture 24"/>
          <p:cNvPicPr>
            <a:picLocks noChangeAspect="1"/>
          </p:cNvPicPr>
          <p:nvPr/>
        </p:nvPicPr>
        <p:blipFill>
          <a:blip r:embed="rId3"/>
          <a:stretch>
            <a:fillRect/>
          </a:stretch>
        </p:blipFill>
        <p:spPr>
          <a:xfrm>
            <a:off x="377393" y="1364192"/>
            <a:ext cx="9877327" cy="3354564"/>
          </a:xfrm>
          <a:prstGeom prst="rect">
            <a:avLst/>
          </a:prstGeom>
        </p:spPr>
      </p:pic>
      <p:sp>
        <p:nvSpPr>
          <p:cNvPr id="27" name="Rectangle 26"/>
          <p:cNvSpPr/>
          <p:nvPr/>
        </p:nvSpPr>
        <p:spPr>
          <a:xfrm>
            <a:off x="304801" y="5021808"/>
            <a:ext cx="11887199" cy="1754326"/>
          </a:xfrm>
          <a:prstGeom prst="rect">
            <a:avLst/>
          </a:prstGeom>
        </p:spPr>
        <p:txBody>
          <a:bodyPr wrap="square">
            <a:spAutoFit/>
          </a:bodyPr>
          <a:lstStyle/>
          <a:p>
            <a:r>
              <a:rPr lang="en-US" dirty="0" smtClean="0"/>
              <a:t>+ Excellent </a:t>
            </a:r>
            <a:r>
              <a:rPr lang="en-US" dirty="0"/>
              <a:t>for prototyping: We can implement a basic solution quite fast.</a:t>
            </a:r>
          </a:p>
          <a:p>
            <a:r>
              <a:rPr lang="en-US" dirty="0" smtClean="0"/>
              <a:t>+ One </a:t>
            </a:r>
            <a:r>
              <a:rPr lang="en-US" dirty="0"/>
              <a:t>type, multiple status codes: One exception type can lead to multiple different responses</a:t>
            </a:r>
            <a:r>
              <a:rPr lang="en-US" dirty="0" smtClean="0"/>
              <a:t>.</a:t>
            </a:r>
          </a:p>
          <a:p>
            <a:r>
              <a:rPr lang="en-US" dirty="0" smtClean="0"/>
              <a:t>+ We </a:t>
            </a:r>
            <a:r>
              <a:rPr lang="en-US" dirty="0"/>
              <a:t>won't have to create as many custom exception </a:t>
            </a:r>
            <a:r>
              <a:rPr lang="en-US" dirty="0" smtClean="0"/>
              <a:t>classes, exceptions </a:t>
            </a:r>
            <a:r>
              <a:rPr lang="en-US" dirty="0"/>
              <a:t>can be created programmatically.</a:t>
            </a:r>
          </a:p>
          <a:p>
            <a:endParaRPr lang="en-US" dirty="0" smtClean="0"/>
          </a:p>
          <a:p>
            <a:pPr marL="285750" indent="-285750">
              <a:buFontTx/>
              <a:buChar char="-"/>
            </a:pPr>
            <a:r>
              <a:rPr lang="en-US" dirty="0" smtClean="0"/>
              <a:t>There's </a:t>
            </a:r>
            <a:r>
              <a:rPr lang="en-US" dirty="0"/>
              <a:t>no unified way of exception handling: </a:t>
            </a:r>
            <a:r>
              <a:rPr lang="en-US" dirty="0" smtClean="0"/>
              <a:t> as </a:t>
            </a:r>
            <a:r>
              <a:rPr lang="en-US" dirty="0"/>
              <a:t>opposed to </a:t>
            </a:r>
            <a:r>
              <a:rPr lang="en-US" i="1" dirty="0"/>
              <a:t>@</a:t>
            </a:r>
            <a:r>
              <a:rPr lang="en-US" i="1" dirty="0" err="1"/>
              <a:t>ControllerAdvice</a:t>
            </a:r>
            <a:r>
              <a:rPr lang="en-US" dirty="0"/>
              <a:t>, which provides a global approach</a:t>
            </a:r>
            <a:r>
              <a:rPr lang="en-US" dirty="0" smtClean="0"/>
              <a:t>.</a:t>
            </a:r>
          </a:p>
          <a:p>
            <a:pPr marL="285750" indent="-285750">
              <a:buFontTx/>
              <a:buChar char="-"/>
            </a:pPr>
            <a:r>
              <a:rPr lang="en-US" dirty="0" smtClean="0"/>
              <a:t>Code </a:t>
            </a:r>
            <a:r>
              <a:rPr lang="en-US" dirty="0"/>
              <a:t>duplication: We may find ourselves replicating code in multiple controllers.</a:t>
            </a:r>
          </a:p>
        </p:txBody>
      </p:sp>
    </p:spTree>
    <p:extLst>
      <p:ext uri="{BB962C8B-B14F-4D97-AF65-F5344CB8AC3E}">
        <p14:creationId xmlns:p14="http://schemas.microsoft.com/office/powerpoint/2010/main" val="10116209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p:nvPr/>
        </p:nvSpPr>
        <p:spPr>
          <a:xfrm>
            <a:off x="229565" y="176657"/>
            <a:ext cx="4442242" cy="584775"/>
          </a:xfrm>
          <a:prstGeom prst="rect">
            <a:avLst/>
          </a:prstGeom>
        </p:spPr>
        <p:txBody>
          <a:bodyPr wrap="none">
            <a:spAutoFit/>
          </a:bodyPr>
          <a:lstStyle/>
          <a:p>
            <a:r>
              <a:rPr lang="en-US" sz="3200" b="1" i="1" dirty="0" smtClean="0">
                <a:solidFill>
                  <a:srgbClr val="C00000"/>
                </a:solidFill>
                <a:latin typeface="FranklinGothic-DemiItal"/>
              </a:rPr>
              <a:t>Spring Boot Support  </a:t>
            </a:r>
            <a:endParaRPr lang="en-US" sz="3200" dirty="0">
              <a:solidFill>
                <a:srgbClr val="C00000"/>
              </a:solidFill>
            </a:endParaRPr>
          </a:p>
        </p:txBody>
      </p:sp>
      <p:sp>
        <p:nvSpPr>
          <p:cNvPr id="18" name="Rectangle 17"/>
          <p:cNvSpPr/>
          <p:nvPr/>
        </p:nvSpPr>
        <p:spPr>
          <a:xfrm>
            <a:off x="184731" y="807151"/>
            <a:ext cx="11887199" cy="369332"/>
          </a:xfrm>
          <a:prstGeom prst="rect">
            <a:avLst/>
          </a:prstGeom>
        </p:spPr>
        <p:txBody>
          <a:bodyPr wrap="square">
            <a:spAutoFit/>
          </a:bodyPr>
          <a:lstStyle/>
          <a:p>
            <a:r>
              <a:rPr lang="en-US" dirty="0" smtClean="0"/>
              <a:t>A </a:t>
            </a:r>
            <a:r>
              <a:rPr lang="en-US" dirty="0"/>
              <a:t>fallback error page for browsers (a.k.a. the </a:t>
            </a:r>
            <a:r>
              <a:rPr lang="en-US" dirty="0" err="1"/>
              <a:t>Whitelabel</a:t>
            </a:r>
            <a:r>
              <a:rPr lang="en-US" dirty="0"/>
              <a:t> Error Page) and a JSON response for RESTful, non-HTML requests:</a:t>
            </a:r>
          </a:p>
        </p:txBody>
      </p:sp>
      <p:pic>
        <p:nvPicPr>
          <p:cNvPr id="23" name="Picture 22"/>
          <p:cNvPicPr>
            <a:picLocks noChangeAspect="1"/>
          </p:cNvPicPr>
          <p:nvPr/>
        </p:nvPicPr>
        <p:blipFill>
          <a:blip r:embed="rId3"/>
          <a:stretch>
            <a:fillRect/>
          </a:stretch>
        </p:blipFill>
        <p:spPr>
          <a:xfrm>
            <a:off x="473251" y="1528557"/>
            <a:ext cx="6391275" cy="1495425"/>
          </a:xfrm>
          <a:prstGeom prst="rect">
            <a:avLst/>
          </a:prstGeom>
        </p:spPr>
      </p:pic>
      <p:sp>
        <p:nvSpPr>
          <p:cNvPr id="24" name="Rectangle 23"/>
          <p:cNvSpPr/>
          <p:nvPr/>
        </p:nvSpPr>
        <p:spPr>
          <a:xfrm>
            <a:off x="327376" y="3371969"/>
            <a:ext cx="11458223" cy="1477328"/>
          </a:xfrm>
          <a:prstGeom prst="rect">
            <a:avLst/>
          </a:prstGeom>
        </p:spPr>
        <p:txBody>
          <a:bodyPr wrap="square">
            <a:spAutoFit/>
          </a:bodyPr>
          <a:lstStyle/>
          <a:p>
            <a:r>
              <a:rPr lang="en-US" dirty="0">
                <a:solidFill>
                  <a:srgbClr val="000000"/>
                </a:solidFill>
                <a:latin typeface="raleway"/>
              </a:rPr>
              <a:t>As usual, Spring Boot allows configuring these features with properties:</a:t>
            </a:r>
          </a:p>
          <a:p>
            <a:pPr>
              <a:buFont typeface="Arial" panose="020B0604020202020204" pitchFamily="34" charset="0"/>
              <a:buChar char="•"/>
            </a:pPr>
            <a:r>
              <a:rPr lang="en-US" i="1" dirty="0" smtClean="0">
                <a:solidFill>
                  <a:srgbClr val="000000"/>
                </a:solidFill>
                <a:latin typeface="raleway"/>
              </a:rPr>
              <a:t> </a:t>
            </a:r>
            <a:r>
              <a:rPr lang="en-US" b="1" i="1" dirty="0" err="1" smtClean="0">
                <a:solidFill>
                  <a:srgbClr val="000000"/>
                </a:solidFill>
                <a:latin typeface="raleway"/>
              </a:rPr>
              <a:t>server.error.whitelabel.enabled</a:t>
            </a:r>
            <a:r>
              <a:rPr lang="en-US" dirty="0">
                <a:solidFill>
                  <a:srgbClr val="000000"/>
                </a:solidFill>
                <a:latin typeface="raleway"/>
              </a:rPr>
              <a:t>: can be used to disable the </a:t>
            </a:r>
            <a:r>
              <a:rPr lang="en-US" dirty="0" err="1">
                <a:solidFill>
                  <a:srgbClr val="000000"/>
                </a:solidFill>
                <a:latin typeface="raleway"/>
              </a:rPr>
              <a:t>Whitelabel</a:t>
            </a:r>
            <a:r>
              <a:rPr lang="en-US" dirty="0">
                <a:solidFill>
                  <a:srgbClr val="000000"/>
                </a:solidFill>
                <a:latin typeface="raleway"/>
              </a:rPr>
              <a:t> Error Page and rely on the servlet container to provide an HTML error message</a:t>
            </a:r>
          </a:p>
          <a:p>
            <a:pPr>
              <a:buFont typeface="Arial" panose="020B0604020202020204" pitchFamily="34" charset="0"/>
              <a:buChar char="•"/>
            </a:pPr>
            <a:r>
              <a:rPr lang="en-US" b="1" i="1" dirty="0" smtClean="0">
                <a:solidFill>
                  <a:srgbClr val="000000"/>
                </a:solidFill>
                <a:latin typeface="raleway"/>
              </a:rPr>
              <a:t> </a:t>
            </a:r>
            <a:r>
              <a:rPr lang="en-US" b="1" i="1" dirty="0" err="1" smtClean="0">
                <a:solidFill>
                  <a:srgbClr val="000000"/>
                </a:solidFill>
                <a:latin typeface="raleway"/>
              </a:rPr>
              <a:t>server.error.include-stacktrace</a:t>
            </a:r>
            <a:r>
              <a:rPr lang="en-US" dirty="0">
                <a:solidFill>
                  <a:srgbClr val="000000"/>
                </a:solidFill>
                <a:latin typeface="raleway"/>
              </a:rPr>
              <a:t>: with an </a:t>
            </a:r>
            <a:r>
              <a:rPr lang="en-US" i="1" dirty="0">
                <a:solidFill>
                  <a:srgbClr val="000000"/>
                </a:solidFill>
                <a:latin typeface="raleway"/>
              </a:rPr>
              <a:t>always </a:t>
            </a:r>
            <a:r>
              <a:rPr lang="en-US" dirty="0">
                <a:solidFill>
                  <a:srgbClr val="000000"/>
                </a:solidFill>
                <a:latin typeface="raleway"/>
              </a:rPr>
              <a:t>value; includes the </a:t>
            </a:r>
            <a:r>
              <a:rPr lang="en-US" dirty="0" err="1">
                <a:solidFill>
                  <a:srgbClr val="000000"/>
                </a:solidFill>
                <a:latin typeface="raleway"/>
              </a:rPr>
              <a:t>stacktrace</a:t>
            </a:r>
            <a:r>
              <a:rPr lang="en-US" dirty="0">
                <a:solidFill>
                  <a:srgbClr val="000000"/>
                </a:solidFill>
                <a:latin typeface="raleway"/>
              </a:rPr>
              <a:t> in both the HTML and the JSON default response</a:t>
            </a:r>
            <a:endParaRPr lang="en-US" b="0" i="0" dirty="0">
              <a:solidFill>
                <a:srgbClr val="000000"/>
              </a:solidFill>
              <a:effectLst/>
              <a:latin typeface="raleway"/>
            </a:endParaRPr>
          </a:p>
        </p:txBody>
      </p:sp>
      <p:sp>
        <p:nvSpPr>
          <p:cNvPr id="26" name="Rectangle 25"/>
          <p:cNvSpPr/>
          <p:nvPr/>
        </p:nvSpPr>
        <p:spPr>
          <a:xfrm>
            <a:off x="229564" y="4942891"/>
            <a:ext cx="11842365" cy="646331"/>
          </a:xfrm>
          <a:prstGeom prst="rect">
            <a:avLst/>
          </a:prstGeom>
        </p:spPr>
        <p:txBody>
          <a:bodyPr wrap="square">
            <a:spAutoFit/>
          </a:bodyPr>
          <a:lstStyle/>
          <a:p>
            <a:r>
              <a:rPr lang="en-US" dirty="0">
                <a:solidFill>
                  <a:srgbClr val="000000"/>
                </a:solidFill>
                <a:latin typeface="raleway"/>
              </a:rPr>
              <a:t>Apart from these properties,</a:t>
            </a:r>
            <a:r>
              <a:rPr lang="en-US" b="1" dirty="0">
                <a:solidFill>
                  <a:srgbClr val="000000"/>
                </a:solidFill>
                <a:latin typeface="raleway"/>
              </a:rPr>
              <a:t> we can provide our own view-resolver mapping for /</a:t>
            </a:r>
            <a:r>
              <a:rPr lang="en-US" b="1" i="1" dirty="0">
                <a:solidFill>
                  <a:srgbClr val="000000"/>
                </a:solidFill>
                <a:latin typeface="raleway"/>
              </a:rPr>
              <a:t>error, </a:t>
            </a:r>
            <a:r>
              <a:rPr lang="en-US" b="1" dirty="0">
                <a:solidFill>
                  <a:srgbClr val="000000"/>
                </a:solidFill>
                <a:latin typeface="raleway"/>
              </a:rPr>
              <a:t>overriding the </a:t>
            </a:r>
            <a:r>
              <a:rPr lang="en-US" b="1" dirty="0" err="1">
                <a:solidFill>
                  <a:srgbClr val="000000"/>
                </a:solidFill>
                <a:latin typeface="raleway"/>
              </a:rPr>
              <a:t>Whitelabel</a:t>
            </a:r>
            <a:r>
              <a:rPr lang="en-US" b="1" dirty="0">
                <a:solidFill>
                  <a:srgbClr val="000000"/>
                </a:solidFill>
                <a:latin typeface="raleway"/>
              </a:rPr>
              <a:t> Page.</a:t>
            </a:r>
            <a:endParaRPr lang="en-US" dirty="0"/>
          </a:p>
        </p:txBody>
      </p:sp>
      <p:sp>
        <p:nvSpPr>
          <p:cNvPr id="28" name="Rectangle 27"/>
          <p:cNvSpPr/>
          <p:nvPr/>
        </p:nvSpPr>
        <p:spPr>
          <a:xfrm>
            <a:off x="201340" y="5682816"/>
            <a:ext cx="6758258" cy="954107"/>
          </a:xfrm>
          <a:prstGeom prst="rect">
            <a:avLst/>
          </a:prstGeom>
        </p:spPr>
        <p:txBody>
          <a:bodyPr wrap="square">
            <a:spAutoFit/>
          </a:bodyPr>
          <a:lstStyle/>
          <a:p>
            <a:r>
              <a:rPr lang="en-US" sz="1400" dirty="0">
                <a:solidFill>
                  <a:srgbClr val="1F7199"/>
                </a:solidFill>
                <a:latin typeface="source code pro"/>
              </a:rPr>
              <a:t>@Component</a:t>
            </a:r>
            <a:r>
              <a:rPr lang="en-US" sz="1400" dirty="0">
                <a:solidFill>
                  <a:srgbClr val="444444"/>
                </a:solidFill>
                <a:latin typeface="source code pro"/>
              </a:rPr>
              <a:t> </a:t>
            </a:r>
            <a:r>
              <a:rPr lang="en-US" sz="1400" b="1" dirty="0">
                <a:solidFill>
                  <a:srgbClr val="63B175"/>
                </a:solidFill>
                <a:latin typeface="source code pro"/>
              </a:rPr>
              <a:t>public</a:t>
            </a:r>
            <a:r>
              <a:rPr lang="en-US" sz="1400" dirty="0">
                <a:solidFill>
                  <a:srgbClr val="444444"/>
                </a:solidFill>
                <a:latin typeface="source code pro"/>
              </a:rPr>
              <a:t> </a:t>
            </a:r>
            <a:r>
              <a:rPr lang="en-US" sz="1400" b="1" dirty="0">
                <a:solidFill>
                  <a:srgbClr val="63B175"/>
                </a:solidFill>
                <a:latin typeface="source code pro"/>
              </a:rPr>
              <a:t>class</a:t>
            </a:r>
            <a:r>
              <a:rPr lang="en-US" sz="1400" dirty="0">
                <a:solidFill>
                  <a:srgbClr val="444444"/>
                </a:solidFill>
                <a:latin typeface="source code pro"/>
              </a:rPr>
              <a:t> </a:t>
            </a:r>
            <a:r>
              <a:rPr lang="en-US" sz="1400" b="1" dirty="0" err="1">
                <a:solidFill>
                  <a:srgbClr val="267438"/>
                </a:solidFill>
                <a:latin typeface="source code pro"/>
              </a:rPr>
              <a:t>MyCustomErrorAttributes</a:t>
            </a:r>
            <a:r>
              <a:rPr lang="en-US" sz="1400" dirty="0">
                <a:solidFill>
                  <a:srgbClr val="444444"/>
                </a:solidFill>
                <a:latin typeface="source code pro"/>
              </a:rPr>
              <a:t> </a:t>
            </a:r>
            <a:r>
              <a:rPr lang="en-US" sz="1400" b="1" dirty="0">
                <a:solidFill>
                  <a:srgbClr val="63B175"/>
                </a:solidFill>
                <a:latin typeface="source code pro"/>
              </a:rPr>
              <a:t>extends</a:t>
            </a:r>
            <a:r>
              <a:rPr lang="en-US" sz="1400" dirty="0">
                <a:solidFill>
                  <a:srgbClr val="444444"/>
                </a:solidFill>
                <a:latin typeface="source code pro"/>
              </a:rPr>
              <a:t> </a:t>
            </a:r>
            <a:r>
              <a:rPr lang="en-US" sz="1400" b="1" dirty="0" err="1">
                <a:solidFill>
                  <a:srgbClr val="267438"/>
                </a:solidFill>
                <a:latin typeface="source code pro"/>
              </a:rPr>
              <a:t>DefaultErrorAttributes</a:t>
            </a:r>
            <a:r>
              <a:rPr lang="en-US" sz="1400" dirty="0">
                <a:solidFill>
                  <a:srgbClr val="444444"/>
                </a:solidFill>
                <a:latin typeface="source code pro"/>
              </a:rPr>
              <a:t> { </a:t>
            </a:r>
            <a:r>
              <a:rPr lang="en-US" sz="1400" dirty="0">
                <a:solidFill>
                  <a:srgbClr val="1F7199"/>
                </a:solidFill>
                <a:latin typeface="source code pro"/>
              </a:rPr>
              <a:t>@Override</a:t>
            </a:r>
            <a:r>
              <a:rPr lang="en-US" sz="1400" dirty="0">
                <a:solidFill>
                  <a:srgbClr val="444444"/>
                </a:solidFill>
                <a:latin typeface="source code pro"/>
              </a:rPr>
              <a:t> </a:t>
            </a:r>
            <a:r>
              <a:rPr lang="en-US" sz="1400" b="1" dirty="0">
                <a:solidFill>
                  <a:srgbClr val="63B175"/>
                </a:solidFill>
                <a:latin typeface="source code pro"/>
              </a:rPr>
              <a:t>public</a:t>
            </a:r>
            <a:r>
              <a:rPr lang="en-US" sz="1400" dirty="0">
                <a:solidFill>
                  <a:srgbClr val="444444"/>
                </a:solidFill>
                <a:latin typeface="source code pro"/>
              </a:rPr>
              <a:t> Map&lt;String, Object&gt; </a:t>
            </a:r>
            <a:r>
              <a:rPr lang="en-US" sz="1400" b="1" dirty="0" err="1">
                <a:solidFill>
                  <a:srgbClr val="267438"/>
                </a:solidFill>
                <a:latin typeface="source code pro"/>
              </a:rPr>
              <a:t>getErrorAttributes</a:t>
            </a:r>
            <a:r>
              <a:rPr lang="en-US" sz="1400" dirty="0" smtClean="0">
                <a:solidFill>
                  <a:srgbClr val="444444"/>
                </a:solidFill>
                <a:latin typeface="source code pro"/>
              </a:rPr>
              <a:t>(</a:t>
            </a:r>
          </a:p>
          <a:p>
            <a:r>
              <a:rPr lang="en-US" sz="1400" dirty="0" smtClean="0">
                <a:solidFill>
                  <a:srgbClr val="444444"/>
                </a:solidFill>
                <a:latin typeface="source code pro"/>
              </a:rPr>
              <a:t>… </a:t>
            </a:r>
            <a:endParaRPr lang="en-US" sz="1400" dirty="0"/>
          </a:p>
        </p:txBody>
      </p:sp>
      <p:sp>
        <p:nvSpPr>
          <p:cNvPr id="29" name="Rectangle 28"/>
          <p:cNvSpPr/>
          <p:nvPr/>
        </p:nvSpPr>
        <p:spPr>
          <a:xfrm>
            <a:off x="6660445" y="5682816"/>
            <a:ext cx="5411484" cy="738664"/>
          </a:xfrm>
          <a:prstGeom prst="rect">
            <a:avLst/>
          </a:prstGeom>
        </p:spPr>
        <p:txBody>
          <a:bodyPr wrap="square">
            <a:spAutoFit/>
          </a:bodyPr>
          <a:lstStyle/>
          <a:p>
            <a:r>
              <a:rPr lang="en-US" sz="1400" dirty="0">
                <a:solidFill>
                  <a:srgbClr val="1F7199"/>
                </a:solidFill>
                <a:latin typeface="source code pro"/>
              </a:rPr>
              <a:t>@Component</a:t>
            </a:r>
            <a:r>
              <a:rPr lang="en-US" sz="1400" dirty="0">
                <a:solidFill>
                  <a:srgbClr val="444444"/>
                </a:solidFill>
                <a:latin typeface="source code pro"/>
              </a:rPr>
              <a:t> </a:t>
            </a:r>
            <a:r>
              <a:rPr lang="en-US" sz="1400" b="1" dirty="0">
                <a:solidFill>
                  <a:srgbClr val="63B175"/>
                </a:solidFill>
                <a:latin typeface="source code pro"/>
              </a:rPr>
              <a:t>public</a:t>
            </a:r>
            <a:r>
              <a:rPr lang="en-US" sz="1400" dirty="0">
                <a:solidFill>
                  <a:srgbClr val="444444"/>
                </a:solidFill>
                <a:latin typeface="source code pro"/>
              </a:rPr>
              <a:t> </a:t>
            </a:r>
            <a:r>
              <a:rPr lang="en-US" sz="1400" b="1" dirty="0">
                <a:solidFill>
                  <a:srgbClr val="63B175"/>
                </a:solidFill>
                <a:latin typeface="source code pro"/>
              </a:rPr>
              <a:t>class</a:t>
            </a:r>
            <a:r>
              <a:rPr lang="en-US" sz="1400" dirty="0">
                <a:solidFill>
                  <a:srgbClr val="444444"/>
                </a:solidFill>
                <a:latin typeface="source code pro"/>
              </a:rPr>
              <a:t> </a:t>
            </a:r>
            <a:r>
              <a:rPr lang="en-US" sz="1400" b="1" dirty="0" err="1">
                <a:solidFill>
                  <a:srgbClr val="267438"/>
                </a:solidFill>
                <a:latin typeface="source code pro"/>
              </a:rPr>
              <a:t>MyErrorController</a:t>
            </a:r>
            <a:r>
              <a:rPr lang="en-US" sz="1400" dirty="0">
                <a:solidFill>
                  <a:srgbClr val="444444"/>
                </a:solidFill>
                <a:latin typeface="source code pro"/>
              </a:rPr>
              <a:t> </a:t>
            </a:r>
            <a:r>
              <a:rPr lang="en-US" sz="1400" b="1" dirty="0">
                <a:solidFill>
                  <a:srgbClr val="63B175"/>
                </a:solidFill>
                <a:latin typeface="source code pro"/>
              </a:rPr>
              <a:t>extends</a:t>
            </a:r>
            <a:r>
              <a:rPr lang="en-US" sz="1400" dirty="0">
                <a:solidFill>
                  <a:srgbClr val="444444"/>
                </a:solidFill>
                <a:latin typeface="source code pro"/>
              </a:rPr>
              <a:t> </a:t>
            </a:r>
            <a:r>
              <a:rPr lang="en-US" sz="1400" b="1" dirty="0" err="1">
                <a:solidFill>
                  <a:srgbClr val="267438"/>
                </a:solidFill>
                <a:latin typeface="source code pro"/>
              </a:rPr>
              <a:t>BasicErrorController</a:t>
            </a:r>
            <a:r>
              <a:rPr lang="en-US" sz="1400" dirty="0">
                <a:solidFill>
                  <a:srgbClr val="444444"/>
                </a:solidFill>
                <a:latin typeface="source code pro"/>
              </a:rPr>
              <a:t> { </a:t>
            </a:r>
            <a:r>
              <a:rPr lang="en-US" sz="1400" b="1" dirty="0">
                <a:solidFill>
                  <a:srgbClr val="63B175"/>
                </a:solidFill>
                <a:latin typeface="source code pro"/>
              </a:rPr>
              <a:t>public</a:t>
            </a:r>
            <a:r>
              <a:rPr lang="en-US" sz="1400" dirty="0">
                <a:solidFill>
                  <a:srgbClr val="444444"/>
                </a:solidFill>
                <a:latin typeface="source code pro"/>
              </a:rPr>
              <a:t> </a:t>
            </a:r>
            <a:r>
              <a:rPr lang="en-US" sz="1400" b="1" dirty="0" err="1">
                <a:solidFill>
                  <a:srgbClr val="267438"/>
                </a:solidFill>
                <a:latin typeface="source code pro"/>
              </a:rPr>
              <a:t>MyErrorController</a:t>
            </a:r>
            <a:r>
              <a:rPr lang="en-US" sz="1400" dirty="0">
                <a:solidFill>
                  <a:srgbClr val="444444"/>
                </a:solidFill>
                <a:latin typeface="source code pro"/>
              </a:rPr>
              <a:t>(</a:t>
            </a:r>
            <a:r>
              <a:rPr lang="en-US" sz="1400" dirty="0" err="1">
                <a:solidFill>
                  <a:srgbClr val="444444"/>
                </a:solidFill>
                <a:latin typeface="source code pro"/>
              </a:rPr>
              <a:t>ErrorAttributes</a:t>
            </a:r>
            <a:r>
              <a:rPr lang="en-US" sz="1400" dirty="0">
                <a:solidFill>
                  <a:srgbClr val="444444"/>
                </a:solidFill>
                <a:latin typeface="source code pro"/>
              </a:rPr>
              <a:t> </a:t>
            </a:r>
            <a:r>
              <a:rPr lang="en-US" sz="1400" dirty="0" err="1">
                <a:solidFill>
                  <a:srgbClr val="444444"/>
                </a:solidFill>
                <a:latin typeface="source code pro"/>
              </a:rPr>
              <a:t>errorAttributes</a:t>
            </a:r>
            <a:r>
              <a:rPr lang="en-US" sz="1400" dirty="0">
                <a:solidFill>
                  <a:srgbClr val="444444"/>
                </a:solidFill>
                <a:latin typeface="source code pro"/>
              </a:rPr>
              <a:t>) { </a:t>
            </a:r>
            <a:r>
              <a:rPr lang="en-US" sz="1400" b="1" dirty="0">
                <a:solidFill>
                  <a:srgbClr val="63B175"/>
                </a:solidFill>
                <a:latin typeface="source code pro"/>
              </a:rPr>
              <a:t>super</a:t>
            </a:r>
            <a:r>
              <a:rPr lang="en-US" sz="1400" dirty="0">
                <a:solidFill>
                  <a:srgbClr val="444444"/>
                </a:solidFill>
                <a:latin typeface="source code pro"/>
              </a:rPr>
              <a:t>(</a:t>
            </a:r>
            <a:r>
              <a:rPr lang="en-US" sz="1400" dirty="0" err="1">
                <a:solidFill>
                  <a:srgbClr val="444444"/>
                </a:solidFill>
                <a:latin typeface="source code pro"/>
              </a:rPr>
              <a:t>errorAttributes</a:t>
            </a:r>
            <a:r>
              <a:rPr lang="en-US" sz="1400" dirty="0">
                <a:solidFill>
                  <a:srgbClr val="444444"/>
                </a:solidFill>
                <a:latin typeface="source code pro"/>
              </a:rPr>
              <a:t>, </a:t>
            </a:r>
            <a:r>
              <a:rPr lang="en-US" sz="1400" b="1" dirty="0">
                <a:solidFill>
                  <a:srgbClr val="63B175"/>
                </a:solidFill>
                <a:latin typeface="source code pro"/>
              </a:rPr>
              <a:t>new</a:t>
            </a:r>
            <a:r>
              <a:rPr lang="en-US" sz="1400" dirty="0">
                <a:solidFill>
                  <a:srgbClr val="444444"/>
                </a:solidFill>
                <a:latin typeface="source code pro"/>
              </a:rPr>
              <a:t> </a:t>
            </a:r>
            <a:r>
              <a:rPr lang="en-US" sz="1400" dirty="0" err="1">
                <a:solidFill>
                  <a:srgbClr val="444444"/>
                </a:solidFill>
                <a:latin typeface="source code pro"/>
              </a:rPr>
              <a:t>ErrorProperties</a:t>
            </a:r>
            <a:r>
              <a:rPr lang="en-US" sz="1400" dirty="0">
                <a:solidFill>
                  <a:srgbClr val="444444"/>
                </a:solidFill>
                <a:latin typeface="source code pro"/>
              </a:rPr>
              <a:t>()); }</a:t>
            </a:r>
            <a:endParaRPr lang="en-US" sz="1400" dirty="0"/>
          </a:p>
        </p:txBody>
      </p:sp>
      <p:cxnSp>
        <p:nvCxnSpPr>
          <p:cNvPr id="31" name="Straight Connector 30"/>
          <p:cNvCxnSpPr/>
          <p:nvPr/>
        </p:nvCxnSpPr>
        <p:spPr>
          <a:xfrm flipH="1">
            <a:off x="6039556" y="5682816"/>
            <a:ext cx="11288" cy="95410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2729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2"/>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6"/>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7"/>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27" name="Picture 26"/>
          <p:cNvPicPr>
            <a:picLocks noChangeAspect="1"/>
          </p:cNvPicPr>
          <p:nvPr/>
        </p:nvPicPr>
        <p:blipFill>
          <a:blip r:embed="rId3"/>
          <a:stretch>
            <a:fillRect/>
          </a:stretch>
        </p:blipFill>
        <p:spPr>
          <a:xfrm>
            <a:off x="11289" y="10067"/>
            <a:ext cx="7292069" cy="4976949"/>
          </a:xfrm>
          <a:prstGeom prst="rect">
            <a:avLst/>
          </a:prstGeom>
        </p:spPr>
      </p:pic>
      <p:sp>
        <p:nvSpPr>
          <p:cNvPr id="28" name="TextBox 27"/>
          <p:cNvSpPr txBox="1"/>
          <p:nvPr/>
        </p:nvSpPr>
        <p:spPr>
          <a:xfrm>
            <a:off x="7619999" y="2258328"/>
            <a:ext cx="4323646" cy="830997"/>
          </a:xfrm>
          <a:prstGeom prst="rect">
            <a:avLst/>
          </a:prstGeom>
          <a:noFill/>
        </p:spPr>
        <p:txBody>
          <a:bodyPr wrap="square" rtlCol="0">
            <a:spAutoFit/>
          </a:bodyPr>
          <a:lstStyle/>
          <a:p>
            <a:pPr marL="457200" lvl="0" indent="-228600" eaLnBrk="0" fontAlgn="base" hangingPunct="0">
              <a:spcBef>
                <a:spcPct val="0"/>
              </a:spcBef>
              <a:spcAft>
                <a:spcPct val="0"/>
              </a:spcAft>
              <a:buSzPts val="1400"/>
              <a:defRPr/>
            </a:pPr>
            <a:r>
              <a:rPr lang="en-US" sz="4800" b="1" dirty="0">
                <a:solidFill>
                  <a:schemeClr val="dk1"/>
                </a:solidFill>
                <a:ea typeface="Calibri"/>
                <a:cs typeface="Calibri"/>
                <a:sym typeface="Calibri"/>
              </a:rPr>
              <a:t> </a:t>
            </a:r>
            <a:r>
              <a:rPr lang="en-US" sz="4800" b="1" dirty="0" smtClean="0">
                <a:solidFill>
                  <a:schemeClr val="dk1"/>
                </a:solidFill>
                <a:ea typeface="Calibri"/>
                <a:cs typeface="Calibri"/>
                <a:sym typeface="Calibri"/>
              </a:rPr>
              <a:t>THANK YOU</a:t>
            </a:r>
          </a:p>
        </p:txBody>
      </p:sp>
      <p:sp>
        <p:nvSpPr>
          <p:cNvPr id="25" name="TextBox 24"/>
          <p:cNvSpPr txBox="1"/>
          <p:nvPr/>
        </p:nvSpPr>
        <p:spPr>
          <a:xfrm>
            <a:off x="101601" y="5174211"/>
            <a:ext cx="8658578" cy="1477328"/>
          </a:xfrm>
          <a:prstGeom prst="rect">
            <a:avLst/>
          </a:prstGeom>
          <a:noFill/>
        </p:spPr>
        <p:txBody>
          <a:bodyPr wrap="square" rtlCol="0">
            <a:spAutoFit/>
          </a:bodyPr>
          <a:lstStyle/>
          <a:p>
            <a:pPr marL="457200" lvl="0" indent="-228600" eaLnBrk="0" fontAlgn="base" hangingPunct="0">
              <a:spcBef>
                <a:spcPct val="0"/>
              </a:spcBef>
              <a:spcAft>
                <a:spcPct val="0"/>
              </a:spcAft>
              <a:buSzPts val="1400"/>
              <a:defRPr/>
            </a:pPr>
            <a:r>
              <a:rPr lang="en-US" sz="2000" b="1" dirty="0" smtClean="0">
                <a:solidFill>
                  <a:schemeClr val="dk1"/>
                </a:solidFill>
                <a:ea typeface="Calibri"/>
                <a:cs typeface="Calibri"/>
                <a:sym typeface="Calibri"/>
              </a:rPr>
              <a:t>References</a:t>
            </a:r>
            <a:endParaRPr lang="en-US" sz="1400" b="1" dirty="0" smtClean="0">
              <a:solidFill>
                <a:schemeClr val="dk1"/>
              </a:solidFill>
              <a:ea typeface="Calibri"/>
              <a:cs typeface="Calibri"/>
              <a:sym typeface="Calibri"/>
            </a:endParaRPr>
          </a:p>
          <a:p>
            <a:pPr marL="457200" lvl="0" indent="-228600" eaLnBrk="0" fontAlgn="base" hangingPunct="0">
              <a:spcBef>
                <a:spcPct val="0"/>
              </a:spcBef>
              <a:spcAft>
                <a:spcPct val="0"/>
              </a:spcAft>
              <a:buSzPts val="1400"/>
              <a:defRPr/>
            </a:pPr>
            <a:r>
              <a:rPr lang="en-US" sz="1400" dirty="0">
                <a:solidFill>
                  <a:schemeClr val="dk1"/>
                </a:solidFill>
                <a:ea typeface="Calibri"/>
                <a:cs typeface="Calibri"/>
                <a:sym typeface="Calibri"/>
                <a:hlinkClick r:id="rId4"/>
              </a:rPr>
              <a:t>https://</a:t>
            </a:r>
            <a:r>
              <a:rPr lang="en-US" sz="1400" dirty="0" smtClean="0">
                <a:solidFill>
                  <a:schemeClr val="dk1"/>
                </a:solidFill>
                <a:ea typeface="Calibri"/>
                <a:cs typeface="Calibri"/>
                <a:sym typeface="Calibri"/>
                <a:hlinkClick r:id="rId4"/>
              </a:rPr>
              <a:t>github.com/azatsatklichov/vatinfo</a:t>
            </a:r>
            <a:endParaRPr lang="en-US" sz="1400" dirty="0" smtClean="0">
              <a:solidFill>
                <a:schemeClr val="dk1"/>
              </a:solidFill>
              <a:ea typeface="Calibri"/>
              <a:cs typeface="Calibri"/>
              <a:sym typeface="Calibri"/>
            </a:endParaRPr>
          </a:p>
          <a:p>
            <a:pPr marL="457200" lvl="0" indent="-228600" eaLnBrk="0" fontAlgn="base" hangingPunct="0">
              <a:spcBef>
                <a:spcPct val="0"/>
              </a:spcBef>
              <a:spcAft>
                <a:spcPct val="0"/>
              </a:spcAft>
              <a:buSzPts val="1400"/>
              <a:defRPr/>
            </a:pPr>
            <a:r>
              <a:rPr lang="en-US" sz="1400" dirty="0" smtClean="0">
                <a:solidFill>
                  <a:schemeClr val="dk1"/>
                </a:solidFill>
                <a:ea typeface="Calibri"/>
                <a:cs typeface="Calibri"/>
                <a:sym typeface="Calibri"/>
                <a:hlinkClick r:id="rId5"/>
              </a:rPr>
              <a:t>https</a:t>
            </a:r>
            <a:r>
              <a:rPr lang="en-US" sz="1400" dirty="0">
                <a:solidFill>
                  <a:schemeClr val="dk1"/>
                </a:solidFill>
                <a:ea typeface="Calibri"/>
                <a:cs typeface="Calibri"/>
                <a:sym typeface="Calibri"/>
                <a:hlinkClick r:id="rId5"/>
              </a:rPr>
              <a:t>://</a:t>
            </a:r>
            <a:r>
              <a:rPr lang="en-US" sz="1400" dirty="0" smtClean="0">
                <a:solidFill>
                  <a:schemeClr val="dk1"/>
                </a:solidFill>
                <a:ea typeface="Calibri"/>
                <a:cs typeface="Calibri"/>
                <a:sym typeface="Calibri"/>
                <a:hlinkClick r:id="rId5"/>
              </a:rPr>
              <a:t>www.manning.com/books/spring-in-action-fourth-edition</a:t>
            </a:r>
            <a:endParaRPr lang="en-US" sz="1400" dirty="0" smtClean="0">
              <a:solidFill>
                <a:schemeClr val="dk1"/>
              </a:solidFill>
              <a:ea typeface="Calibri"/>
              <a:cs typeface="Calibri"/>
              <a:sym typeface="Calibri"/>
            </a:endParaRPr>
          </a:p>
          <a:p>
            <a:pPr marL="457200" lvl="0" indent="-228600" eaLnBrk="0" fontAlgn="base" hangingPunct="0">
              <a:spcBef>
                <a:spcPct val="0"/>
              </a:spcBef>
              <a:spcAft>
                <a:spcPct val="0"/>
              </a:spcAft>
              <a:buSzPts val="1400"/>
              <a:defRPr/>
            </a:pPr>
            <a:r>
              <a:rPr lang="en-US" sz="1400" dirty="0">
                <a:solidFill>
                  <a:schemeClr val="dk1"/>
                </a:solidFill>
                <a:ea typeface="Calibri"/>
                <a:cs typeface="Calibri"/>
                <a:sym typeface="Calibri"/>
                <a:hlinkClick r:id="rId6"/>
              </a:rPr>
              <a:t>https://</a:t>
            </a:r>
            <a:r>
              <a:rPr lang="en-US" sz="1400" dirty="0" smtClean="0">
                <a:solidFill>
                  <a:schemeClr val="dk1"/>
                </a:solidFill>
                <a:ea typeface="Calibri"/>
                <a:cs typeface="Calibri"/>
                <a:sym typeface="Calibri"/>
                <a:hlinkClick r:id="rId6"/>
              </a:rPr>
              <a:t>developer.mozilla.org/en-US/docs/Web/HTTP/Methods</a:t>
            </a:r>
            <a:endParaRPr lang="en-US" sz="1400" dirty="0" smtClean="0">
              <a:solidFill>
                <a:schemeClr val="dk1"/>
              </a:solidFill>
              <a:ea typeface="Calibri"/>
              <a:cs typeface="Calibri"/>
              <a:sym typeface="Calibri"/>
            </a:endParaRPr>
          </a:p>
          <a:p>
            <a:pPr marL="457200" lvl="0" indent="-228600" eaLnBrk="0" fontAlgn="base" hangingPunct="0">
              <a:spcBef>
                <a:spcPct val="0"/>
              </a:spcBef>
              <a:spcAft>
                <a:spcPct val="0"/>
              </a:spcAft>
              <a:buSzPts val="1400"/>
              <a:defRPr/>
            </a:pPr>
            <a:r>
              <a:rPr lang="en-US" sz="1400" dirty="0">
                <a:solidFill>
                  <a:schemeClr val="dk1"/>
                </a:solidFill>
                <a:ea typeface="Calibri"/>
                <a:cs typeface="Calibri"/>
                <a:sym typeface="Calibri"/>
                <a:hlinkClick r:id="rId7"/>
              </a:rPr>
              <a:t>https://</a:t>
            </a:r>
            <a:r>
              <a:rPr lang="en-US" sz="1400" dirty="0" smtClean="0">
                <a:solidFill>
                  <a:schemeClr val="dk1"/>
                </a:solidFill>
                <a:ea typeface="Calibri"/>
                <a:cs typeface="Calibri"/>
                <a:sym typeface="Calibri"/>
                <a:hlinkClick r:id="rId7"/>
              </a:rPr>
              <a:t>spring.io/blog/2013/11/01/exception-handling-in-spring-mvc</a:t>
            </a:r>
            <a:r>
              <a:rPr lang="en-US" sz="1400" dirty="0" smtClean="0">
                <a:solidFill>
                  <a:schemeClr val="dk1"/>
                </a:solidFill>
                <a:ea typeface="Calibri"/>
                <a:cs typeface="Calibri"/>
                <a:sym typeface="Calibri"/>
              </a:rPr>
              <a:t>   </a:t>
            </a:r>
          </a:p>
          <a:p>
            <a:pPr marL="457200" lvl="0" indent="-228600" eaLnBrk="0" fontAlgn="base" hangingPunct="0">
              <a:spcBef>
                <a:spcPct val="0"/>
              </a:spcBef>
              <a:spcAft>
                <a:spcPct val="0"/>
              </a:spcAft>
              <a:buSzPts val="1400"/>
              <a:defRPr/>
            </a:pPr>
            <a:r>
              <a:rPr lang="en-US" sz="1400" dirty="0">
                <a:solidFill>
                  <a:schemeClr val="dk1"/>
                </a:solidFill>
                <a:ea typeface="Calibri"/>
                <a:cs typeface="Calibri"/>
                <a:sym typeface="Calibri"/>
                <a:hlinkClick r:id="rId8"/>
              </a:rPr>
              <a:t>https://</a:t>
            </a:r>
            <a:r>
              <a:rPr lang="en-US" sz="1400" dirty="0" smtClean="0">
                <a:solidFill>
                  <a:schemeClr val="dk1"/>
                </a:solidFill>
                <a:ea typeface="Calibri"/>
                <a:cs typeface="Calibri"/>
                <a:sym typeface="Calibri"/>
                <a:hlinkClick r:id="rId8"/>
              </a:rPr>
              <a:t>www.baeldung.com/exception-handling-for-rest-with-spring</a:t>
            </a:r>
            <a:r>
              <a:rPr lang="en-US" sz="1400" dirty="0" smtClean="0">
                <a:solidFill>
                  <a:schemeClr val="dk1"/>
                </a:solidFill>
                <a:ea typeface="Calibri"/>
                <a:cs typeface="Calibri"/>
                <a:sym typeface="Calibri"/>
              </a:rPr>
              <a:t> </a:t>
            </a:r>
          </a:p>
        </p:txBody>
      </p:sp>
    </p:spTree>
    <p:extLst>
      <p:ext uri="{BB962C8B-B14F-4D97-AF65-F5344CB8AC3E}">
        <p14:creationId xmlns:p14="http://schemas.microsoft.com/office/powerpoint/2010/main" val="3911537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30297</TotalTime>
  <Words>7649</Words>
  <Application>Microsoft Office PowerPoint</Application>
  <PresentationFormat>Widescreen</PresentationFormat>
  <Paragraphs>724</Paragraphs>
  <Slides>20</Slides>
  <Notes>20</Notes>
  <HiddenSlides>0</HiddenSlides>
  <MMClips>0</MMClips>
  <ScaleCrop>false</ScaleCrop>
  <HeadingPairs>
    <vt:vector size="6" baseType="variant">
      <vt:variant>
        <vt:lpstr>Fonts Used</vt:lpstr>
      </vt:variant>
      <vt:variant>
        <vt:i4>26</vt:i4>
      </vt:variant>
      <vt:variant>
        <vt:lpstr>Theme</vt:lpstr>
      </vt:variant>
      <vt:variant>
        <vt:i4>1</vt:i4>
      </vt:variant>
      <vt:variant>
        <vt:lpstr>Slide Titles</vt:lpstr>
      </vt:variant>
      <vt:variant>
        <vt:i4>20</vt:i4>
      </vt:variant>
    </vt:vector>
  </HeadingPairs>
  <TitlesOfParts>
    <vt:vector size="47" baseType="lpstr">
      <vt:lpstr>-apple-system</vt:lpstr>
      <vt:lpstr>Arial</vt:lpstr>
      <vt:lpstr>ArialMT</vt:lpstr>
      <vt:lpstr>Bahnschrift Light</vt:lpstr>
      <vt:lpstr>Calibri</vt:lpstr>
      <vt:lpstr>Calibri Light</vt:lpstr>
      <vt:lpstr>Consolas</vt:lpstr>
      <vt:lpstr>Courier</vt:lpstr>
      <vt:lpstr>Courier New</vt:lpstr>
      <vt:lpstr>Fira Code</vt:lpstr>
      <vt:lpstr>FranklinGothic-DemiItal</vt:lpstr>
      <vt:lpstr>guardian-text-oreilly</vt:lpstr>
      <vt:lpstr>Helvetica Neue LT Std</vt:lpstr>
      <vt:lpstr>Inter</vt:lpstr>
      <vt:lpstr>museo-sans</vt:lpstr>
      <vt:lpstr>NewBaskerville-Italic</vt:lpstr>
      <vt:lpstr>NewBaskerville-Roman</vt:lpstr>
      <vt:lpstr>PSTTCommons-Bold</vt:lpstr>
      <vt:lpstr>PSTTCommons-DemiBold</vt:lpstr>
      <vt:lpstr>PSTTCommons-Regular</vt:lpstr>
      <vt:lpstr>raleway</vt:lpstr>
      <vt:lpstr>Segoe UI</vt:lpstr>
      <vt:lpstr>source code pro</vt:lpstr>
      <vt:lpstr>var(--ff-mono)</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Broadcom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Benefit of Using AssertThat Over Other Assert Methods</dc:title>
  <dc:creator>Azat Satklichov</dc:creator>
  <cp:lastModifiedBy>Azat Satklycov</cp:lastModifiedBy>
  <cp:revision>3884</cp:revision>
  <dcterms:created xsi:type="dcterms:W3CDTF">2020-07-14T16:59:29Z</dcterms:created>
  <dcterms:modified xsi:type="dcterms:W3CDTF">2024-11-20T09:27:41Z</dcterms:modified>
</cp:coreProperties>
</file>